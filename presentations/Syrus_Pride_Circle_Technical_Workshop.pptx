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d4d82e88c54ae9" /><Relationship Type="http://schemas.openxmlformats.org/officeDocument/2006/relationships/extended-properties" Target="/docProps/app.xml" Id="R8baf9c7456f74a7b" /><Relationship Type="http://schemas.openxmlformats.org/officeDocument/2006/relationships/officeDocument" Target="/ppt/presentation.xml" Id="Ra4f9edbdcbc74a64" /></Relationships>
</file>

<file path=ppt/presentation.xml><?xml version="1.0" encoding="utf-8"?>
<p:presentation xmlns:p="http://schemas.openxmlformats.org/presentationml/2006/main">
  <p:sldMasterIdLst>
    <p:sldMasterId xmlns:r="http://schemas.openxmlformats.org/officeDocument/2006/relationships" id="2147483648" r:id="R7f7d8fc498d5426d"/>
  </p:sldMasterIdLst>
  <p:notesMasterIdLst>
    <p:notesMasterId xmlns:r="http://schemas.openxmlformats.org/officeDocument/2006/relationships" r:id="Rfe65923525f44f17"/>
  </p:notesMasterIdLst>
  <p:sldIdLst>
    <p:sldId xmlns:r="http://schemas.openxmlformats.org/officeDocument/2006/relationships" id="256" r:id="R25f7562b39bb4d39"/>
    <p:sldId xmlns:r="http://schemas.openxmlformats.org/officeDocument/2006/relationships" id="257" r:id="R109505ad30e54eb4"/>
    <p:sldId xmlns:r="http://schemas.openxmlformats.org/officeDocument/2006/relationships" id="258" r:id="R2b3c3904c16e4d14"/>
    <p:sldId xmlns:r="http://schemas.openxmlformats.org/officeDocument/2006/relationships" id="259" r:id="R8af23fe27c374c02"/>
    <p:sldId xmlns:r="http://schemas.openxmlformats.org/officeDocument/2006/relationships" id="260" r:id="R4c7582aa32d244d7"/>
    <p:sldId xmlns:r="http://schemas.openxmlformats.org/officeDocument/2006/relationships" id="261" r:id="R265fefdd3f4447d4"/>
    <p:sldId xmlns:r="http://schemas.openxmlformats.org/officeDocument/2006/relationships" id="262" r:id="R6a335943853c4a58"/>
    <p:sldId xmlns:r="http://schemas.openxmlformats.org/officeDocument/2006/relationships" id="263" r:id="Reb921eed59de4659"/>
    <p:sldId xmlns:r="http://schemas.openxmlformats.org/officeDocument/2006/relationships" id="264" r:id="R0b09376a51c04df4"/>
    <p:sldId xmlns:r="http://schemas.openxmlformats.org/officeDocument/2006/relationships" id="265" r:id="R3e4e01d7871a42f3"/>
    <p:sldId xmlns:r="http://schemas.openxmlformats.org/officeDocument/2006/relationships" id="266" r:id="Raa25071c64b64cec"/>
    <p:sldId xmlns:r="http://schemas.openxmlformats.org/officeDocument/2006/relationships" id="267" r:id="R1de14ac9b3da435f"/>
    <p:sldId xmlns:r="http://schemas.openxmlformats.org/officeDocument/2006/relationships" id="268" r:id="Rcc3c2afa48654bfb"/>
    <p:sldId xmlns:r="http://schemas.openxmlformats.org/officeDocument/2006/relationships" id="269" r:id="Rb945204146ca4681"/>
    <p:sldId xmlns:r="http://schemas.openxmlformats.org/officeDocument/2006/relationships" id="270" r:id="Rec5cfcb7498340fa"/>
    <p:sldId xmlns:r="http://schemas.openxmlformats.org/officeDocument/2006/relationships" id="271" r:id="R6926fcd4365d40c4"/>
    <p:sldId xmlns:r="http://schemas.openxmlformats.org/officeDocument/2006/relationships" id="272" r:id="R09a8468157dc42f2"/>
    <p:sldId xmlns:r="http://schemas.openxmlformats.org/officeDocument/2006/relationships" id="273" r:id="R9a8484bbace44947"/>
    <p:sldId xmlns:r="http://schemas.openxmlformats.org/officeDocument/2006/relationships" id="274" r:id="Ra69327ffd3f5478f"/>
    <p:sldId xmlns:r="http://schemas.openxmlformats.org/officeDocument/2006/relationships" id="275" r:id="R75f9a679a19944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c6860e69b24cc0" /><Relationship Type="http://schemas.openxmlformats.org/officeDocument/2006/relationships/slideMaster" Target="/ppt/slideMasters/slideMaster1.xml" Id="R7f7d8fc498d5426d" /><Relationship Type="http://schemas.openxmlformats.org/officeDocument/2006/relationships/notesMaster" Target="/ppt/notesMasters/notesMaster1.xml" Id="Rfe65923525f44f17" /><Relationship Type="http://schemas.openxmlformats.org/officeDocument/2006/relationships/presProps" Target="/ppt/presProps.xml" Id="Rc6a8956849694023" /><Relationship Type="http://schemas.openxmlformats.org/officeDocument/2006/relationships/tableStyles" Target="/ppt/tableStyles.xml" Id="Re4c5ead008e44b25" /><Relationship Type="http://schemas.openxmlformats.org/officeDocument/2006/relationships/slide" Target="/ppt/slides/slide1.xml" Id="R25f7562b39bb4d39" /><Relationship Type="http://schemas.openxmlformats.org/officeDocument/2006/relationships/slide" Target="/ppt/slides/slide2.xml" Id="R109505ad30e54eb4" /><Relationship Type="http://schemas.openxmlformats.org/officeDocument/2006/relationships/slide" Target="/ppt/slides/slide3.xml" Id="R2b3c3904c16e4d14" /><Relationship Type="http://schemas.openxmlformats.org/officeDocument/2006/relationships/slide" Target="/ppt/slides/slide4.xml" Id="R8af23fe27c374c02" /><Relationship Type="http://schemas.openxmlformats.org/officeDocument/2006/relationships/slide" Target="/ppt/slides/slide5.xml" Id="R4c7582aa32d244d7" /><Relationship Type="http://schemas.openxmlformats.org/officeDocument/2006/relationships/slide" Target="/ppt/slides/slide6.xml" Id="R265fefdd3f4447d4" /><Relationship Type="http://schemas.openxmlformats.org/officeDocument/2006/relationships/slide" Target="/ppt/slides/slide7.xml" Id="R6a335943853c4a58" /><Relationship Type="http://schemas.openxmlformats.org/officeDocument/2006/relationships/slide" Target="/ppt/slides/slide8.xml" Id="Reb921eed59de4659" /><Relationship Type="http://schemas.openxmlformats.org/officeDocument/2006/relationships/slide" Target="/ppt/slides/slide9.xml" Id="R0b09376a51c04df4" /><Relationship Type="http://schemas.openxmlformats.org/officeDocument/2006/relationships/slide" Target="/ppt/slides/slide10.xml" Id="R3e4e01d7871a42f3" /><Relationship Type="http://schemas.openxmlformats.org/officeDocument/2006/relationships/slide" Target="/ppt/slides/slide11.xml" Id="Raa25071c64b64cec" /><Relationship Type="http://schemas.openxmlformats.org/officeDocument/2006/relationships/slide" Target="/ppt/slides/slide12.xml" Id="R1de14ac9b3da435f" /><Relationship Type="http://schemas.openxmlformats.org/officeDocument/2006/relationships/slide" Target="/ppt/slides/slide13.xml" Id="Rcc3c2afa48654bfb" /><Relationship Type="http://schemas.openxmlformats.org/officeDocument/2006/relationships/slide" Target="/ppt/slides/slide14.xml" Id="Rb945204146ca4681" /><Relationship Type="http://schemas.openxmlformats.org/officeDocument/2006/relationships/slide" Target="/ppt/slides/slide15.xml" Id="Rec5cfcb7498340fa" /><Relationship Type="http://schemas.openxmlformats.org/officeDocument/2006/relationships/slide" Target="/ppt/slides/slide16.xml" Id="R6926fcd4365d40c4" /><Relationship Type="http://schemas.openxmlformats.org/officeDocument/2006/relationships/slide" Target="/ppt/slides/slide17.xml" Id="R09a8468157dc42f2" /><Relationship Type="http://schemas.openxmlformats.org/officeDocument/2006/relationships/slide" Target="/ppt/slides/slide18.xml" Id="R9a8484bbace44947" /><Relationship Type="http://schemas.openxmlformats.org/officeDocument/2006/relationships/slide" Target="/ppt/slides/slide19.xml" Id="Ra69327ffd3f5478f" /><Relationship Type="http://schemas.openxmlformats.org/officeDocument/2006/relationships/slide" Target="/ppt/slides/slide20.xml" Id="R75f9a679a19944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6ce74eecef41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ddc369689a4cce" /><Relationship Type="http://schemas.openxmlformats.org/officeDocument/2006/relationships/notesMaster" Target="/ppt/notesMasters/notesMaster1.xml" Id="Rb3a32d315e8246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0312ea55634b84" /><Relationship Type="http://schemas.openxmlformats.org/officeDocument/2006/relationships/notesMaster" Target="/ppt/notesMasters/notesMaster1.xml" Id="R74b5c0d625ab43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849cf0666d46b3" /><Relationship Type="http://schemas.openxmlformats.org/officeDocument/2006/relationships/notesMaster" Target="/ppt/notesMasters/notesMaster1.xml" Id="Rcf0115f56cf643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dd2f0f50034920" /><Relationship Type="http://schemas.openxmlformats.org/officeDocument/2006/relationships/notesMaster" Target="/ppt/notesMasters/notesMaster1.xml" Id="Rd52c351dbfbf45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e37512f45a4ba2" /><Relationship Type="http://schemas.openxmlformats.org/officeDocument/2006/relationships/notesMaster" Target="/ppt/notesMasters/notesMaster1.xml" Id="R9580bd7df9344a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91a778651740e0" /><Relationship Type="http://schemas.openxmlformats.org/officeDocument/2006/relationships/notesMaster" Target="/ppt/notesMasters/notesMaster1.xml" Id="Rb1191a476f0640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3892dffc0d41ec" /><Relationship Type="http://schemas.openxmlformats.org/officeDocument/2006/relationships/notesMaster" Target="/ppt/notesMasters/notesMaster1.xml" Id="R2d949787147148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e233beb1644c2c" /><Relationship Type="http://schemas.openxmlformats.org/officeDocument/2006/relationships/notesMaster" Target="/ppt/notesMasters/notesMaster1.xml" Id="R918db91d473f49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55d87d3e874e38" /><Relationship Type="http://schemas.openxmlformats.org/officeDocument/2006/relationships/notesMaster" Target="/ppt/notesMasters/notesMaster1.xml" Id="Re5b61383d01347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3df836421d4bd1" /><Relationship Type="http://schemas.openxmlformats.org/officeDocument/2006/relationships/notesMaster" Target="/ppt/notesMasters/notesMaster1.xml" Id="R168c3ef7e66a47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b90574d6724465" /><Relationship Type="http://schemas.openxmlformats.org/officeDocument/2006/relationships/notesMaster" Target="/ppt/notesMasters/notesMaster1.xml" Id="R8d92096b1c3449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631578cec24600" /><Relationship Type="http://schemas.openxmlformats.org/officeDocument/2006/relationships/notesMaster" Target="/ppt/notesMasters/notesMaster1.xml" Id="Rca706df12db941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cfc05e6090478b" /><Relationship Type="http://schemas.openxmlformats.org/officeDocument/2006/relationships/notesMaster" Target="/ppt/notesMasters/notesMaster1.xml" Id="Rc253321940b84f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346450f482426b" /><Relationship Type="http://schemas.openxmlformats.org/officeDocument/2006/relationships/notesMaster" Target="/ppt/notesMasters/notesMaster1.xml" Id="Rb66aa453dee546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763916777e4c64" /><Relationship Type="http://schemas.openxmlformats.org/officeDocument/2006/relationships/notesMaster" Target="/ppt/notesMasters/notesMaster1.xml" Id="R34a65043f63a45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46d00d41c84518" /><Relationship Type="http://schemas.openxmlformats.org/officeDocument/2006/relationships/notesMaster" Target="/ppt/notesMasters/notesMaster1.xml" Id="R85eb4621865a41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899fa391244ada" /><Relationship Type="http://schemas.openxmlformats.org/officeDocument/2006/relationships/notesMaster" Target="/ppt/notesMasters/notesMaster1.xml" Id="Rd58da0c628344e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645bc015de4732" /><Relationship Type="http://schemas.openxmlformats.org/officeDocument/2006/relationships/notesMaster" Target="/ppt/notesMasters/notesMaster1.xml" Id="Rafc4f29795a642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cf8804b4734ff9" /><Relationship Type="http://schemas.openxmlformats.org/officeDocument/2006/relationships/notesMaster" Target="/ppt/notesMasters/notesMaster1.xml" Id="Ra2beaba097894f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b24f99d1134390" /><Relationship Type="http://schemas.openxmlformats.org/officeDocument/2006/relationships/notesMaster" Target="/ppt/notesMasters/notesMaster1.xml" Id="R1248a876c65a42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0:30</a:t>
            </a:r>
          </a:p>
          <a:p xmlns:a="http://schemas.openxmlformats.org/drawingml/2006/main">
            <a:r>
              <a:t/>
            </a:r>
          </a:p>
          <a:p xmlns:a="http://schemas.openxmlformats.org/drawingml/2006/main">
            <a:r>
              <a:t>Introduce the hosts and the working Syrus project. Explain that the workshop connects the user experience to the actual Python implementation.</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0:30</a:t>
            </a:r>
          </a:p>
          <a:p xmlns:a="http://schemas.openxmlformats.org/drawingml/2006/main">
            <a:r>
              <a:t/>
            </a:r>
          </a:p>
          <a:p xmlns:a="http://schemas.openxmlformats.org/drawingml/2006/main">
            <a:r>
              <a:t>Explain the current scope in concrete terms. Browser control, a user-memory database and MCP are outside this implementation. The audience should leave understanding the pieces well enough to extend one of them.</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1:00</a:t>
            </a:r>
          </a:p>
          <a:p xmlns:a="http://schemas.openxmlformats.org/drawingml/2006/main">
            <a:r>
              <a:t/>
            </a:r>
          </a:p>
          <a:p xmlns:a="http://schemas.openxmlformats.org/drawingml/2006/main">
            <a:r>
              <a:t>Define live data in practical terms: information requested from an outside service while the user is talking, rather than a fixed answer stored in the app. Search and weather benefit most because their facts change. Dictionary content also arrives from an outside API, but definitions are not usually time-sensitive. Explain that a live request depends on network and service availability.</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https://github.com/deedy5/ddgs/blob/main/ddgs/ddgs.py</a:t>
            </a:r>
          </a:p>
          <a:p xmlns:a="http://schemas.openxmlformats.org/drawingml/2006/main">
            <a:r>
              <a:t>Source: https://open-meteo.com/en/docs</a:t>
            </a:r>
          </a:p>
          <a:p xmlns:a="http://schemas.openxmlformats.org/drawingml/2006/main">
            <a:r>
              <a:t>Source: https://dictionaryapi.dev/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1:00</a:t>
            </a:r>
          </a:p>
          <a:p xmlns:a="http://schemas.openxmlformats.org/drawingml/2006/main">
            <a:r>
              <a:t/>
            </a:r>
          </a:p>
          <a:p xmlns:a="http://schemas.openxmlformats.org/drawingml/2006/main">
            <a:r>
              <a:t>Distinguish Python dependencies from tooling. pyproject.toml declares the packages and uv.lock resolves specific versions. pytest, pytest-asyncio and Ruff belong to the development group. The LiveKit CLI and uv are separate installed command-line tools.</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2:00</a:t>
            </a:r>
          </a:p>
          <a:p xmlns:a="http://schemas.openxmlformats.org/drawingml/2006/main">
            <a:r>
              <a:t/>
            </a:r>
          </a:p>
          <a:p xmlns:a="http://schemas.openxmlformats.org/drawingml/2006/main">
            <a:r>
              <a:t>Use the commands for the attendee’s operating system. Homebrew or WinGet must already be available. Official standalone installers are an alternative. uv can install Python as well as dependencies. Python 3.12 is a workshop recommendation based on the repository checks workflow, not a claim that all other allowed Python versions have been tested here.</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https://docs.astral.sh/uv/guides/install-python/</a:t>
            </a:r>
          </a:p>
          <a:p xmlns:a="http://schemas.openxmlformats.org/drawingml/2006/main">
            <a:r>
              <a:t>Source: https://docs.livekit.io/reference/developer-tools/livekit-cli/</a:t>
            </a:r>
          </a:p>
          <a:p xmlns:a="http://schemas.openxmlformats.org/drawingml/2006/main">
            <a:r>
              <a:t>Source: https://docs.astral.sh/uv/getting-started/installation/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3:00</a:t>
            </a:r>
          </a:p>
          <a:p xmlns:a="http://schemas.openxmlformats.org/drawingml/2006/main">
            <a:r>
              <a:t/>
            </a:r>
          </a:p>
          <a:p xmlns:a="http://schemas.openxmlformats.org/drawingml/2006/main">
            <a:r>
              <a:t>Run the setup sequence from the project root. uv installs dependencies into .venv. lk cloud auth links an account/project. lk app env --write writes project credentials to .env.local. Add GOOGLE_API_KEY privately, then lk agent dev starts the local worker with reload. Open the LiveKit project’s Agent Console and select dispatch name my-agent to connect a browser session. Never display actual key values.</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https://docs.livekit.io/reference/developer-tools/livekit-cli/</a:t>
            </a:r>
          </a:p>
          <a:p xmlns:a="http://schemas.openxmlformats.org/drawingml/2006/main">
            <a:r>
              <a:t>Source: https://docs.livekit.io/agents/start/voice-ai/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2:00</a:t>
            </a:r>
          </a:p>
          <a:p xmlns:a="http://schemas.openxmlformats.org/drawingml/2006/main">
            <a:r>
              <a:t/>
            </a:r>
          </a:p>
          <a:p xmlns:a="http://schemas.openxmlformats.org/drawingml/2006/main">
            <a:r>
              <a:t>Separate responsibilities: the room carries realtime media, the worker runs our Python application, and Gemini supplies model inference. Gemini emits function-call requests when external data is needed. The worker executes the functions and sends their results back to the model. The model’s generated audio returns through the LiveKit session.</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a:t>
            </a:r>
          </a:p>
          <a:p xmlns:a="http://schemas.openxmlformats.org/drawingml/2006/main">
            <a:r>
              <a:t>Source: https://docs.livekit.io/agents/models/realtime/plugins/gemini/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2:00</a:t>
            </a:r>
          </a:p>
          <a:p xmlns:a="http://schemas.openxmlformats.org/drawingml/2006/main">
            <a:r>
              <a:t/>
            </a:r>
          </a:p>
          <a:p xmlns:a="http://schemas.openxmlformats.org/drawingml/2006/main">
            <a:r>
              <a:t>The project map is simple: agent.py configures the model, prompt, session and media; tools.py implements the three lookups; scenarios.yaml and tests/test_tools.py check behavior. Walk down this excerpt. The decorator registers the session handler with dispatch name my-agent. Each assigned session gets an AgentSession. session.start attaches our Assistant and room options. ctx.connect joins the LiveKit room. The full source includes context logging and simulation mocks; this excerpt intentionally omits some arguments.</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2:30</a:t>
            </a:r>
          </a:p>
          <a:p xmlns:a="http://schemas.openxmlformats.org/drawingml/2006/main">
            <a:r>
              <a:t/>
            </a:r>
          </a:p>
          <a:p xmlns:a="http://schemas.openxmlformats.org/drawingml/2006/main">
            <a:r>
              <a:t>Show the actual configured model string. Aoede is the voice setting and the source also sets en-GB. Model capability, voice sound and persona instructions are separate choices. Other Google voice names such as Kore, Puck and Charon are options to audition when supported. The alternative modular design separates speech recognition, a language model and speech generation; this project uses the realtime path. Briefly switch to the connected session for the voice demo using the private script. The preview model should be reviewed against current provider support before a future upgrade.</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https://docs.livekit.io/agents/models/realtime/plugins/gemini/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1:30</a:t>
            </a:r>
          </a:p>
          <a:p xmlns:a="http://schemas.openxmlformats.org/drawingml/2006/main">
            <a:r>
              <a:t/>
            </a:r>
          </a:p>
          <a:p xmlns:a="http://schemas.openxmlformats.org/drawingml/2006/main">
            <a:r>
              <a:t>Connect each configured option to a user-facing effect. These are settings in the current code, not measured latency claims. The optional ai-coustics enhancer is currently disabled. Audio recording is disabled to avoid a reported recorder/Gemini resampler startup race; transcripts, logs and traces remain enabled. See https://github.com/livekit/agents/issues/7432. The incompatible adaptive interruption option is removed. Gemini uses its native turn detection and waits for synchronous tool responses. The redundant LiveKit turn detector, preemptive-generation setting and tool-response scheduling setting have been removed.</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a:t>
            </a:r>
          </a:p>
          <a:p xmlns:a="http://schemas.openxmlformats.org/drawingml/2006/main">
            <a:r>
              <a:t>Source: https://docs.livekit.io/agents/models/realtime/plugins/gemini/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1:30</a:t>
            </a:r>
          </a:p>
          <a:p xmlns:a="http://schemas.openxmlformats.org/drawingml/2006/main">
            <a:r>
              <a:t/>
            </a:r>
          </a:p>
          <a:p xmlns:a="http://schemas.openxmlformats.org/drawingml/2006/main">
            <a:r>
              <a:t>Explain how persona alone is insufficient. The prompt also controls output format and tool behavior. The exact presence-check exchange stays in the private script. Humor stops when a user is distressed. The prompt guides behavior but does not guarantee every response; scenario evaluation provides evidence. For this Pride Circle workshop, use participant-chosen names and camera consent.</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4:00</a:t>
            </a:r>
          </a:p>
          <a:p xmlns:a="http://schemas.openxmlformats.org/drawingml/2006/main">
            <a:r>
              <a:t/>
            </a:r>
          </a:p>
          <a:p xmlns:a="http://schemas.openxmlformats.org/drawingml/2006/main">
            <a:r>
              <a:t>Explain frame input, then perform the camera demonstration using the private guide. The Google plugin streams sampled frames from the shared camera/screen track when video input is enabled. This repository has no separate vision function and no custom recording/persistence feature. Explain consent and uncertainty without promising vendor-level privacy or retention behavior.</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https://docs.livekit.io/agents/models/realtime/plugins/gemini/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2:00</a:t>
            </a:r>
          </a:p>
          <a:p xmlns:a="http://schemas.openxmlformats.org/drawingml/2006/main">
            <a:r>
              <a:t/>
            </a:r>
          </a:p>
          <a:p xmlns:a="http://schemas.openxmlformats.org/drawingml/2006/main">
            <a:r>
              <a:t>The @function_tool decorator exposes schema from the Python function. The tools property returns three methods, and Assistant passes that list to Agent. A RunContext parameter is framework context, not something the caller has to provide. The model selects a function, but the Python implementation controls what it actually does. Current tools retrieve information rather than execute arbitrary browser actions.</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4:00</a:t>
            </a:r>
          </a:p>
          <a:p xmlns:a="http://schemas.openxmlformats.org/drawingml/2006/main">
            <a:r>
              <a:t/>
            </a:r>
          </a:p>
          <a:p xmlns:a="http://schemas.openxmlformats.org/drawingml/2006/main">
            <a:r>
              <a:t>Show the code excerpt and live-search flow with the private prompt. The full source catches DDGSException and raises ToolError, and reports empty results clearly. DDGS defaults to automatic backend selection; the current call does not explicitly choose DuckDuckGo. Search returns result records. The agent prompt forbids pretending to have opened pages.</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https://github.com/deedy5/ddgs/blob/main/ddgs/ddgs.py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2:00</a:t>
            </a:r>
          </a:p>
          <a:p xmlns:a="http://schemas.openxmlformats.org/drawingml/2006/main">
            <a:r>
              <a:t/>
            </a:r>
          </a:p>
          <a:p xmlns:a="http://schemas.openxmlformats.org/drawingml/2006/main">
            <a:r>
              <a:t>Show the two Open-Meteo endpoints. The first requests up to five location candidates. When duplicate exact city names remain, the code uses provided region/country qualifiers or asks for clarification. The forecast request uses the selected coordinates, timezone auto, forecast_days=1, Celsius and km/h. A lookup can make two requests, so the twelve-second timeout is not a guarantee about total user-perceived latency.</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https://open-meteo.com/en/docs</a:t>
            </a:r>
          </a:p>
          <a:p xmlns:a="http://schemas.openxmlformats.org/drawingml/2006/main">
            <a:r>
              <a:t>Source: https://open-meteo.com/en/docs/geocoding-api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1:30</a:t>
            </a:r>
          </a:p>
          <a:p xmlns:a="http://schemas.openxmlformats.org/drawingml/2006/main">
            <a:r>
              <a:t/>
            </a:r>
          </a:p>
          <a:p xmlns:a="http://schemas.openxmlformats.org/drawingml/2006/main">
            <a:r>
              <a:t>The endpoint belongs to Free Dictionary API. The request uses httpx.AsyncClient with a twelve-second timeout. If the main phonetic field is absent, the code checks phonetics entries for text. It does not download dictionary audio. The displayed payload illustrates the return structure rather than a real live response.</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https://dictionaryapi.dev/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0:45</a:t>
            </a:r>
          </a:p>
          <a:p xmlns:a="http://schemas.openxmlformats.org/drawingml/2006/main">
            <a:r>
              <a:t/>
            </a:r>
          </a:p>
          <a:p xmlns:a="http://schemas.openxmlformats.org/drawingml/2006/main">
            <a:r>
              <a:t>Use these as short translations for technical language. LiveKit manages the realtime room and agent framework. Gemini Live is the model integration. An API lets programs exchange requests and responses. A function tool lets the model request a specific Python function. Realtime refers to responding during an active exchange. Multimodal means handling audio and video. Geocoding translates names into coordinates. Fixtures provide predictable test data.</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1:30</a:t>
            </a:r>
          </a:p>
          <a:p xmlns:a="http://schemas.openxmlformats.org/drawingml/2006/main">
            <a:r>
              <a:t/>
            </a:r>
          </a:p>
          <a:p xmlns:a="http://schemas.openxmlformats.org/drawingml/2006/main">
            <a:r>
              <a:t>State what checks prove. Unit tests use a fake DDGS client and httpx.MockTransport. The scenario context replaces actual tools with fixture-backed functions. Unit tests do not prove today’s external-service availability. LiveKit simulations still use model inference and can incur usage. The checks workflow runs on main pushes and pull requests. The simulations workflow runs on manual dispatch.</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https://docs.livekit.io/testing/simulations/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1:00</a:t>
            </a:r>
          </a:p>
          <a:p xmlns:a="http://schemas.openxmlformats.org/drawingml/2006/main">
            <a:r>
              <a:t/>
            </a:r>
          </a:p>
          <a:p xmlns:a="http://schemas.openxmlformats.org/drawingml/2006/main">
            <a:r>
              <a:t>This is proposed homework, not an existing capability. A curated read-only resource list gives the audience a useful first integration with limited permissions. An MCP server is an optional way to reuse that capability across AI applications; the current code does not integrate an MCP runtime. Cover input/output schema, authorization where required, and safe failure handling.</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Source: https://modelcontextprotocol.io/docs/getting-started/intro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Duration 10:45</a:t>
            </a:r>
          </a:p>
          <a:p xmlns:a="http://schemas.openxmlformats.org/drawingml/2006/main">
            <a:r>
              <a:t/>
            </a:r>
          </a:p>
          <a:p xmlns:a="http://schemas.openxmlformats.org/drawingml/2006/main">
            <a:r>
              <a:t>Use the private speaking script for audience Q&amp;A. Keep live-demo prompts and prepared questions in that guide. Reserve this final discussion period for understanding the implementation and choosing one realistic extension.</a:t>
            </a:r>
          </a:p>
          <a:p xmlns:a="http://schemas.openxmlformats.org/drawingml/2006/main">
            <a:r>
              <a:t/>
            </a:r>
          </a:p>
          <a:p xmlns:a="http://schemas.openxmlformats.org/drawingml/2006/main">
            <a:r>
              <a:t>Implementation reference: src/agent.py, src/tools.py, pyproject.toml, tests/test_tools.py and scenarios.yaml in the Syrus repository.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7c77d0c57f44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34e62040de4f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4299bcd171422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a2fb58c11941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518c794de1f45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1e1606447149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F0281D-74D7-4E90-AFD2-3215E47078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A77E19-C617-433A-BB2B-B6B8FDA071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76BA86-E20A-4FBA-B5E9-36CD953CC4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5ED778-C0FE-4E00-8229-9D0A8BEDD0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42B5A2-6637-42E5-A589-EC581F9117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C03CE1E-9663-4649-9774-A56EC1836A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07E9EC-E813-448C-81C3-B984F9D19B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8D8B5D-7EA4-4999-8C9A-055EA23B05C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50936C-158C-4B14-987B-E00BCBAF16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C156E0-D537-4673-BC55-1ECC12B805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f662635d0f4016" /><Relationship Type="http://schemas.openxmlformats.org/officeDocument/2006/relationships/slideLayout" Target="/ppt/slideLayouts/slideLayout1.xml" Id="R56a4435d20264f33" /><Relationship Type="http://schemas.openxmlformats.org/officeDocument/2006/relationships/slideLayout" Target="/ppt/slideLayouts/slideLayout2.xml" Id="R9564f4bb8ffa495b" /><Relationship Type="http://schemas.openxmlformats.org/officeDocument/2006/relationships/slideLayout" Target="/ppt/slideLayouts/slideLayout3.xml" Id="R92ef50cd78a44e33" /><Relationship Type="http://schemas.openxmlformats.org/officeDocument/2006/relationships/slideLayout" Target="/ppt/slideLayouts/slideLayout4.xml" Id="R3cd204f04b9641c1" /><Relationship Type="http://schemas.openxmlformats.org/officeDocument/2006/relationships/slideLayout" Target="/ppt/slideLayouts/slideLayout5.xml" Id="R6f55da61426840b3" /><Relationship Type="http://schemas.openxmlformats.org/officeDocument/2006/relationships/slideLayout" Target="/ppt/slideLayouts/slideLayout6.xml" Id="R50732569491d45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a4435d20264f33"/>
    <p:sldLayoutId xmlns:r="http://schemas.openxmlformats.org/officeDocument/2006/relationships" id="2147483650" r:id="R9564f4bb8ffa495b"/>
    <p:sldLayoutId xmlns:r="http://schemas.openxmlformats.org/officeDocument/2006/relationships" id="2147483651" r:id="R92ef50cd78a44e33"/>
    <p:sldLayoutId xmlns:r="http://schemas.openxmlformats.org/officeDocument/2006/relationships" id="2147483652" r:id="R3cd204f04b9641c1"/>
    <p:sldLayoutId xmlns:r="http://schemas.openxmlformats.org/officeDocument/2006/relationships" id="2147483653" r:id="R6f55da61426840b3"/>
    <p:sldLayoutId xmlns:r="http://schemas.openxmlformats.org/officeDocument/2006/relationships" id="2147483654" r:id="R50732569491d45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e6e0b0c8c64831" /><Relationship Type="http://schemas.openxmlformats.org/officeDocument/2006/relationships/notesSlide" Target="/ppt/notesSlides/notesSlide1.xml" Id="Re4773f6f29da4d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2277de769c4b1c" /><Relationship Type="http://schemas.openxmlformats.org/officeDocument/2006/relationships/notesSlide" Target="/ppt/notesSlides/notesSlide2.xml" Id="R75a3aab95ab541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fb65819ee8453d" /><Relationship Type="http://schemas.openxmlformats.org/officeDocument/2006/relationships/notesSlide" Target="/ppt/notesSlides/notesSlide3.xml" Id="Rd4d2571b939642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4fa7606ecf451e" /><Relationship Type="http://schemas.openxmlformats.org/officeDocument/2006/relationships/notesSlide" Target="/ppt/notesSlides/notesSlide4.xml" Id="Rf5fa25be5eb940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2588967e2e412a" /><Relationship Type="http://schemas.openxmlformats.org/officeDocument/2006/relationships/notesSlide" Target="/ppt/notesSlides/notesSlide5.xml" Id="R789b61d14a6649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e34ce50c49444a" /><Relationship Type="http://schemas.openxmlformats.org/officeDocument/2006/relationships/notesSlide" Target="/ppt/notesSlides/notesSlide6.xml" Id="Rd23d74539b374f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ea8449a76344d8" /><Relationship Type="http://schemas.openxmlformats.org/officeDocument/2006/relationships/notesSlide" Target="/ppt/notesSlides/notesSlide7.xml" Id="R2148b858098543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4139e5f130c461f" /><Relationship Type="http://schemas.openxmlformats.org/officeDocument/2006/relationships/notesSlide" Target="/ppt/notesSlides/notesSlide8.xml" Id="R8fa64bb80df84c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450f63045746f5" /><Relationship Type="http://schemas.openxmlformats.org/officeDocument/2006/relationships/notesSlide" Target="/ppt/notesSlides/notesSlide9.xml" Id="Re7c14f16a79f45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d6920f65474ff8" /><Relationship Type="http://schemas.openxmlformats.org/officeDocument/2006/relationships/notesSlide" Target="/ppt/notesSlides/notesSlide10.xml" Id="R71577e0220f242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f532bdb51d4cad" /><Relationship Type="http://schemas.openxmlformats.org/officeDocument/2006/relationships/notesSlide" Target="/ppt/notesSlides/notesSlide11.xml" Id="Rfc6010bc189643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af15d1e62a4cba" /><Relationship Type="http://schemas.openxmlformats.org/officeDocument/2006/relationships/notesSlide" Target="/ppt/notesSlides/notesSlide12.xml" Id="R5e2592cbc4f242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d483a9b13144a28" /><Relationship Type="http://schemas.openxmlformats.org/officeDocument/2006/relationships/notesSlide" Target="/ppt/notesSlides/notesSlide13.xml" Id="Rcf4368a712034c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e29938147d4148" /><Relationship Type="http://schemas.openxmlformats.org/officeDocument/2006/relationships/notesSlide" Target="/ppt/notesSlides/notesSlide14.xml" Id="R5fe5e4266ac048c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9cb57fe2094f0d" /><Relationship Type="http://schemas.openxmlformats.org/officeDocument/2006/relationships/notesSlide" Target="/ppt/notesSlides/notesSlide15.xml" Id="R0a5c2227b3e547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076d5ff546401a" /><Relationship Type="http://schemas.openxmlformats.org/officeDocument/2006/relationships/notesSlide" Target="/ppt/notesSlides/notesSlide16.xml" Id="R4f7dc2aa0bdc41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0ef6e741fe241e1" /><Relationship Type="http://schemas.openxmlformats.org/officeDocument/2006/relationships/notesSlide" Target="/ppt/notesSlides/notesSlide17.xml" Id="R1fe748053a9149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b51d024dd8246d7" /><Relationship Type="http://schemas.openxmlformats.org/officeDocument/2006/relationships/notesSlide" Target="/ppt/notesSlides/notesSlide18.xml" Id="R3e533aab7a8a44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7efadcfbf9242ae" /><Relationship Type="http://schemas.openxmlformats.org/officeDocument/2006/relationships/notesSlide" Target="/ppt/notesSlides/notesSlide19.xml" Id="R29324fe13c6d42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2155b99eb5b48b8" /><Relationship Type="http://schemas.openxmlformats.org/officeDocument/2006/relationships/notesSlide" Target="/ppt/notesSlides/notesSlide20.xml" Id="Rfeac0f3616e240c4" /></Relationships>
</file>

<file path=ppt/slides/slide1.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0047197-F02B-49E6-A4F4-61641CF326BA}"/>
              </a:ext>
            </a:extLst>
          </p:cNvPr>
          <p:cNvSpPr>
            <a:spLocks xmlns:a="http://schemas.openxmlformats.org/drawingml/2006/main" noGrp="1"/>
          </p:cNvSpPr>
          <p:nvPr/>
        </p:nvSpPr>
        <p:spPr>
          <a:xfrm xmlns:a="http://schemas.openxmlformats.org/drawingml/2006/main">
            <a:off x="723900" y="400050"/>
            <a:ext cx="11430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7BE1297-C459-4AFF-991B-018A14E0E129}"/>
              </a:ext>
            </a:extLst>
          </p:cNvPr>
          <p:cNvSpPr>
            <a:spLocks xmlns:a="http://schemas.openxmlformats.org/drawingml/2006/main" noGrp="1"/>
          </p:cNvSpPr>
          <p:nvPr/>
        </p:nvSpPr>
        <p:spPr>
          <a:xfrm xmlns:a="http://schemas.openxmlformats.org/drawingml/2006/main">
            <a:off x="876300" y="400050"/>
            <a:ext cx="11430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7A6A9DB-FD3D-4DF9-9BC6-9CBA37E6FEE2}"/>
              </a:ext>
            </a:extLst>
          </p:cNvPr>
          <p:cNvSpPr>
            <a:spLocks xmlns:a="http://schemas.openxmlformats.org/drawingml/2006/main" noGrp="1"/>
          </p:cNvSpPr>
          <p:nvPr/>
        </p:nvSpPr>
        <p:spPr>
          <a:xfrm xmlns:a="http://schemas.openxmlformats.org/drawingml/2006/main">
            <a:off x="1028700" y="400050"/>
            <a:ext cx="11430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22F5BD-56A8-4698-A594-9BCE4C012F9B}"/>
              </a:ext>
            </a:extLst>
          </p:cNvPr>
          <p:cNvSpPr>
            <a:spLocks xmlns:a="http://schemas.openxmlformats.org/drawingml/2006/main" noGrp="1"/>
          </p:cNvSpPr>
          <p:nvPr/>
        </p:nvSpPr>
        <p:spPr>
          <a:xfrm xmlns:a="http://schemas.openxmlformats.org/drawingml/2006/main">
            <a:off x="1181100" y="400050"/>
            <a:ext cx="11430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5A1292-6EF0-4DEC-920F-C90BF91D3074}"/>
              </a:ext>
            </a:extLst>
          </p:cNvPr>
          <p:cNvSpPr>
            <a:spLocks xmlns:a="http://schemas.openxmlformats.org/drawingml/2006/main" noGrp="1"/>
          </p:cNvSpPr>
          <p:nvPr/>
        </p:nvSpPr>
        <p:spPr>
          <a:xfrm xmlns:a="http://schemas.openxmlformats.org/drawingml/2006/main">
            <a:off x="1333500" y="400050"/>
            <a:ext cx="11430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45B1E6-77FD-451E-8C62-0565886BCDF3}"/>
              </a:ext>
            </a:extLst>
          </p:cNvPr>
          <p:cNvSpPr>
            <a:spLocks xmlns:a="http://schemas.openxmlformats.org/drawingml/2006/main" noGrp="1"/>
          </p:cNvSpPr>
          <p:nvPr/>
        </p:nvSpPr>
        <p:spPr>
          <a:xfrm xmlns:a="http://schemas.openxmlformats.org/drawingml/2006/main">
            <a:off x="1485900" y="400050"/>
            <a:ext cx="11430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6C9E40-88AC-4CCF-A9F7-D82D53DDFC75}"/>
              </a:ext>
            </a:extLst>
          </p:cNvPr>
          <p:cNvSpPr>
            <a:spLocks xmlns:a="http://schemas.openxmlformats.org/drawingml/2006/main" noGrp="1"/>
          </p:cNvSpPr>
          <p:nvPr/>
        </p:nvSpPr>
        <p:spPr>
          <a:xfrm xmlns:a="http://schemas.openxmlformats.org/drawingml/2006/main">
            <a:off x="685800" y="571500"/>
            <a:ext cx="895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75CDBB"/>
                </a:solidFill>
                <a:latin typeface="Arial"/>
                <a:ea typeface="Arial"/>
                <a:cs typeface="Arial"/>
              </a:defRPr>
            </a:defPPr>
          </a:lstStyle>
          <a:p xmlns:a="http://schemas.openxmlformats.org/drawingml/2006/main">
            <a:pPr algn="l">
              <a:defRPr sz="1425" b="1">
                <a:solidFill>
                  <a:srgbClr val="75CDBB"/>
                </a:solidFill>
                <a:latin typeface="Arial"/>
                <a:ea typeface="Arial"/>
                <a:cs typeface="Arial"/>
              </a:defRPr>
            </a:pPr>
            <a:r>
              <a:rPr sz="1425" b="1">
                <a:solidFill>
                  <a:srgbClr val="75CDBB"/>
                </a:solidFill>
                <a:latin typeface="Arial"/>
                <a:ea typeface="Arial"/>
                <a:cs typeface="Arial"/>
              </a:rPr>
              <a:t>PRIDE CIRCLE GROUP</a:t>
            </a:r>
          </a:p>
        </p:txBody>
      </p:sp>
      <p:sp>
        <p:nvSpPr>
          <p:cNvPr id="8" name="">
            <a:extLst xmlns:a="http://schemas.openxmlformats.org/drawingml/2006/main">
              <a:ext uri="{FF2B5EF4-FFF2-40B4-BE49-F238E27FC236}">
                <a16:creationId xmlns:a16="http://schemas.microsoft.com/office/drawing/2014/main" id="{D76F04C1-5CF8-4A60-AC87-B51A6A1248CC}"/>
              </a:ext>
            </a:extLst>
          </p:cNvPr>
          <p:cNvSpPr>
            <a:spLocks xmlns:a="http://schemas.openxmlformats.org/drawingml/2006/main" noGrp="1"/>
          </p:cNvSpPr>
          <p:nvPr/>
        </p:nvSpPr>
        <p:spPr>
          <a:xfrm xmlns:a="http://schemas.openxmlformats.org/drawingml/2006/main">
            <a:off x="685800" y="1647825"/>
            <a:ext cx="1028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FFFFFF"/>
                </a:solidFill>
                <a:latin typeface="Arial"/>
                <a:ea typeface="Arial"/>
                <a:cs typeface="Arial"/>
              </a:defRPr>
            </a:defPPr>
          </a:lstStyle>
          <a:p xmlns:a="http://schemas.openxmlformats.org/drawingml/2006/main">
            <a:pPr algn="l">
              <a:defRPr sz="7200" b="1">
                <a:solidFill>
                  <a:srgbClr val="FFFFFF"/>
                </a:solidFill>
                <a:latin typeface="Arial"/>
                <a:ea typeface="Arial"/>
                <a:cs typeface="Arial"/>
              </a:defRPr>
            </a:pPr>
            <a:r>
              <a:rPr sz="7200" b="1">
                <a:solidFill>
                  <a:srgbClr val="FFFFFF"/>
                </a:solidFill>
                <a:latin typeface="Arial"/>
                <a:ea typeface="Arial"/>
                <a:cs typeface="Arial"/>
              </a:rPr>
              <a:t>Syrus</a:t>
            </a:r>
          </a:p>
        </p:txBody>
      </p:sp>
      <p:sp>
        <p:nvSpPr>
          <p:cNvPr id="9" name="">
            <a:extLst xmlns:a="http://schemas.openxmlformats.org/drawingml/2006/main">
              <a:ext uri="{FF2B5EF4-FFF2-40B4-BE49-F238E27FC236}">
                <a16:creationId xmlns:a16="http://schemas.microsoft.com/office/drawing/2014/main" id="{05609681-47E9-4B55-A76B-2F1C7D219A2A}"/>
              </a:ext>
            </a:extLst>
          </p:cNvPr>
          <p:cNvSpPr>
            <a:spLocks xmlns:a="http://schemas.openxmlformats.org/drawingml/2006/main" noGrp="1"/>
          </p:cNvSpPr>
          <p:nvPr/>
        </p:nvSpPr>
        <p:spPr>
          <a:xfrm xmlns:a="http://schemas.openxmlformats.org/drawingml/2006/main">
            <a:off x="723900" y="3000375"/>
            <a:ext cx="10096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0">
                <a:solidFill>
                  <a:srgbClr val="FFFFFF"/>
                </a:solidFill>
                <a:latin typeface="Arial"/>
                <a:ea typeface="Arial"/>
                <a:cs typeface="Arial"/>
              </a:defRPr>
            </a:defPPr>
          </a:lstStyle>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Building a realtime</a:t>
            </a:r>
          </a:p>
          <a:p xmlns:a="http://schemas.openxmlformats.org/drawingml/2006/main">
            <a:pPr algn="l">
              <a:defRPr sz="3525" b="0">
                <a:solidFill>
                  <a:srgbClr val="FFFFFF"/>
                </a:solidFill>
                <a:latin typeface="Arial"/>
                <a:ea typeface="Arial"/>
                <a:cs typeface="Arial"/>
              </a:defRPr>
            </a:pPr>
            <a:r>
              <a:rPr sz="3525" b="0">
                <a:solidFill>
                  <a:srgbClr val="FFFFFF"/>
                </a:solidFill>
                <a:latin typeface="Arial"/>
                <a:ea typeface="Arial"/>
                <a:cs typeface="Arial"/>
              </a:rPr>
              <a:t>voice and vision agent</a:t>
            </a:r>
          </a:p>
        </p:txBody>
      </p:sp>
      <p:sp>
        <p:nvSpPr>
          <p:cNvPr id="10" name="">
            <a:extLst xmlns:a="http://schemas.openxmlformats.org/drawingml/2006/main">
              <a:ext uri="{FF2B5EF4-FFF2-40B4-BE49-F238E27FC236}">
                <a16:creationId xmlns:a16="http://schemas.microsoft.com/office/drawing/2014/main" id="{A3BFE286-5E37-4049-955F-742FC45E5E58}"/>
              </a:ext>
            </a:extLst>
          </p:cNvPr>
          <p:cNvSpPr>
            <a:spLocks xmlns:a="http://schemas.openxmlformats.org/drawingml/2006/main" noGrp="1"/>
          </p:cNvSpPr>
          <p:nvPr/>
        </p:nvSpPr>
        <p:spPr>
          <a:xfrm xmlns:a="http://schemas.openxmlformats.org/drawingml/2006/main">
            <a:off x="723900" y="4733925"/>
            <a:ext cx="10668000" cy="14288"/>
          </a:xfrm>
          <a:prstGeom xmlns:a="http://schemas.openxmlformats.org/drawingml/2006/main" prst="rect">
            <a:avLst/>
          </a:prstGeom>
          <a:solidFill xmlns:a="http://schemas.openxmlformats.org/drawingml/2006/main">
            <a:srgbClr val="5C567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1BDA32-6071-458B-A7DC-881E3853FE5B}"/>
              </a:ext>
            </a:extLst>
          </p:cNvPr>
          <p:cNvSpPr>
            <a:spLocks xmlns:a="http://schemas.openxmlformats.org/drawingml/2006/main" noGrp="1"/>
          </p:cNvSpPr>
          <p:nvPr/>
        </p:nvSpPr>
        <p:spPr>
          <a:xfrm xmlns:a="http://schemas.openxmlformats.org/drawingml/2006/main">
            <a:off x="723900" y="51625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Shaurya Negi</a:t>
            </a:r>
          </a:p>
        </p:txBody>
      </p:sp>
      <p:sp>
        <p:nvSpPr>
          <p:cNvPr id="12" name="">
            <a:extLst xmlns:a="http://schemas.openxmlformats.org/drawingml/2006/main">
              <a:ext uri="{FF2B5EF4-FFF2-40B4-BE49-F238E27FC236}">
                <a16:creationId xmlns:a16="http://schemas.microsoft.com/office/drawing/2014/main" id="{D8B08E9E-F212-4342-9205-9DF8C9EFCEA2}"/>
              </a:ext>
            </a:extLst>
          </p:cNvPr>
          <p:cNvSpPr>
            <a:spLocks xmlns:a="http://schemas.openxmlformats.org/drawingml/2006/main" noGrp="1"/>
          </p:cNvSpPr>
          <p:nvPr/>
        </p:nvSpPr>
        <p:spPr>
          <a:xfrm xmlns:a="http://schemas.openxmlformats.org/drawingml/2006/main">
            <a:off x="6534150" y="516255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Naghma Firdous</a:t>
            </a:r>
          </a:p>
        </p:txBody>
      </p:sp>
      <p:sp>
        <p:nvSpPr>
          <p:cNvPr id="13" name="">
            <a:extLst xmlns:a="http://schemas.openxmlformats.org/drawingml/2006/main">
              <a:ext uri="{FF2B5EF4-FFF2-40B4-BE49-F238E27FC236}">
                <a16:creationId xmlns:a16="http://schemas.microsoft.com/office/drawing/2014/main" id="{6EC0AB02-7ADE-4845-9E2E-03FB9D8C48CD}"/>
              </a:ext>
            </a:extLst>
          </p:cNvPr>
          <p:cNvSpPr>
            <a:spLocks xmlns:a="http://schemas.openxmlformats.org/drawingml/2006/main" noGrp="1"/>
          </p:cNvSpPr>
          <p:nvPr/>
        </p:nvSpPr>
        <p:spPr>
          <a:xfrm xmlns:a="http://schemas.openxmlformats.org/drawingml/2006/main">
            <a:off x="723900" y="5791200"/>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5C3D1"/>
                </a:solidFill>
                <a:latin typeface="Arial"/>
                <a:ea typeface="Arial"/>
                <a:cs typeface="Arial"/>
              </a:defRPr>
            </a:defPPr>
          </a:lstStyle>
          <a:p xmlns:a="http://schemas.openxmlformats.org/drawingml/2006/main">
            <a:pPr algn="l">
              <a:defRPr sz="1650" b="0">
                <a:solidFill>
                  <a:srgbClr val="C5C3D1"/>
                </a:solidFill>
                <a:latin typeface="Arial"/>
                <a:ea typeface="Arial"/>
                <a:cs typeface="Arial"/>
              </a:defRPr>
            </a:pPr>
            <a:r>
              <a:rPr sz="1650" b="0">
                <a:solidFill>
                  <a:srgbClr val="C5C3D1"/>
                </a:solidFill>
                <a:latin typeface="Arial"/>
                <a:ea typeface="Arial"/>
                <a:cs typeface="Arial"/>
              </a:rPr>
              <a:t>Python, LiveKit and Gemini Live</a:t>
            </a:r>
          </a:p>
        </p:txBody>
      </p:sp>
      <p:sp>
        <p:nvSpPr>
          <p:cNvPr id="14" name="">
            <a:extLst xmlns:a="http://schemas.openxmlformats.org/drawingml/2006/main">
              <a:ext uri="{FF2B5EF4-FFF2-40B4-BE49-F238E27FC236}">
                <a16:creationId xmlns:a16="http://schemas.microsoft.com/office/drawing/2014/main" id="{18D28CC6-9C4E-4321-8B52-DE7EFA223466}"/>
              </a:ext>
            </a:extLst>
          </p:cNvPr>
          <p:cNvSpPr>
            <a:spLocks xmlns:a="http://schemas.openxmlformats.org/drawingml/2006/main" noGrp="1"/>
          </p:cNvSpPr>
          <p:nvPr/>
        </p:nvSpPr>
        <p:spPr>
          <a:xfrm xmlns:a="http://schemas.openxmlformats.org/drawingml/2006/main">
            <a:off x="8058150" y="5886450"/>
            <a:ext cx="85725"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EAE704-0230-4196-8AFF-787106C2D2D4}"/>
              </a:ext>
            </a:extLst>
          </p:cNvPr>
          <p:cNvSpPr>
            <a:spLocks xmlns:a="http://schemas.openxmlformats.org/drawingml/2006/main" noGrp="1"/>
          </p:cNvSpPr>
          <p:nvPr/>
        </p:nvSpPr>
        <p:spPr>
          <a:xfrm xmlns:a="http://schemas.openxmlformats.org/drawingml/2006/main">
            <a:off x="8181975" y="5886450"/>
            <a:ext cx="85725"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752512-8936-4368-8DD9-338A474BE73B}"/>
              </a:ext>
            </a:extLst>
          </p:cNvPr>
          <p:cNvSpPr>
            <a:spLocks xmlns:a="http://schemas.openxmlformats.org/drawingml/2006/main" noGrp="1"/>
          </p:cNvSpPr>
          <p:nvPr/>
        </p:nvSpPr>
        <p:spPr>
          <a:xfrm xmlns:a="http://schemas.openxmlformats.org/drawingml/2006/main">
            <a:off x="8305800" y="5886450"/>
            <a:ext cx="85725"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F6D68D-4217-40C1-9650-2BCA50C848EE}"/>
              </a:ext>
            </a:extLst>
          </p:cNvPr>
          <p:cNvSpPr>
            <a:spLocks xmlns:a="http://schemas.openxmlformats.org/drawingml/2006/main" noGrp="1"/>
          </p:cNvSpPr>
          <p:nvPr/>
        </p:nvSpPr>
        <p:spPr>
          <a:xfrm xmlns:a="http://schemas.openxmlformats.org/drawingml/2006/main">
            <a:off x="8429625" y="5886450"/>
            <a:ext cx="85725"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DB2CD7D-A87F-420D-A2A8-2B1E0DF2C600}"/>
              </a:ext>
            </a:extLst>
          </p:cNvPr>
          <p:cNvSpPr>
            <a:spLocks xmlns:a="http://schemas.openxmlformats.org/drawingml/2006/main" noGrp="1"/>
          </p:cNvSpPr>
          <p:nvPr/>
        </p:nvSpPr>
        <p:spPr>
          <a:xfrm xmlns:a="http://schemas.openxmlformats.org/drawingml/2006/main">
            <a:off x="8553450" y="5886450"/>
            <a:ext cx="85725"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2186231-F069-43D7-A2A5-79E34EA4CC8B}"/>
              </a:ext>
            </a:extLst>
          </p:cNvPr>
          <p:cNvSpPr>
            <a:spLocks xmlns:a="http://schemas.openxmlformats.org/drawingml/2006/main" noGrp="1"/>
          </p:cNvSpPr>
          <p:nvPr/>
        </p:nvSpPr>
        <p:spPr>
          <a:xfrm xmlns:a="http://schemas.openxmlformats.org/drawingml/2006/main">
            <a:off x="8677275" y="5886450"/>
            <a:ext cx="85725"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549DA19-092D-4D57-AA14-F79C3CC495DE}"/>
              </a:ext>
            </a:extLst>
          </p:cNvPr>
          <p:cNvSpPr>
            <a:spLocks xmlns:a="http://schemas.openxmlformats.org/drawingml/2006/main" noGrp="1"/>
          </p:cNvSpPr>
          <p:nvPr/>
        </p:nvSpPr>
        <p:spPr>
          <a:xfrm xmlns:a="http://schemas.openxmlformats.org/drawingml/2006/main">
            <a:off x="8963025" y="57912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C5C3D1"/>
                </a:solidFill>
                <a:latin typeface="Arial"/>
                <a:ea typeface="Arial"/>
                <a:cs typeface="Arial"/>
              </a:defRPr>
            </a:defPPr>
          </a:lstStyle>
          <a:p xmlns:a="http://schemas.openxmlformats.org/drawingml/2006/main">
            <a:pPr algn="r">
              <a:defRPr sz="1650" b="0">
                <a:solidFill>
                  <a:srgbClr val="C5C3D1"/>
                </a:solidFill>
                <a:latin typeface="Arial"/>
                <a:ea typeface="Arial"/>
                <a:cs typeface="Arial"/>
              </a:defRPr>
            </a:pPr>
            <a:r>
              <a:rPr sz="1650" b="0">
                <a:solidFill>
                  <a:srgbClr val="C5C3D1"/>
                </a:solidFill>
                <a:latin typeface="Arial"/>
                <a:ea typeface="Arial"/>
                <a:cs typeface="Arial"/>
              </a:rPr>
              <a:t>45-minute workshop</a:t>
            </a:r>
          </a:p>
        </p:txBody>
      </p:sp>
    </p:spTree>
    <p:extLst>
      <p:ext uri="{BB962C8B-B14F-4D97-AF65-F5344CB8AC3E}">
        <p14:creationId xmlns:p14="http://schemas.microsoft.com/office/powerpoint/2010/main" val="633450584"/>
      </p:ext>
    </p:extLst>
  </p:cSld>
</p:sld>
</file>

<file path=ppt/slides/slide2.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6A2EFD-F31E-4C4B-8A6C-84572432F70E}"/>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F246A8-EF44-4237-8539-013B02C38CC1}"/>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THE WORKING PROJECT</a:t>
            </a:r>
          </a:p>
        </p:txBody>
      </p:sp>
      <p:sp>
        <p:nvSpPr>
          <p:cNvPr id="3" name="title">
            <a:extLst xmlns:a="http://schemas.openxmlformats.org/drawingml/2006/main">
              <a:ext uri="{FF2B5EF4-FFF2-40B4-BE49-F238E27FC236}">
                <a16:creationId xmlns:a16="http://schemas.microsoft.com/office/drawing/2014/main" id="{20609738-F209-4443-AD21-BD278060E3C2}"/>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What we built</a:t>
            </a:r>
          </a:p>
        </p:txBody>
      </p:sp>
      <p:sp>
        <p:nvSpPr>
          <p:cNvPr id="4" name="">
            <a:extLst xmlns:a="http://schemas.openxmlformats.org/drawingml/2006/main">
              <a:ext uri="{FF2B5EF4-FFF2-40B4-BE49-F238E27FC236}">
                <a16:creationId xmlns:a16="http://schemas.microsoft.com/office/drawing/2014/main" id="{D69D81F5-514A-4E12-AD6C-DB0A4DF567E5}"/>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4A8EDF3-66FD-4425-958A-83F3D9C1796E}"/>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97D2CE54-9D44-4879-A0FB-C1C66B114894}"/>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C21EE5-ACDE-42F0-8370-C3CF7345614D}"/>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B59513-B708-45E5-BD15-4308A4EA277C}"/>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54730DD-AA7C-48A2-BB0B-9626D933B780}"/>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B6DAEF-9C4C-477B-BCB4-FF1A1AD68F5F}"/>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487632-79C5-4E2F-95D0-57A83A3062A8}"/>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7103AF-03CD-4E33-8713-4B18FE838954}"/>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A6851F4F-EA17-4830-8458-57693E92125B}"/>
              </a:ext>
            </a:extLst>
          </p:cNvPr>
          <p:cNvSpPr>
            <a:spLocks xmlns:a="http://schemas.openxmlformats.org/drawingml/2006/main" noGrp="1"/>
          </p:cNvSpPr>
          <p:nvPr/>
        </p:nvSpPr>
        <p:spPr>
          <a:xfrm xmlns:a="http://schemas.openxmlformats.org/drawingml/2006/main">
            <a:off x="609600" y="18573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5F1FA"/>
                </a:solidFill>
                <a:latin typeface="Arial"/>
                <a:ea typeface="Arial"/>
                <a:cs typeface="Arial"/>
              </a:defRPr>
            </a:defPPr>
          </a:lstStyle>
          <a:p xmlns:a="http://schemas.openxmlformats.org/drawingml/2006/main">
            <a:pPr algn="l">
              <a:defRPr sz="2325" b="1">
                <a:solidFill>
                  <a:srgbClr val="F5F1FA"/>
                </a:solidFill>
                <a:latin typeface="Arial"/>
                <a:ea typeface="Arial"/>
                <a:cs typeface="Arial"/>
              </a:defRPr>
            </a:pPr>
            <a:r>
              <a:rPr sz="2325" b="1">
                <a:solidFill>
                  <a:srgbClr val="F5F1FA"/>
                </a:solidFill>
                <a:latin typeface="Arial"/>
                <a:ea typeface="Arial"/>
                <a:cs typeface="Arial"/>
              </a:rPr>
              <a:t>A Python agent that joins a live audio/video room and uses external data when the conversation needs it.</a:t>
            </a:r>
          </a:p>
        </p:txBody>
      </p:sp>
      <p:sp>
        <p:nvSpPr>
          <p:cNvPr id="14" name="">
            <a:extLst xmlns:a="http://schemas.openxmlformats.org/drawingml/2006/main">
              <a:ext uri="{FF2B5EF4-FFF2-40B4-BE49-F238E27FC236}">
                <a16:creationId xmlns:a16="http://schemas.microsoft.com/office/drawing/2014/main" id="{281646F8-E76B-490A-A623-DF05183B5732}"/>
              </a:ext>
            </a:extLst>
          </p:cNvPr>
          <p:cNvSpPr>
            <a:spLocks xmlns:a="http://schemas.openxmlformats.org/drawingml/2006/main" noGrp="1"/>
          </p:cNvSpPr>
          <p:nvPr/>
        </p:nvSpPr>
        <p:spPr>
          <a:xfrm xmlns:a="http://schemas.openxmlformats.org/drawingml/2006/main">
            <a:off x="609600" y="31242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Voice conversation</a:t>
            </a:r>
          </a:p>
        </p:txBody>
      </p:sp>
      <p:sp>
        <p:nvSpPr>
          <p:cNvPr id="15" name="">
            <a:extLst xmlns:a="http://schemas.openxmlformats.org/drawingml/2006/main">
              <a:ext uri="{FF2B5EF4-FFF2-40B4-BE49-F238E27FC236}">
                <a16:creationId xmlns:a16="http://schemas.microsoft.com/office/drawing/2014/main" id="{E18CFD87-687E-4BF8-9CE9-3962CE7EAFA8}"/>
              </a:ext>
            </a:extLst>
          </p:cNvPr>
          <p:cNvSpPr>
            <a:spLocks xmlns:a="http://schemas.openxmlformats.org/drawingml/2006/main" noGrp="1"/>
          </p:cNvSpPr>
          <p:nvPr/>
        </p:nvSpPr>
        <p:spPr>
          <a:xfrm xmlns:a="http://schemas.openxmlformats.org/drawingml/2006/main">
            <a:off x="3895725" y="31242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Gemini Live generates spoken replies with the selected Aoede voice.</a:t>
            </a:r>
          </a:p>
        </p:txBody>
      </p:sp>
      <p:sp>
        <p:nvSpPr>
          <p:cNvPr id="16" name="">
            <a:extLst xmlns:a="http://schemas.openxmlformats.org/drawingml/2006/main">
              <a:ext uri="{FF2B5EF4-FFF2-40B4-BE49-F238E27FC236}">
                <a16:creationId xmlns:a16="http://schemas.microsoft.com/office/drawing/2014/main" id="{43B73568-5510-4EB9-91ED-542F4F3FC744}"/>
              </a:ext>
            </a:extLst>
          </p:cNvPr>
          <p:cNvSpPr>
            <a:spLocks xmlns:a="http://schemas.openxmlformats.org/drawingml/2006/main" noGrp="1"/>
          </p:cNvSpPr>
          <p:nvPr/>
        </p:nvSpPr>
        <p:spPr>
          <a:xfrm xmlns:a="http://schemas.openxmlformats.org/drawingml/2006/main">
            <a:off x="609600" y="383857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26F12D-5EA7-4C91-B1CF-BB9CCE9DC053}"/>
              </a:ext>
            </a:extLst>
          </p:cNvPr>
          <p:cNvSpPr>
            <a:spLocks xmlns:a="http://schemas.openxmlformats.org/drawingml/2006/main" noGrp="1"/>
          </p:cNvSpPr>
          <p:nvPr/>
        </p:nvSpPr>
        <p:spPr>
          <a:xfrm xmlns:a="http://schemas.openxmlformats.org/drawingml/2006/main">
            <a:off x="609600" y="40005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Camera vision</a:t>
            </a:r>
          </a:p>
        </p:txBody>
      </p:sp>
      <p:sp>
        <p:nvSpPr>
          <p:cNvPr id="18" name="">
            <a:extLst xmlns:a="http://schemas.openxmlformats.org/drawingml/2006/main">
              <a:ext uri="{FF2B5EF4-FFF2-40B4-BE49-F238E27FC236}">
                <a16:creationId xmlns:a16="http://schemas.microsoft.com/office/drawing/2014/main" id="{8C8814A4-05F8-4818-A8EF-12643A25D165}"/>
              </a:ext>
            </a:extLst>
          </p:cNvPr>
          <p:cNvSpPr>
            <a:spLocks xmlns:a="http://schemas.openxmlformats.org/drawingml/2006/main" noGrp="1"/>
          </p:cNvSpPr>
          <p:nvPr/>
        </p:nvSpPr>
        <p:spPr>
          <a:xfrm xmlns:a="http://schemas.openxmlformats.org/drawingml/2006/main">
            <a:off x="3895725" y="40005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The session sends shared video frames to the same multimodal model.</a:t>
            </a:r>
          </a:p>
        </p:txBody>
      </p:sp>
      <p:sp>
        <p:nvSpPr>
          <p:cNvPr id="19" name="">
            <a:extLst xmlns:a="http://schemas.openxmlformats.org/drawingml/2006/main">
              <a:ext uri="{FF2B5EF4-FFF2-40B4-BE49-F238E27FC236}">
                <a16:creationId xmlns:a16="http://schemas.microsoft.com/office/drawing/2014/main" id="{066938D5-0B1D-4B08-BE02-8C17B9C7DAD2}"/>
              </a:ext>
            </a:extLst>
          </p:cNvPr>
          <p:cNvSpPr>
            <a:spLocks xmlns:a="http://schemas.openxmlformats.org/drawingml/2006/main" noGrp="1"/>
          </p:cNvSpPr>
          <p:nvPr/>
        </p:nvSpPr>
        <p:spPr>
          <a:xfrm xmlns:a="http://schemas.openxmlformats.org/drawingml/2006/main">
            <a:off x="609600" y="471487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5B72855-459D-48A9-92AE-2A5257EDE6C3}"/>
              </a:ext>
            </a:extLst>
          </p:cNvPr>
          <p:cNvSpPr>
            <a:spLocks xmlns:a="http://schemas.openxmlformats.org/drawingml/2006/main" noGrp="1"/>
          </p:cNvSpPr>
          <p:nvPr/>
        </p:nvSpPr>
        <p:spPr>
          <a:xfrm xmlns:a="http://schemas.openxmlformats.org/drawingml/2006/main">
            <a:off x="609600" y="487680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External lookups</a:t>
            </a:r>
          </a:p>
        </p:txBody>
      </p:sp>
      <p:sp>
        <p:nvSpPr>
          <p:cNvPr id="21" name="">
            <a:extLst xmlns:a="http://schemas.openxmlformats.org/drawingml/2006/main">
              <a:ext uri="{FF2B5EF4-FFF2-40B4-BE49-F238E27FC236}">
                <a16:creationId xmlns:a16="http://schemas.microsoft.com/office/drawing/2014/main" id="{8669F010-1D46-4633-9A5D-C8D94AED7BB8}"/>
              </a:ext>
            </a:extLst>
          </p:cNvPr>
          <p:cNvSpPr>
            <a:spLocks xmlns:a="http://schemas.openxmlformats.org/drawingml/2006/main" noGrp="1"/>
          </p:cNvSpPr>
          <p:nvPr/>
        </p:nvSpPr>
        <p:spPr>
          <a:xfrm xmlns:a="http://schemas.openxmlformats.org/drawingml/2006/main">
            <a:off x="3895725" y="48768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Three Python functions handle web search, weather and definitions.</a:t>
            </a:r>
          </a:p>
        </p:txBody>
      </p:sp>
      <p:sp>
        <p:nvSpPr>
          <p:cNvPr id="22" name="">
            <a:extLst xmlns:a="http://schemas.openxmlformats.org/drawingml/2006/main">
              <a:ext uri="{FF2B5EF4-FFF2-40B4-BE49-F238E27FC236}">
                <a16:creationId xmlns:a16="http://schemas.microsoft.com/office/drawing/2014/main" id="{B9590558-A39D-4460-8E8E-E403CE4D5B08}"/>
              </a:ext>
            </a:extLst>
          </p:cNvPr>
          <p:cNvSpPr>
            <a:spLocks xmlns:a="http://schemas.openxmlformats.org/drawingml/2006/main" noGrp="1"/>
          </p:cNvSpPr>
          <p:nvPr/>
        </p:nvSpPr>
        <p:spPr>
          <a:xfrm xmlns:a="http://schemas.openxmlformats.org/drawingml/2006/main">
            <a:off x="609600" y="559117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Tree>
    <p:extLst>
      <p:ext uri="{BB962C8B-B14F-4D97-AF65-F5344CB8AC3E}">
        <p14:creationId xmlns:p14="http://schemas.microsoft.com/office/powerpoint/2010/main" val="594482737"/>
      </p:ext>
    </p:extLst>
  </p:cSld>
</p:sld>
</file>

<file path=ppt/slides/slide3.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AC36ADD7-A79A-483A-8750-6080ED109673}"/>
              </a:ext>
            </a:extLst>
          </p:cNvPr>
          <p:cNvCxnSpPr>
            <a:stCxn xmlns:a="http://schemas.openxmlformats.org/drawingml/2006/main" id="18" idx="3"/>
            <a:endCxn xmlns:a="http://schemas.openxmlformats.org/drawingml/2006/main" id="22" idx="1"/>
          </p:cNvCxnSpPr>
          <p:nvPr/>
        </p:nvCxnSpPr>
        <p:spPr>
          <a:xfrm xmlns:a="http://schemas.openxmlformats.org/drawingml/2006/main">
            <a:off x="7458075" y="3567113"/>
            <a:ext cx="1409700"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cxnSp>
        <p:nvCxnSpPr>
          <p:cNvPr id="26" name="">
            <a:extLst xmlns:a="http://schemas.openxmlformats.org/drawingml/2006/main">
              <a:ext uri="{FF2B5EF4-FFF2-40B4-BE49-F238E27FC236}">
                <a16:creationId xmlns:a16="http://schemas.microsoft.com/office/drawing/2014/main" id="{304834D3-1109-4785-845C-9E7721F57C67}"/>
              </a:ext>
            </a:extLst>
          </p:cNvPr>
          <p:cNvCxnSpPr>
            <a:stCxn xmlns:a="http://schemas.openxmlformats.org/drawingml/2006/main" id="14" idx="3"/>
            <a:endCxn xmlns:a="http://schemas.openxmlformats.org/drawingml/2006/main" id="18" idx="1"/>
          </p:cNvCxnSpPr>
          <p:nvPr/>
        </p:nvCxnSpPr>
        <p:spPr>
          <a:xfrm xmlns:a="http://schemas.openxmlformats.org/drawingml/2006/main">
            <a:off x="3324225" y="3567113"/>
            <a:ext cx="1419225"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sp>
        <p:nvSpPr>
          <p:cNvPr id="30" name="">
            <a:extLst xmlns:a="http://schemas.openxmlformats.org/drawingml/2006/main">
              <a:ext uri="{FF2B5EF4-FFF2-40B4-BE49-F238E27FC236}">
                <a16:creationId xmlns:a16="http://schemas.microsoft.com/office/drawing/2014/main" id="{318F6E34-8D61-416F-BE8D-62B2406C7CE1}"/>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223C49-6E63-43EF-9692-41EB349245C6}"/>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A USEFUL DISTINCTION</a:t>
            </a:r>
          </a:p>
        </p:txBody>
      </p:sp>
      <p:sp>
        <p:nvSpPr>
          <p:cNvPr id="3" name="title">
            <a:extLst xmlns:a="http://schemas.openxmlformats.org/drawingml/2006/main">
              <a:ext uri="{FF2B5EF4-FFF2-40B4-BE49-F238E27FC236}">
                <a16:creationId xmlns:a16="http://schemas.microsoft.com/office/drawing/2014/main" id="{F4A4346D-6043-4714-AA54-578FA24482F0}"/>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What “live data” means in this project</a:t>
            </a:r>
          </a:p>
        </p:txBody>
      </p:sp>
      <p:sp>
        <p:nvSpPr>
          <p:cNvPr id="4" name="">
            <a:extLst xmlns:a="http://schemas.openxmlformats.org/drawingml/2006/main">
              <a:ext uri="{FF2B5EF4-FFF2-40B4-BE49-F238E27FC236}">
                <a16:creationId xmlns:a16="http://schemas.microsoft.com/office/drawing/2014/main" id="{8C3E26E3-FB1E-4AD3-858E-CB459CC7170C}"/>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F78D1C-E78B-436F-B1DB-6625A8FEC5DF}"/>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C2DDB981-4E91-49B3-AC36-D23FD8A2D658}"/>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1D23BD9-2EF4-4E4F-BD9F-D1B1C06CA732}"/>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E34BD73-3468-4487-9F6A-E9260565CF55}"/>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879AF46-71CD-4779-8137-E6B4BEB2FC3E}"/>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8C65CD-4D50-44DF-8AFF-1CFFE19A99EC}"/>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87A287-7387-4747-95A8-40E0DF47FDD1}"/>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23143D-56B5-43EC-B4F0-5615F7E75961}"/>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B8FA707-A870-4FD6-B473-754929276DED}"/>
              </a:ext>
            </a:extLst>
          </p:cNvPr>
          <p:cNvSpPr>
            <a:spLocks xmlns:a="http://schemas.openxmlformats.org/drawingml/2006/main" noGrp="1"/>
          </p:cNvSpPr>
          <p:nvPr/>
        </p:nvSpPr>
        <p:spPr>
          <a:xfrm xmlns:a="http://schemas.openxmlformats.org/drawingml/2006/main">
            <a:off x="609600" y="18383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1FA"/>
                </a:solidFill>
                <a:latin typeface="Arial"/>
                <a:ea typeface="Arial"/>
                <a:cs typeface="Arial"/>
              </a:defRPr>
            </a:defPPr>
          </a:lstStyle>
          <a:p xmlns:a="http://schemas.openxmlformats.org/drawingml/2006/main">
            <a:pPr algn="l">
              <a:defRPr sz="2400" b="1">
                <a:solidFill>
                  <a:srgbClr val="F5F1FA"/>
                </a:solidFill>
                <a:latin typeface="Arial"/>
                <a:ea typeface="Arial"/>
                <a:cs typeface="Arial"/>
              </a:defRPr>
            </a:pPr>
            <a:r>
              <a:rPr sz="2400" b="1">
                <a:solidFill>
                  <a:srgbClr val="F5F1FA"/>
                </a:solidFill>
                <a:latin typeface="Arial"/>
                <a:ea typeface="Arial"/>
                <a:cs typeface="Arial"/>
              </a:rPr>
              <a:t>A current answer comes from a service request made during the conversation.</a:t>
            </a:r>
          </a:p>
        </p:txBody>
      </p:sp>
      <p:sp>
        <p:nvSpPr>
          <p:cNvPr id="14" name="">
            <a:extLst xmlns:a="http://schemas.openxmlformats.org/drawingml/2006/main">
              <a:ext uri="{FF2B5EF4-FFF2-40B4-BE49-F238E27FC236}">
                <a16:creationId xmlns:a16="http://schemas.microsoft.com/office/drawing/2014/main" id="{D308CFF1-5E16-46BE-901E-C904532051CD}"/>
              </a:ext>
            </a:extLst>
          </p:cNvPr>
          <p:cNvSpPr>
            <a:spLocks xmlns:a="http://schemas.openxmlformats.org/drawingml/2006/main" noGrp="1"/>
          </p:cNvSpPr>
          <p:nvPr/>
        </p:nvSpPr>
        <p:spPr>
          <a:xfrm xmlns:a="http://schemas.openxmlformats.org/drawingml/2006/main">
            <a:off x="609600" y="2886075"/>
            <a:ext cx="2714625" cy="1362075"/>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5" name="">
            <a:extLst xmlns:a="http://schemas.openxmlformats.org/drawingml/2006/main">
              <a:ext uri="{FF2B5EF4-FFF2-40B4-BE49-F238E27FC236}">
                <a16:creationId xmlns:a16="http://schemas.microsoft.com/office/drawing/2014/main" id="{05878A32-CF49-4FB4-9CE3-1F45327C5B52}"/>
              </a:ext>
            </a:extLst>
          </p:cNvPr>
          <p:cNvSpPr>
            <a:spLocks xmlns:a="http://schemas.openxmlformats.org/drawingml/2006/main" noGrp="1"/>
          </p:cNvSpPr>
          <p:nvPr/>
        </p:nvSpPr>
        <p:spPr>
          <a:xfrm xmlns:a="http://schemas.openxmlformats.org/drawingml/2006/main">
            <a:off x="609600" y="2886075"/>
            <a:ext cx="47625" cy="1362075"/>
          </a:xfrm>
          <a:prstGeom xmlns:a="http://schemas.openxmlformats.org/drawingml/2006/main" prst="rect">
            <a:avLst/>
          </a:prstGeom>
          <a:solidFill xmlns:a="http://schemas.openxmlformats.org/drawingml/2006/main">
            <a:srgbClr val="E985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E8C221-A5F1-4FB5-AD73-FB86715E5E72}"/>
              </a:ext>
            </a:extLst>
          </p:cNvPr>
          <p:cNvSpPr>
            <a:spLocks xmlns:a="http://schemas.openxmlformats.org/drawingml/2006/main" noGrp="1"/>
          </p:cNvSpPr>
          <p:nvPr/>
        </p:nvSpPr>
        <p:spPr>
          <a:xfrm xmlns:a="http://schemas.openxmlformats.org/drawingml/2006/main">
            <a:off x="781050" y="3038475"/>
            <a:ext cx="23717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Question</a:t>
            </a:r>
          </a:p>
        </p:txBody>
      </p:sp>
      <p:sp>
        <p:nvSpPr>
          <p:cNvPr id="17" name="">
            <a:extLst xmlns:a="http://schemas.openxmlformats.org/drawingml/2006/main">
              <a:ext uri="{FF2B5EF4-FFF2-40B4-BE49-F238E27FC236}">
                <a16:creationId xmlns:a16="http://schemas.microsoft.com/office/drawing/2014/main" id="{2355C43A-FB1A-4D0D-84DF-F535725D79C9}"/>
              </a:ext>
            </a:extLst>
          </p:cNvPr>
          <p:cNvSpPr>
            <a:spLocks xmlns:a="http://schemas.openxmlformats.org/drawingml/2006/main" noGrp="1"/>
          </p:cNvSpPr>
          <p:nvPr/>
        </p:nvSpPr>
        <p:spPr>
          <a:xfrm xmlns:a="http://schemas.openxmlformats.org/drawingml/2006/main">
            <a:off x="781050" y="3524250"/>
            <a:ext cx="2371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“What is the weather</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like in Mumbai?”</a:t>
            </a:r>
          </a:p>
        </p:txBody>
      </p:sp>
      <p:sp>
        <p:nvSpPr>
          <p:cNvPr id="18" name="">
            <a:extLst xmlns:a="http://schemas.openxmlformats.org/drawingml/2006/main">
              <a:ext uri="{FF2B5EF4-FFF2-40B4-BE49-F238E27FC236}">
                <a16:creationId xmlns:a16="http://schemas.microsoft.com/office/drawing/2014/main" id="{BBEFC7AC-AA0C-47A2-AC5D-342230C56174}"/>
              </a:ext>
            </a:extLst>
          </p:cNvPr>
          <p:cNvSpPr>
            <a:spLocks xmlns:a="http://schemas.openxmlformats.org/drawingml/2006/main" noGrp="1"/>
          </p:cNvSpPr>
          <p:nvPr/>
        </p:nvSpPr>
        <p:spPr>
          <a:xfrm xmlns:a="http://schemas.openxmlformats.org/drawingml/2006/main">
            <a:off x="4743450" y="2886075"/>
            <a:ext cx="2714625" cy="1362075"/>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9" name="">
            <a:extLst xmlns:a="http://schemas.openxmlformats.org/drawingml/2006/main">
              <a:ext uri="{FF2B5EF4-FFF2-40B4-BE49-F238E27FC236}">
                <a16:creationId xmlns:a16="http://schemas.microsoft.com/office/drawing/2014/main" id="{408869AC-D268-4A35-8CAC-A18C5BA15678}"/>
              </a:ext>
            </a:extLst>
          </p:cNvPr>
          <p:cNvSpPr>
            <a:spLocks xmlns:a="http://schemas.openxmlformats.org/drawingml/2006/main" noGrp="1"/>
          </p:cNvSpPr>
          <p:nvPr/>
        </p:nvSpPr>
        <p:spPr>
          <a:xfrm xmlns:a="http://schemas.openxmlformats.org/drawingml/2006/main">
            <a:off x="4743450" y="2886075"/>
            <a:ext cx="47625" cy="136207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D3BB465-1802-4659-820A-4A1CC75E03CB}"/>
              </a:ext>
            </a:extLst>
          </p:cNvPr>
          <p:cNvSpPr>
            <a:spLocks xmlns:a="http://schemas.openxmlformats.org/drawingml/2006/main" noGrp="1"/>
          </p:cNvSpPr>
          <p:nvPr/>
        </p:nvSpPr>
        <p:spPr>
          <a:xfrm xmlns:a="http://schemas.openxmlformats.org/drawingml/2006/main">
            <a:off x="4914900" y="3038475"/>
            <a:ext cx="23717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Python tool</a:t>
            </a:r>
          </a:p>
        </p:txBody>
      </p:sp>
      <p:sp>
        <p:nvSpPr>
          <p:cNvPr id="21" name="">
            <a:extLst xmlns:a="http://schemas.openxmlformats.org/drawingml/2006/main">
              <a:ext uri="{FF2B5EF4-FFF2-40B4-BE49-F238E27FC236}">
                <a16:creationId xmlns:a16="http://schemas.microsoft.com/office/drawing/2014/main" id="{400E0FEC-1FAB-40E0-9AC2-838FA3B582A7}"/>
              </a:ext>
            </a:extLst>
          </p:cNvPr>
          <p:cNvSpPr>
            <a:spLocks xmlns:a="http://schemas.openxmlformats.org/drawingml/2006/main" noGrp="1"/>
          </p:cNvSpPr>
          <p:nvPr/>
        </p:nvSpPr>
        <p:spPr>
          <a:xfrm xmlns:a="http://schemas.openxmlformats.org/drawingml/2006/main">
            <a:off x="4914900" y="3524250"/>
            <a:ext cx="2371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Requests fresh data</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from an external API</a:t>
            </a:r>
          </a:p>
        </p:txBody>
      </p:sp>
      <p:sp>
        <p:nvSpPr>
          <p:cNvPr id="22" name="">
            <a:extLst xmlns:a="http://schemas.openxmlformats.org/drawingml/2006/main">
              <a:ext uri="{FF2B5EF4-FFF2-40B4-BE49-F238E27FC236}">
                <a16:creationId xmlns:a16="http://schemas.microsoft.com/office/drawing/2014/main" id="{C11F51FE-AA4E-44A4-81EB-A36D525B83E3}"/>
              </a:ext>
            </a:extLst>
          </p:cNvPr>
          <p:cNvSpPr>
            <a:spLocks xmlns:a="http://schemas.openxmlformats.org/drawingml/2006/main" noGrp="1"/>
          </p:cNvSpPr>
          <p:nvPr/>
        </p:nvSpPr>
        <p:spPr>
          <a:xfrm xmlns:a="http://schemas.openxmlformats.org/drawingml/2006/main">
            <a:off x="8867775" y="2886075"/>
            <a:ext cx="2714625" cy="1362075"/>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23" name="">
            <a:extLst xmlns:a="http://schemas.openxmlformats.org/drawingml/2006/main">
              <a:ext uri="{FF2B5EF4-FFF2-40B4-BE49-F238E27FC236}">
                <a16:creationId xmlns:a16="http://schemas.microsoft.com/office/drawing/2014/main" id="{C70CE7D6-F1D2-401C-8C31-7AD8EE9CFC6B}"/>
              </a:ext>
            </a:extLst>
          </p:cNvPr>
          <p:cNvSpPr>
            <a:spLocks xmlns:a="http://schemas.openxmlformats.org/drawingml/2006/main" noGrp="1"/>
          </p:cNvSpPr>
          <p:nvPr/>
        </p:nvSpPr>
        <p:spPr>
          <a:xfrm xmlns:a="http://schemas.openxmlformats.org/drawingml/2006/main">
            <a:off x="8867775" y="2886075"/>
            <a:ext cx="47625" cy="1362075"/>
          </a:xfrm>
          <a:prstGeom xmlns:a="http://schemas.openxmlformats.org/drawingml/2006/main" prst="rect">
            <a:avLst/>
          </a:prstGeom>
          <a:solidFill xmlns:a="http://schemas.openxmlformats.org/drawingml/2006/main">
            <a:srgbClr val="B9AAE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DEDF855-18D9-4812-8073-B1EEBE1BA766}"/>
              </a:ext>
            </a:extLst>
          </p:cNvPr>
          <p:cNvSpPr>
            <a:spLocks xmlns:a="http://schemas.openxmlformats.org/drawingml/2006/main" noGrp="1"/>
          </p:cNvSpPr>
          <p:nvPr/>
        </p:nvSpPr>
        <p:spPr>
          <a:xfrm xmlns:a="http://schemas.openxmlformats.org/drawingml/2006/main">
            <a:off x="9039225" y="3038475"/>
            <a:ext cx="23717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Spoken answer</a:t>
            </a:r>
          </a:p>
        </p:txBody>
      </p:sp>
      <p:sp>
        <p:nvSpPr>
          <p:cNvPr id="25" name="">
            <a:extLst xmlns:a="http://schemas.openxmlformats.org/drawingml/2006/main">
              <a:ext uri="{FF2B5EF4-FFF2-40B4-BE49-F238E27FC236}">
                <a16:creationId xmlns:a16="http://schemas.microsoft.com/office/drawing/2014/main" id="{396043A8-D6DB-4558-9A15-5BDD9ED2E6DF}"/>
              </a:ext>
            </a:extLst>
          </p:cNvPr>
          <p:cNvSpPr>
            <a:spLocks xmlns:a="http://schemas.openxmlformats.org/drawingml/2006/main" noGrp="1"/>
          </p:cNvSpPr>
          <p:nvPr/>
        </p:nvSpPr>
        <p:spPr>
          <a:xfrm xmlns:a="http://schemas.openxmlformats.org/drawingml/2006/main">
            <a:off x="9039225" y="3524250"/>
            <a:ext cx="23717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Gemini explains the</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returned information</a:t>
            </a:r>
          </a:p>
        </p:txBody>
      </p:sp>
      <p:sp>
        <p:nvSpPr>
          <p:cNvPr id="28" name="">
            <a:extLst xmlns:a="http://schemas.openxmlformats.org/drawingml/2006/main">
              <a:ext uri="{FF2B5EF4-FFF2-40B4-BE49-F238E27FC236}">
                <a16:creationId xmlns:a16="http://schemas.microsoft.com/office/drawing/2014/main" id="{91969366-7A81-442E-B6FD-4F7E53734B3F}"/>
              </a:ext>
            </a:extLst>
          </p:cNvPr>
          <p:cNvSpPr>
            <a:spLocks xmlns:a="http://schemas.openxmlformats.org/drawingml/2006/main" noGrp="1"/>
          </p:cNvSpPr>
          <p:nvPr/>
        </p:nvSpPr>
        <p:spPr>
          <a:xfrm xmlns:a="http://schemas.openxmlformats.org/drawingml/2006/main">
            <a:off x="609600" y="4762500"/>
            <a:ext cx="10715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In Syrus, search and weather are useful for changing facts. Definitions come from a live API response, though word meanings usually change slowly.</a:t>
            </a:r>
          </a:p>
        </p:txBody>
      </p:sp>
      <p:sp>
        <p:nvSpPr>
          <p:cNvPr id="29" name="">
            <a:extLst xmlns:a="http://schemas.openxmlformats.org/drawingml/2006/main">
              <a:ext uri="{FF2B5EF4-FFF2-40B4-BE49-F238E27FC236}">
                <a16:creationId xmlns:a16="http://schemas.microsoft.com/office/drawing/2014/main" id="{0E408157-B88E-44CC-A218-3E89BDC21CE7}"/>
              </a:ext>
            </a:extLst>
          </p:cNvPr>
          <p:cNvSpPr>
            <a:spLocks xmlns:a="http://schemas.openxmlformats.org/drawingml/2006/main" noGrp="1"/>
          </p:cNvSpPr>
          <p:nvPr/>
        </p:nvSpPr>
        <p:spPr>
          <a:xfrm xmlns:a="http://schemas.openxmlformats.org/drawingml/2006/main">
            <a:off x="609600" y="5753100"/>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A live lookup can still be unavailable, incomplete or out of date.</a:t>
            </a:r>
          </a:p>
        </p:txBody>
      </p:sp>
    </p:spTree>
    <p:extLst>
      <p:ext uri="{BB962C8B-B14F-4D97-AF65-F5344CB8AC3E}">
        <p14:creationId xmlns:p14="http://schemas.microsoft.com/office/powerpoint/2010/main" val="1003986554"/>
      </p:ext>
    </p:extLst>
  </p:cSld>
</p:sld>
</file>

<file path=ppt/slides/slide4.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13759C6-7641-4CD8-8910-219EA07D0868}"/>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466CCCF-2C4D-4E65-ABD9-876FA4E107FE}"/>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SETUP</a:t>
            </a:r>
          </a:p>
        </p:txBody>
      </p:sp>
      <p:sp>
        <p:nvSpPr>
          <p:cNvPr id="3" name="title">
            <a:extLst xmlns:a="http://schemas.openxmlformats.org/drawingml/2006/main">
              <a:ext uri="{FF2B5EF4-FFF2-40B4-BE49-F238E27FC236}">
                <a16:creationId xmlns:a16="http://schemas.microsoft.com/office/drawing/2014/main" id="{CEE3C1D9-6442-4D67-A797-1EB863620C56}"/>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The dependency stack</a:t>
            </a:r>
          </a:p>
        </p:txBody>
      </p:sp>
      <p:sp>
        <p:nvSpPr>
          <p:cNvPr id="4" name="">
            <a:extLst xmlns:a="http://schemas.openxmlformats.org/drawingml/2006/main">
              <a:ext uri="{FF2B5EF4-FFF2-40B4-BE49-F238E27FC236}">
                <a16:creationId xmlns:a16="http://schemas.microsoft.com/office/drawing/2014/main" id="{26EE10FA-69E1-4FE1-AC49-78E8FFCE18E6}"/>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45890A-55F7-4173-9AF4-9E2D21E1FDD8}"/>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1BAB94EC-D30F-4593-A48E-591B0D317A6D}"/>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B89709-72AE-4447-92C0-876CB6E85E40}"/>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DC11E65-5ADD-465A-BFA2-B901126B744B}"/>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7F7492-DC5F-468D-8FDE-4B90ACAE98E8}"/>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88299B-1B7F-42FA-B112-73499BEC81BE}"/>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AC08CB-1B1D-4130-9D4C-733E479AD439}"/>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5133D0-9D69-4A8B-87BC-965D85B4CBF8}"/>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04</a:t>
            </a:r>
          </a:p>
        </p:txBody>
      </p:sp>
      <p:graphicFrame>
        <p:nvGraphicFramePr>
          <p:cNvPr id="13" name="">
            <a:extLst xmlns:a="http://schemas.openxmlformats.org/drawingml/2006/main">
              <a:ext uri="{FF2B5EF4-FFF2-40B4-BE49-F238E27FC236}">
                <a16:creationId xmlns:a16="http://schemas.microsoft.com/office/drawing/2014/main" id="{2A76C801-2F04-4A74-8543-889F502448A6}"/>
              </a:ext>
            </a:extLst>
          </p:cNvPr>
          <p:cNvGraphicFramePr/>
          <p:nvPr/>
        </p:nvGraphicFramePr>
        <p:xfrm>
          <a:off xmlns:a="http://schemas.openxmlformats.org/drawingml/2006/main" x="609600" y="1924050"/>
          <a:ext xmlns:a="http://schemas.openxmlformats.org/drawingml/2006/main" cx="10972800" cy="3667125"/>
        </p:xfrm>
        <a:graphic xmlns:a="http://schemas.openxmlformats.org/drawingml/2006/main">
          <a:graphicData uri="http://schemas.openxmlformats.org/drawingml/2006/table">
            <a:tbl>
              <a:tblPr/>
              <a:tblGrid>
                <a:gridCol w="4286250"/>
                <a:gridCol w="6686550"/>
              </a:tblGrid>
              <a:tr h="611188">
                <a:tc>
                  <a:txBody>
                    <a:bodyPr lIns="114300" tIns="114300" rIns="114300" bIns="114300"/>
                    <a:lstStyle/>
                    <a:p>
                      <a:r>
                        <a:rPr sz="1575" b="1">
                          <a:solidFill>
                            <a:srgbClr val="FFFFFF"/>
                          </a:solidFill>
                          <a:latin typeface="Arial"/>
                          <a:ea typeface="Arial"/>
                          <a:cs typeface="Arial"/>
                        </a:rPr>
                        <a:t>Package</a:t>
                      </a:r>
                    </a:p>
                  </a:txBody>
                  <a:tcPr marL="91440" marR="91440" marT="45720" marB="45720" anchor="ctr">
                    <a:solidFill>
                      <a:srgbClr val="302E46"/>
                    </a:solidFill>
                  </a:tcPr>
                </a:tc>
                <a:tc>
                  <a:txBody>
                    <a:bodyPr lIns="114300" tIns="114300" rIns="114300" bIns="114300"/>
                    <a:lstStyle/>
                    <a:p>
                      <a:r>
                        <a:rPr sz="1575" b="1">
                          <a:solidFill>
                            <a:srgbClr val="FFFFFF"/>
                          </a:solidFill>
                          <a:latin typeface="Arial"/>
                          <a:ea typeface="Arial"/>
                          <a:cs typeface="Arial"/>
                        </a:rPr>
                        <a:t>Responsibility in Syrus</a:t>
                      </a:r>
                    </a:p>
                  </a:txBody>
                  <a:tcPr marL="91440" marR="91440" marT="45720" marB="45720" anchor="ctr">
                    <a:solidFill>
                      <a:srgbClr val="302E46"/>
                    </a:solidFill>
                  </a:tcPr>
                </a:tc>
              </a:tr>
              <a:tr h="611188">
                <a:tc>
                  <a:txBody>
                    <a:bodyPr lIns="114300" tIns="114300" rIns="114300" bIns="114300"/>
                    <a:lstStyle/>
                    <a:p>
                      <a:r>
                        <a:rPr sz="1725" b="0">
                          <a:solidFill>
                            <a:srgbClr val="F5F1FA"/>
                          </a:solidFill>
                          <a:latin typeface="Arial"/>
                          <a:ea typeface="Arial"/>
                          <a:cs typeface="Arial"/>
                        </a:rPr>
                        <a:t>livekit-agents[google,images]</a:t>
                      </a:r>
                    </a:p>
                  </a:txBody>
                  <a:tcPr marL="91440" marR="91440" marT="45720" marB="45720" anchor="ctr">
                    <a:solidFill>
                      <a:srgbClr val="26253A"/>
                    </a:solidFill>
                  </a:tcPr>
                </a:tc>
                <a:tc>
                  <a:txBody>
                    <a:bodyPr lIns="114300" tIns="114300" rIns="114300" bIns="114300"/>
                    <a:lstStyle/>
                    <a:p>
                      <a:r>
                        <a:rPr sz="1725" b="0">
                          <a:solidFill>
                            <a:srgbClr val="F5F1FA"/>
                          </a:solidFill>
                          <a:latin typeface="Arial"/>
                          <a:ea typeface="Arial"/>
                          <a:cs typeface="Arial"/>
                        </a:rPr>
                        <a:t>Room sessions, agent lifecycle and the Google integration</a:t>
                      </a:r>
                    </a:p>
                  </a:txBody>
                  <a:tcPr marL="91440" marR="91440" marT="45720" marB="45720" anchor="ctr">
                    <a:solidFill>
                      <a:srgbClr val="26253A"/>
                    </a:solidFill>
                  </a:tcPr>
                </a:tc>
              </a:tr>
              <a:tr h="611188">
                <a:tc>
                  <a:txBody>
                    <a:bodyPr lIns="114300" tIns="114300" rIns="114300" bIns="114300"/>
                    <a:lstStyle/>
                    <a:p>
                      <a:r>
                        <a:rPr sz="1725" b="0">
                          <a:solidFill>
                            <a:srgbClr val="F5F1FA"/>
                          </a:solidFill>
                          <a:latin typeface="Arial"/>
                          <a:ea typeface="Arial"/>
                          <a:cs typeface="Arial"/>
                        </a:rPr>
                        <a:t>livekit-plugins-ai-coustics</a:t>
                      </a:r>
                    </a:p>
                  </a:txBody>
                  <a:tcPr marL="91440" marR="91440" marT="45720" marB="45720" anchor="ctr">
                    <a:solidFill>
                      <a:srgbClr val="26253A"/>
                    </a:solidFill>
                  </a:tcPr>
                </a:tc>
                <a:tc>
                  <a:txBody>
                    <a:bodyPr lIns="114300" tIns="114300" rIns="114300" bIns="114300"/>
                    <a:lstStyle/>
                    <a:p>
                      <a:r>
                        <a:rPr sz="1725" b="0">
                          <a:solidFill>
                            <a:srgbClr val="F5F1FA"/>
                          </a:solidFill>
                          <a:latin typeface="Arial"/>
                          <a:ea typeface="Arial"/>
                          <a:cs typeface="Arial"/>
                        </a:rPr>
                        <a:t>Optional audio enhancement; currently disabled</a:t>
                      </a:r>
                    </a:p>
                  </a:txBody>
                  <a:tcPr marL="91440" marR="91440" marT="45720" marB="45720" anchor="ctr">
                    <a:solidFill>
                      <a:srgbClr val="26253A"/>
                    </a:solidFill>
                  </a:tcPr>
                </a:tc>
              </a:tr>
              <a:tr h="611188">
                <a:tc>
                  <a:txBody>
                    <a:bodyPr lIns="114300" tIns="114300" rIns="114300" bIns="114300"/>
                    <a:lstStyle/>
                    <a:p>
                      <a:r>
                        <a:rPr sz="1725" b="0">
                          <a:solidFill>
                            <a:srgbClr val="F5F1FA"/>
                          </a:solidFill>
                          <a:latin typeface="Arial"/>
                          <a:ea typeface="Arial"/>
                          <a:cs typeface="Arial"/>
                        </a:rPr>
                        <a:t>ddgs</a:t>
                      </a:r>
                    </a:p>
                  </a:txBody>
                  <a:tcPr marL="91440" marR="91440" marT="45720" marB="45720" anchor="ctr">
                    <a:solidFill>
                      <a:srgbClr val="26253A"/>
                    </a:solidFill>
                  </a:tcPr>
                </a:tc>
                <a:tc>
                  <a:txBody>
                    <a:bodyPr lIns="114300" tIns="114300" rIns="114300" bIns="114300"/>
                    <a:lstStyle/>
                    <a:p>
                      <a:r>
                        <a:rPr sz="1725" b="0">
                          <a:solidFill>
                            <a:srgbClr val="F5F1FA"/>
                          </a:solidFill>
                          <a:latin typeface="Arial"/>
                          <a:ea typeface="Arial"/>
                          <a:cs typeface="Arial"/>
                        </a:rPr>
                        <a:t>Web-search result retrieval</a:t>
                      </a:r>
                    </a:p>
                  </a:txBody>
                  <a:tcPr marL="91440" marR="91440" marT="45720" marB="45720" anchor="ctr">
                    <a:solidFill>
                      <a:srgbClr val="26253A"/>
                    </a:solidFill>
                  </a:tcPr>
                </a:tc>
              </a:tr>
              <a:tr h="611188">
                <a:tc>
                  <a:txBody>
                    <a:bodyPr lIns="114300" tIns="114300" rIns="114300" bIns="114300"/>
                    <a:lstStyle/>
                    <a:p>
                      <a:r>
                        <a:rPr sz="1725" b="0">
                          <a:solidFill>
                            <a:srgbClr val="F5F1FA"/>
                          </a:solidFill>
                          <a:latin typeface="Arial"/>
                          <a:ea typeface="Arial"/>
                          <a:cs typeface="Arial"/>
                        </a:rPr>
                        <a:t>httpx</a:t>
                      </a:r>
                    </a:p>
                  </a:txBody>
                  <a:tcPr marL="91440" marR="91440" marT="45720" marB="45720" anchor="ctr">
                    <a:solidFill>
                      <a:srgbClr val="26253A"/>
                    </a:solidFill>
                  </a:tcPr>
                </a:tc>
                <a:tc>
                  <a:txBody>
                    <a:bodyPr lIns="114300" tIns="114300" rIns="114300" bIns="114300"/>
                    <a:lstStyle/>
                    <a:p>
                      <a:r>
                        <a:rPr sz="1725" b="0">
                          <a:solidFill>
                            <a:srgbClr val="F5F1FA"/>
                          </a:solidFill>
                          <a:latin typeface="Arial"/>
                          <a:ea typeface="Arial"/>
                          <a:cs typeface="Arial"/>
                        </a:rPr>
                        <a:t>Async HTTP calls to weather and dictionary APIs</a:t>
                      </a:r>
                    </a:p>
                  </a:txBody>
                  <a:tcPr marL="91440" marR="91440" marT="45720" marB="45720" anchor="ctr">
                    <a:solidFill>
                      <a:srgbClr val="26253A"/>
                    </a:solidFill>
                  </a:tcPr>
                </a:tc>
              </a:tr>
              <a:tr h="611188">
                <a:tc>
                  <a:txBody>
                    <a:bodyPr lIns="114300" tIns="114300" rIns="114300" bIns="114300"/>
                    <a:lstStyle/>
                    <a:p>
                      <a:r>
                        <a:rPr sz="1725" b="0">
                          <a:solidFill>
                            <a:srgbClr val="F5F1FA"/>
                          </a:solidFill>
                          <a:latin typeface="Arial"/>
                          <a:ea typeface="Arial"/>
                          <a:cs typeface="Arial"/>
                        </a:rPr>
                        <a:t>python-dotenv</a:t>
                      </a:r>
                    </a:p>
                  </a:txBody>
                  <a:tcPr marL="91440" marR="91440" marT="45720" marB="45720" anchor="ctr">
                    <a:solidFill>
                      <a:srgbClr val="26253A"/>
                    </a:solidFill>
                  </a:tcPr>
                </a:tc>
                <a:tc>
                  <a:txBody>
                    <a:bodyPr lIns="114300" tIns="114300" rIns="114300" bIns="114300"/>
                    <a:lstStyle/>
                    <a:p>
                      <a:r>
                        <a:rPr sz="1725" b="0">
                          <a:solidFill>
                            <a:srgbClr val="F5F1FA"/>
                          </a:solidFill>
                          <a:latin typeface="Arial"/>
                          <a:ea typeface="Arial"/>
                          <a:cs typeface="Arial"/>
                        </a:rPr>
                        <a:t>Loads private configuration from .env.local</a:t>
                      </a:r>
                    </a:p>
                  </a:txBody>
                  <a:tcPr marL="91440" marR="91440" marT="45720" marB="45720" anchor="ctr">
                    <a:solidFill>
                      <a:srgbClr val="26253A"/>
                    </a:solidFill>
                  </a:tcPr>
                </a:tc>
              </a:tr>
            </a:tbl>
          </a:graphicData>
        </a:graphic>
      </p:graphicFrame>
      <p:sp>
        <p:nvSpPr>
          <p:cNvPr id="14" name="">
            <a:extLst xmlns:a="http://schemas.openxmlformats.org/drawingml/2006/main">
              <a:ext uri="{FF2B5EF4-FFF2-40B4-BE49-F238E27FC236}">
                <a16:creationId xmlns:a16="http://schemas.microsoft.com/office/drawing/2014/main" id="{8E699E65-1AC6-4F76-B015-2C45F997AAAF}"/>
              </a:ext>
            </a:extLst>
          </p:cNvPr>
          <p:cNvSpPr>
            <a:spLocks xmlns:a="http://schemas.openxmlformats.org/drawingml/2006/main" noGrp="1"/>
          </p:cNvSpPr>
          <p:nvPr/>
        </p:nvSpPr>
        <p:spPr>
          <a:xfrm xmlns:a="http://schemas.openxmlformats.org/drawingml/2006/main">
            <a:off x="609600" y="581977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uv manages the environment. The LiveKit CLI (lk) links the cloud project and starts the worker.</a:t>
            </a:r>
          </a:p>
        </p:txBody>
      </p:sp>
    </p:spTree>
    <p:extLst>
      <p:ext uri="{BB962C8B-B14F-4D97-AF65-F5344CB8AC3E}">
        <p14:creationId xmlns:p14="http://schemas.microsoft.com/office/powerpoint/2010/main" val="412449024"/>
      </p:ext>
    </p:extLst>
  </p:cSld>
</p:sld>
</file>

<file path=ppt/slides/slide5.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BEB4981-133D-4C9C-8E88-3F5EE1F9E7F3}"/>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072C1D-3332-4D9F-990D-51E9DF5F3CAC}"/>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SETUP</a:t>
            </a:r>
          </a:p>
        </p:txBody>
      </p:sp>
      <p:sp>
        <p:nvSpPr>
          <p:cNvPr id="3" name="title">
            <a:extLst xmlns:a="http://schemas.openxmlformats.org/drawingml/2006/main">
              <a:ext uri="{FF2B5EF4-FFF2-40B4-BE49-F238E27FC236}">
                <a16:creationId xmlns:a16="http://schemas.microsoft.com/office/drawing/2014/main" id="{D0D2585B-4A3F-4C78-9162-45DB87FC872A}"/>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Tooling and Python installation</a:t>
            </a:r>
          </a:p>
        </p:txBody>
      </p:sp>
      <p:sp>
        <p:nvSpPr>
          <p:cNvPr id="4" name="">
            <a:extLst xmlns:a="http://schemas.openxmlformats.org/drawingml/2006/main">
              <a:ext uri="{FF2B5EF4-FFF2-40B4-BE49-F238E27FC236}">
                <a16:creationId xmlns:a16="http://schemas.microsoft.com/office/drawing/2014/main" id="{FCC41F22-2B67-4D71-9775-39051FB04756}"/>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01CA61-17DB-4FF4-885A-6B909F570865}"/>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F9204D8B-5B10-433C-8D2C-6CFCFFF1BBDD}"/>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E9F66D-52CE-4625-BF67-0E4F51E98965}"/>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795357D-BE49-41F7-B44A-482B9AFC052A}"/>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5A011F-B6D2-4E0F-9F8A-29D29EAB6365}"/>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BB5454-0B52-4001-9D87-5FD9115FE060}"/>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0CD7252-4FCF-46C8-8463-582E467ED32A}"/>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D7D855A-C034-413B-BC4F-B16B187A7CD8}"/>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B4F6D04D-BF82-468C-A7B6-D14F3793ED1A}"/>
              </a:ext>
            </a:extLst>
          </p:cNvPr>
          <p:cNvSpPr>
            <a:spLocks xmlns:a="http://schemas.openxmlformats.org/drawingml/2006/main" noGrp="1"/>
          </p:cNvSpPr>
          <p:nvPr/>
        </p:nvSpPr>
        <p:spPr>
          <a:xfrm xmlns:a="http://schemas.openxmlformats.org/drawingml/2006/main">
            <a:off x="609600" y="19050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macOS with Homebrew</a:t>
            </a:r>
          </a:p>
        </p:txBody>
      </p:sp>
      <p:sp>
        <p:nvSpPr>
          <p:cNvPr id="14" name="">
            <a:extLst xmlns:a="http://schemas.openxmlformats.org/drawingml/2006/main">
              <a:ext uri="{FF2B5EF4-FFF2-40B4-BE49-F238E27FC236}">
                <a16:creationId xmlns:a16="http://schemas.microsoft.com/office/drawing/2014/main" id="{6A102B37-13E7-4420-920D-53688A220EB1}"/>
              </a:ext>
            </a:extLst>
          </p:cNvPr>
          <p:cNvSpPr>
            <a:spLocks xmlns:a="http://schemas.openxmlformats.org/drawingml/2006/main" noGrp="1"/>
          </p:cNvSpPr>
          <p:nvPr/>
        </p:nvSpPr>
        <p:spPr>
          <a:xfrm xmlns:a="http://schemas.openxmlformats.org/drawingml/2006/main">
            <a:off x="609600" y="2390775"/>
            <a:ext cx="5200650" cy="1295400"/>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C1E4F96-E48D-48F9-B043-4238E93465F1}"/>
              </a:ext>
            </a:extLst>
          </p:cNvPr>
          <p:cNvSpPr>
            <a:spLocks xmlns:a="http://schemas.openxmlformats.org/drawingml/2006/main" noGrp="1"/>
          </p:cNvSpPr>
          <p:nvPr/>
        </p:nvSpPr>
        <p:spPr>
          <a:xfrm xmlns:a="http://schemas.openxmlformats.org/drawingml/2006/main">
            <a:off x="838200" y="2619375"/>
            <a:ext cx="47434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brew install uv livekit-cli</a:t>
            </a:r>
          </a:p>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uv python install 3.12</a:t>
            </a:r>
          </a:p>
        </p:txBody>
      </p:sp>
      <p:sp>
        <p:nvSpPr>
          <p:cNvPr id="16" name="">
            <a:extLst xmlns:a="http://schemas.openxmlformats.org/drawingml/2006/main">
              <a:ext uri="{FF2B5EF4-FFF2-40B4-BE49-F238E27FC236}">
                <a16:creationId xmlns:a16="http://schemas.microsoft.com/office/drawing/2014/main" id="{D81AF5D6-41BB-4B4E-A77E-08B9D8C48618}"/>
              </a:ext>
            </a:extLst>
          </p:cNvPr>
          <p:cNvSpPr>
            <a:spLocks xmlns:a="http://schemas.openxmlformats.org/drawingml/2006/main" noGrp="1"/>
          </p:cNvSpPr>
          <p:nvPr/>
        </p:nvSpPr>
        <p:spPr>
          <a:xfrm xmlns:a="http://schemas.openxmlformats.org/drawingml/2006/main">
            <a:off x="6362700" y="1905000"/>
            <a:ext cx="519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Windows with WinGet</a:t>
            </a:r>
          </a:p>
        </p:txBody>
      </p:sp>
      <p:sp>
        <p:nvSpPr>
          <p:cNvPr id="17" name="">
            <a:extLst xmlns:a="http://schemas.openxmlformats.org/drawingml/2006/main">
              <a:ext uri="{FF2B5EF4-FFF2-40B4-BE49-F238E27FC236}">
                <a16:creationId xmlns:a16="http://schemas.microsoft.com/office/drawing/2014/main" id="{F2790A18-C1DB-4576-82B8-9538A1F39234}"/>
              </a:ext>
            </a:extLst>
          </p:cNvPr>
          <p:cNvSpPr>
            <a:spLocks xmlns:a="http://schemas.openxmlformats.org/drawingml/2006/main" noGrp="1"/>
          </p:cNvSpPr>
          <p:nvPr/>
        </p:nvSpPr>
        <p:spPr>
          <a:xfrm xmlns:a="http://schemas.openxmlformats.org/drawingml/2006/main">
            <a:off x="6362700" y="2390775"/>
            <a:ext cx="5219700" cy="1295400"/>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DE77AC0-076B-4362-9FFD-3CDB051C74C4}"/>
              </a:ext>
            </a:extLst>
          </p:cNvPr>
          <p:cNvSpPr>
            <a:spLocks xmlns:a="http://schemas.openxmlformats.org/drawingml/2006/main" noGrp="1"/>
          </p:cNvSpPr>
          <p:nvPr/>
        </p:nvSpPr>
        <p:spPr>
          <a:xfrm xmlns:a="http://schemas.openxmlformats.org/drawingml/2006/main">
            <a:off x="6591300" y="261937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winget install --id astral-sh.uv -e</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winget install LiveKit.LiveKitCLI</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uv python install 3.12</a:t>
            </a:r>
          </a:p>
        </p:txBody>
      </p:sp>
      <p:sp>
        <p:nvSpPr>
          <p:cNvPr id="19" name="">
            <a:extLst xmlns:a="http://schemas.openxmlformats.org/drawingml/2006/main">
              <a:ext uri="{FF2B5EF4-FFF2-40B4-BE49-F238E27FC236}">
                <a16:creationId xmlns:a16="http://schemas.microsoft.com/office/drawing/2014/main" id="{625555B7-1347-4CAF-BAE1-77E4BD3094FD}"/>
              </a:ext>
            </a:extLst>
          </p:cNvPr>
          <p:cNvSpPr>
            <a:spLocks xmlns:a="http://schemas.openxmlformats.org/drawingml/2006/main" noGrp="1"/>
          </p:cNvSpPr>
          <p:nvPr/>
        </p:nvSpPr>
        <p:spPr>
          <a:xfrm xmlns:a="http://schemas.openxmlformats.org/drawingml/2006/main">
            <a:off x="609600" y="41243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Python executes the agent</a:t>
            </a:r>
          </a:p>
        </p:txBody>
      </p:sp>
      <p:sp>
        <p:nvSpPr>
          <p:cNvPr id="20" name="">
            <a:extLst xmlns:a="http://schemas.openxmlformats.org/drawingml/2006/main">
              <a:ext uri="{FF2B5EF4-FFF2-40B4-BE49-F238E27FC236}">
                <a16:creationId xmlns:a16="http://schemas.microsoft.com/office/drawing/2014/main" id="{E320CD77-0176-4A7D-A2C1-2BE3913199A6}"/>
              </a:ext>
            </a:extLst>
          </p:cNvPr>
          <p:cNvSpPr>
            <a:spLocks xmlns:a="http://schemas.openxmlformats.org/drawingml/2006/main" noGrp="1"/>
          </p:cNvSpPr>
          <p:nvPr/>
        </p:nvSpPr>
        <p:spPr>
          <a:xfrm xmlns:a="http://schemas.openxmlformats.org/drawingml/2006/main">
            <a:off x="609600" y="446722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We use Python 3.12 for this walkthrough, matching the checks workflow.</a:t>
            </a:r>
          </a:p>
        </p:txBody>
      </p:sp>
      <p:sp>
        <p:nvSpPr>
          <p:cNvPr id="21" name="">
            <a:extLst xmlns:a="http://schemas.openxmlformats.org/drawingml/2006/main">
              <a:ext uri="{FF2B5EF4-FFF2-40B4-BE49-F238E27FC236}">
                <a16:creationId xmlns:a16="http://schemas.microsoft.com/office/drawing/2014/main" id="{2EDC6404-E40C-40E9-8D28-E54686FF65E6}"/>
              </a:ext>
            </a:extLst>
          </p:cNvPr>
          <p:cNvSpPr>
            <a:spLocks xmlns:a="http://schemas.openxmlformats.org/drawingml/2006/main" noGrp="1"/>
          </p:cNvSpPr>
          <p:nvPr/>
        </p:nvSpPr>
        <p:spPr>
          <a:xfrm xmlns:a="http://schemas.openxmlformats.org/drawingml/2006/main">
            <a:off x="609600" y="498157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uv also manages Python versions</a:t>
            </a:r>
          </a:p>
        </p:txBody>
      </p:sp>
      <p:sp>
        <p:nvSpPr>
          <p:cNvPr id="22" name="">
            <a:extLst xmlns:a="http://schemas.openxmlformats.org/drawingml/2006/main">
              <a:ext uri="{FF2B5EF4-FFF2-40B4-BE49-F238E27FC236}">
                <a16:creationId xmlns:a16="http://schemas.microsoft.com/office/drawing/2014/main" id="{CB5C1793-A470-4C49-9D6D-EE126A73E06D}"/>
              </a:ext>
            </a:extLst>
          </p:cNvPr>
          <p:cNvSpPr>
            <a:spLocks xmlns:a="http://schemas.openxmlformats.org/drawingml/2006/main" noGrp="1"/>
          </p:cNvSpPr>
          <p:nvPr/>
        </p:nvSpPr>
        <p:spPr>
          <a:xfrm xmlns:a="http://schemas.openxmlformats.org/drawingml/2006/main">
            <a:off x="609600" y="532447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The project declares Python 3.10 or newer, below 3.15.</a:t>
            </a:r>
          </a:p>
        </p:txBody>
      </p:sp>
    </p:spTree>
    <p:extLst>
      <p:ext uri="{BB962C8B-B14F-4D97-AF65-F5344CB8AC3E}">
        <p14:creationId xmlns:p14="http://schemas.microsoft.com/office/powerpoint/2010/main" val="1236748501"/>
      </p:ext>
    </p:extLst>
  </p:cSld>
</p:sld>
</file>

<file path=ppt/slides/slide6.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623758-3587-4ABE-AA26-EA07D1F97A92}"/>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E4148B-F582-45AE-BFEB-9C85F4051800}"/>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SETUP</a:t>
            </a:r>
          </a:p>
        </p:txBody>
      </p:sp>
      <p:sp>
        <p:nvSpPr>
          <p:cNvPr id="3" name="title">
            <a:extLst xmlns:a="http://schemas.openxmlformats.org/drawingml/2006/main">
              <a:ext uri="{FF2B5EF4-FFF2-40B4-BE49-F238E27FC236}">
                <a16:creationId xmlns:a16="http://schemas.microsoft.com/office/drawing/2014/main" id="{B078C3EE-C953-469F-815F-B5F84E49A603}"/>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Project configuration and startup</a:t>
            </a:r>
          </a:p>
        </p:txBody>
      </p:sp>
      <p:sp>
        <p:nvSpPr>
          <p:cNvPr id="4" name="">
            <a:extLst xmlns:a="http://schemas.openxmlformats.org/drawingml/2006/main">
              <a:ext uri="{FF2B5EF4-FFF2-40B4-BE49-F238E27FC236}">
                <a16:creationId xmlns:a16="http://schemas.microsoft.com/office/drawing/2014/main" id="{D71660B6-3C85-42F8-97C2-3C411C6BFAB1}"/>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C4D374-8C04-41FA-AB96-70715550F52A}"/>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4A637A19-A080-4731-8F7F-E2B9B42464A1}"/>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7A93FB-8D1C-4A0C-AF7F-B7089431C215}"/>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F2233C-D496-4727-A8C5-14F16C121310}"/>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2FBBE2-4FEA-4AD3-98F5-2A68C19D5D77}"/>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E4B3090-E2F6-46F0-BB7D-23FF6D26C095}"/>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8EA2DD-3B71-42B1-910D-152B3565F551}"/>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0F119F-1DDF-46FC-BBB8-E06FE600F585}"/>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06</a:t>
            </a:r>
          </a:p>
        </p:txBody>
      </p:sp>
      <p:sp>
        <p:nvSpPr>
          <p:cNvPr id="13" name="">
            <a:extLst xmlns:a="http://schemas.openxmlformats.org/drawingml/2006/main">
              <a:ext uri="{FF2B5EF4-FFF2-40B4-BE49-F238E27FC236}">
                <a16:creationId xmlns:a16="http://schemas.microsoft.com/office/drawing/2014/main" id="{04A5081F-7D8B-46FA-A963-FCDAC565BE36}"/>
              </a:ext>
            </a:extLst>
          </p:cNvPr>
          <p:cNvSpPr>
            <a:spLocks xmlns:a="http://schemas.openxmlformats.org/drawingml/2006/main" noGrp="1"/>
          </p:cNvSpPr>
          <p:nvPr/>
        </p:nvSpPr>
        <p:spPr>
          <a:xfrm xmlns:a="http://schemas.openxmlformats.org/drawingml/2006/main">
            <a:off x="609600" y="1847850"/>
            <a:ext cx="609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5F1FA"/>
                </a:solidFill>
                <a:latin typeface="Arial"/>
                <a:ea typeface="Arial"/>
                <a:cs typeface="Arial"/>
              </a:defRPr>
            </a:defPPr>
          </a:lstStyle>
          <a:p xmlns:a="http://schemas.openxmlformats.org/drawingml/2006/main">
            <a:pPr algn="l">
              <a:defRPr sz="1875" b="1">
                <a:solidFill>
                  <a:srgbClr val="F5F1FA"/>
                </a:solidFill>
                <a:latin typeface="Arial"/>
                <a:ea typeface="Arial"/>
                <a:cs typeface="Arial"/>
              </a:defRPr>
            </a:pPr>
            <a:r>
              <a:rPr sz="1875" b="1">
                <a:solidFill>
                  <a:srgbClr val="F5F1FA"/>
                </a:solidFill>
                <a:latin typeface="Arial"/>
                <a:ea typeface="Arial"/>
                <a:cs typeface="Arial"/>
              </a:rPr>
              <a:t>From the my-agent project folder</a:t>
            </a:r>
          </a:p>
        </p:txBody>
      </p:sp>
      <p:sp>
        <p:nvSpPr>
          <p:cNvPr id="14" name="">
            <a:extLst xmlns:a="http://schemas.openxmlformats.org/drawingml/2006/main">
              <a:ext uri="{FF2B5EF4-FFF2-40B4-BE49-F238E27FC236}">
                <a16:creationId xmlns:a16="http://schemas.microsoft.com/office/drawing/2014/main" id="{E597F20F-3A21-47DD-B7C9-5F4B20B9841E}"/>
              </a:ext>
            </a:extLst>
          </p:cNvPr>
          <p:cNvSpPr>
            <a:spLocks xmlns:a="http://schemas.openxmlformats.org/drawingml/2006/main" noGrp="1"/>
          </p:cNvSpPr>
          <p:nvPr/>
        </p:nvSpPr>
        <p:spPr>
          <a:xfrm xmlns:a="http://schemas.openxmlformats.org/drawingml/2006/main">
            <a:off x="609600" y="2371725"/>
            <a:ext cx="5867400" cy="2133600"/>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0785D50-8EAF-463C-9104-5C2259899778}"/>
              </a:ext>
            </a:extLst>
          </p:cNvPr>
          <p:cNvSpPr>
            <a:spLocks xmlns:a="http://schemas.openxmlformats.org/drawingml/2006/main" noGrp="1"/>
          </p:cNvSpPr>
          <p:nvPr/>
        </p:nvSpPr>
        <p:spPr>
          <a:xfrm xmlns:a="http://schemas.openxmlformats.org/drawingml/2006/main">
            <a:off x="838200" y="2600325"/>
            <a:ext cx="54102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uv sync --python 3.12 --dev</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lk cloud auth</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lk app env --write</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lk agent dev</a:t>
            </a:r>
          </a:p>
        </p:txBody>
      </p:sp>
      <p:sp>
        <p:nvSpPr>
          <p:cNvPr id="16" name="">
            <a:extLst xmlns:a="http://schemas.openxmlformats.org/drawingml/2006/main">
              <a:ext uri="{FF2B5EF4-FFF2-40B4-BE49-F238E27FC236}">
                <a16:creationId xmlns:a16="http://schemas.microsoft.com/office/drawing/2014/main" id="{09FBA137-0FF9-4319-8900-0A0DD9085C5D}"/>
              </a:ext>
            </a:extLst>
          </p:cNvPr>
          <p:cNvSpPr>
            <a:spLocks xmlns:a="http://schemas.openxmlformats.org/drawingml/2006/main" noGrp="1"/>
          </p:cNvSpPr>
          <p:nvPr/>
        </p:nvSpPr>
        <p:spPr>
          <a:xfrm xmlns:a="http://schemas.openxmlformats.org/drawingml/2006/main">
            <a:off x="7086600" y="1857375"/>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5F1FA"/>
                </a:solidFill>
                <a:latin typeface="Arial"/>
                <a:ea typeface="Arial"/>
                <a:cs typeface="Arial"/>
              </a:defRPr>
            </a:defPPr>
          </a:lstStyle>
          <a:p xmlns:a="http://schemas.openxmlformats.org/drawingml/2006/main">
            <a:pPr algn="l">
              <a:defRPr sz="2025" b="1">
                <a:solidFill>
                  <a:srgbClr val="F5F1FA"/>
                </a:solidFill>
                <a:latin typeface="Arial"/>
                <a:ea typeface="Arial"/>
                <a:cs typeface="Arial"/>
              </a:defRPr>
            </a:pPr>
            <a:r>
              <a:rPr sz="2025" b="1">
                <a:solidFill>
                  <a:srgbClr val="F5F1FA"/>
                </a:solidFill>
                <a:latin typeface="Arial"/>
                <a:ea typeface="Arial"/>
                <a:cs typeface="Arial"/>
              </a:rPr>
              <a:t>Private configuration</a:t>
            </a:r>
          </a:p>
        </p:txBody>
      </p:sp>
      <p:sp>
        <p:nvSpPr>
          <p:cNvPr id="17" name="">
            <a:extLst xmlns:a="http://schemas.openxmlformats.org/drawingml/2006/main">
              <a:ext uri="{FF2B5EF4-FFF2-40B4-BE49-F238E27FC236}">
                <a16:creationId xmlns:a16="http://schemas.microsoft.com/office/drawing/2014/main" id="{8D4DE8C8-498C-4D08-A978-24C6D079C05D}"/>
              </a:ext>
            </a:extLst>
          </p:cNvPr>
          <p:cNvSpPr>
            <a:spLocks xmlns:a="http://schemas.openxmlformats.org/drawingml/2006/main" noGrp="1"/>
          </p:cNvSpPr>
          <p:nvPr/>
        </p:nvSpPr>
        <p:spPr>
          <a:xfrm xmlns:a="http://schemas.openxmlformats.org/drawingml/2006/main">
            <a:off x="7086600" y="2390775"/>
            <a:ext cx="43815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0BECE"/>
                </a:solidFill>
                <a:latin typeface="Arial"/>
                <a:ea typeface="Arial"/>
                <a:cs typeface="Arial"/>
              </a:defRPr>
            </a:defPPr>
          </a:lstStyle>
          <a:p xmlns:a="http://schemas.openxmlformats.org/drawingml/2006/main">
            <a:pPr algn="l">
              <a:defRPr sz="1950" b="0">
                <a:solidFill>
                  <a:srgbClr val="C0BECE"/>
                </a:solidFill>
                <a:latin typeface="Arial"/>
                <a:ea typeface="Arial"/>
                <a:cs typeface="Arial"/>
              </a:defRPr>
            </a:pPr>
            <a:r>
              <a:rPr sz="1950" b="0">
                <a:solidFill>
                  <a:srgbClr val="C0BECE"/>
                </a:solidFill>
                <a:latin typeface="Arial"/>
                <a:ea typeface="Arial"/>
                <a:cs typeface="Arial"/>
              </a:rPr>
              <a:t>LIVEKIT_URL</a:t>
            </a:r>
          </a:p>
          <a:p xmlns:a="http://schemas.openxmlformats.org/drawingml/2006/main">
            <a:pPr algn="l">
              <a:defRPr sz="1950" b="0">
                <a:solidFill>
                  <a:srgbClr val="C0BECE"/>
                </a:solidFill>
                <a:latin typeface="Arial"/>
                <a:ea typeface="Arial"/>
                <a:cs typeface="Arial"/>
              </a:defRPr>
            </a:pPr>
            <a:r>
              <a:rPr sz="1950" b="0">
                <a:solidFill>
                  <a:srgbClr val="C0BECE"/>
                </a:solidFill>
                <a:latin typeface="Arial"/>
                <a:ea typeface="Arial"/>
                <a:cs typeface="Arial"/>
              </a:rPr>
              <a:t>LIVEKIT_API_KEY</a:t>
            </a:r>
          </a:p>
          <a:p xmlns:a="http://schemas.openxmlformats.org/drawingml/2006/main">
            <a:pPr algn="l">
              <a:defRPr sz="1950" b="0">
                <a:solidFill>
                  <a:srgbClr val="C0BECE"/>
                </a:solidFill>
                <a:latin typeface="Arial"/>
                <a:ea typeface="Arial"/>
                <a:cs typeface="Arial"/>
              </a:defRPr>
            </a:pPr>
            <a:r>
              <a:rPr sz="1950" b="0">
                <a:solidFill>
                  <a:srgbClr val="C0BECE"/>
                </a:solidFill>
                <a:latin typeface="Arial"/>
                <a:ea typeface="Arial"/>
                <a:cs typeface="Arial"/>
              </a:rPr>
              <a:t>LIVEKIT_API_SECRET</a:t>
            </a:r>
          </a:p>
          <a:p xmlns:a="http://schemas.openxmlformats.org/drawingml/2006/main">
            <a:pPr algn="l">
              <a:defRPr sz="1950" b="0">
                <a:solidFill>
                  <a:srgbClr val="C0BECE"/>
                </a:solidFill>
                <a:latin typeface="Arial"/>
                <a:ea typeface="Arial"/>
                <a:cs typeface="Arial"/>
              </a:defRPr>
            </a:pPr>
            <a:r>
              <a:rPr sz="1950" b="0">
                <a:solidFill>
                  <a:srgbClr val="C0BECE"/>
                </a:solidFill>
                <a:latin typeface="Arial"/>
                <a:ea typeface="Arial"/>
                <a:cs typeface="Arial"/>
              </a:rPr>
              <a:t>GOOGLE_API_KEY</a:t>
            </a:r>
          </a:p>
        </p:txBody>
      </p:sp>
      <p:sp>
        <p:nvSpPr>
          <p:cNvPr id="18" name="">
            <a:extLst xmlns:a="http://schemas.openxmlformats.org/drawingml/2006/main">
              <a:ext uri="{FF2B5EF4-FFF2-40B4-BE49-F238E27FC236}">
                <a16:creationId xmlns:a16="http://schemas.microsoft.com/office/drawing/2014/main" id="{6C5AE11B-5B0E-48C9-ADC8-818D906ED20C}"/>
              </a:ext>
            </a:extLst>
          </p:cNvPr>
          <p:cNvSpPr>
            <a:spLocks xmlns:a="http://schemas.openxmlformats.org/drawingml/2006/main" noGrp="1"/>
          </p:cNvSpPr>
          <p:nvPr/>
        </p:nvSpPr>
        <p:spPr>
          <a:xfrm xmlns:a="http://schemas.openxmlformats.org/drawingml/2006/main">
            <a:off x="7086600" y="4257675"/>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5F1FA"/>
                </a:solidFill>
                <a:latin typeface="Arial"/>
                <a:ea typeface="Arial"/>
                <a:cs typeface="Arial"/>
              </a:defRPr>
            </a:defPPr>
          </a:lstStyle>
          <a:p xmlns:a="http://schemas.openxmlformats.org/drawingml/2006/main">
            <a:pPr algn="l">
              <a:defRPr sz="1875" b="0">
                <a:solidFill>
                  <a:srgbClr val="F5F1FA"/>
                </a:solidFill>
                <a:latin typeface="Arial"/>
                <a:ea typeface="Arial"/>
                <a:cs typeface="Arial"/>
              </a:defRPr>
            </a:pPr>
            <a:r>
              <a:rPr sz="1875" b="0">
                <a:solidFill>
                  <a:srgbClr val="F5F1FA"/>
                </a:solidFill>
                <a:latin typeface="Arial"/>
                <a:ea typeface="Arial"/>
                <a:cs typeface="Arial"/>
              </a:rPr>
              <a:t>Add the Google key in a private editor before starting the agent.</a:t>
            </a:r>
          </a:p>
        </p:txBody>
      </p:sp>
      <p:sp>
        <p:nvSpPr>
          <p:cNvPr id="19" name="">
            <a:extLst xmlns:a="http://schemas.openxmlformats.org/drawingml/2006/main">
              <a:ext uri="{FF2B5EF4-FFF2-40B4-BE49-F238E27FC236}">
                <a16:creationId xmlns:a16="http://schemas.microsoft.com/office/drawing/2014/main" id="{BCCA2AE7-8432-4F41-A962-2C105058FB22}"/>
              </a:ext>
            </a:extLst>
          </p:cNvPr>
          <p:cNvSpPr>
            <a:spLocks xmlns:a="http://schemas.openxmlformats.org/drawingml/2006/main" noGrp="1"/>
          </p:cNvSpPr>
          <p:nvPr/>
        </p:nvSpPr>
        <p:spPr>
          <a:xfrm xmlns:a="http://schemas.openxmlformats.org/drawingml/2006/main">
            <a:off x="609600" y="538162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DB302B-45F9-4A5B-AD32-B6069C249158}"/>
              </a:ext>
            </a:extLst>
          </p:cNvPr>
          <p:cNvSpPr>
            <a:spLocks xmlns:a="http://schemas.openxmlformats.org/drawingml/2006/main" noGrp="1"/>
          </p:cNvSpPr>
          <p:nvPr/>
        </p:nvSpPr>
        <p:spPr>
          <a:xfrm xmlns:a="http://schemas.openxmlformats.org/drawingml/2006/main">
            <a:off x="609600" y="56673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0BECE"/>
                </a:solidFill>
                <a:latin typeface="Arial"/>
                <a:ea typeface="Arial"/>
                <a:cs typeface="Arial"/>
              </a:defRPr>
            </a:defPPr>
          </a:lstStyle>
          <a:p xmlns:a="http://schemas.openxmlformats.org/drawingml/2006/main">
            <a:pPr algn="l">
              <a:defRPr sz="1800" b="0">
                <a:solidFill>
                  <a:srgbClr val="C0BECE"/>
                </a:solidFill>
                <a:latin typeface="Arial"/>
                <a:ea typeface="Arial"/>
                <a:cs typeface="Arial"/>
              </a:defRPr>
            </a:pPr>
            <a:r>
              <a:rPr sz="1800" b="0">
                <a:solidFill>
                  <a:srgbClr val="C0BECE"/>
                </a:solidFill>
                <a:latin typeface="Arial"/>
                <a:ea typeface="Arial"/>
                <a:cs typeface="Arial"/>
              </a:rPr>
              <a:t>.env.local holds values. .env.example holds variable names. Git ignores the private environment files.</a:t>
            </a:r>
          </a:p>
        </p:txBody>
      </p:sp>
    </p:spTree>
    <p:extLst>
      <p:ext uri="{BB962C8B-B14F-4D97-AF65-F5344CB8AC3E}">
        <p14:creationId xmlns:p14="http://schemas.microsoft.com/office/powerpoint/2010/main" val="606815977"/>
      </p:ext>
    </p:extLst>
  </p:cSld>
</p:sld>
</file>

<file path=ppt/slides/slide7.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594776B0-B41A-42AF-9057-6CA72F175EB6}"/>
              </a:ext>
            </a:extLst>
          </p:cNvPr>
          <p:cNvCxnSpPr>
            <a:stCxn xmlns:a="http://schemas.openxmlformats.org/drawingml/2006/main" id="21" idx="2"/>
            <a:endCxn xmlns:a="http://schemas.openxmlformats.org/drawingml/2006/main" id="32" idx="0"/>
          </p:cNvCxnSpPr>
          <p:nvPr/>
        </p:nvCxnSpPr>
        <p:spPr>
          <a:xfrm xmlns:a="http://schemas.openxmlformats.org/drawingml/2006/main">
            <a:off x="7553325" y="3771900"/>
            <a:ext cx="1447800" cy="742950"/>
          </a:xfrm>
          <a:prstGeom xmlns:a="http://schemas.openxmlformats.org/drawingml/2006/main" prst="bentConnector4">
            <a:avLst>
              <a:gd name="adj1" fmla="val 0"/>
              <a:gd name="adj2" fmla="val 50000"/>
            </a:avLst>
          </a:prstGeom>
          <a:ln xmlns:a="http://schemas.openxmlformats.org/drawingml/2006/main" w="19050">
            <a:solidFill>
              <a:srgbClr val="C0BECE"/>
            </a:solidFill>
            <a:prstDash val="solid"/>
            <a:tailEnd type="arrow" w="med" len="med"/>
          </a:ln>
        </p:spPr>
      </p:cxnSp>
      <p:cxnSp>
        <p:nvCxnSpPr>
          <p:cNvPr id="31" name="">
            <a:extLst xmlns:a="http://schemas.openxmlformats.org/drawingml/2006/main">
              <a:ext uri="{FF2B5EF4-FFF2-40B4-BE49-F238E27FC236}">
                <a16:creationId xmlns:a16="http://schemas.microsoft.com/office/drawing/2014/main" id="{2FD449D6-D997-4F4F-A8D1-C896F5A30320}"/>
              </a:ext>
            </a:extLst>
          </p:cNvPr>
          <p:cNvCxnSpPr>
            <a:stCxn xmlns:a="http://schemas.openxmlformats.org/drawingml/2006/main" id="21" idx="3"/>
            <a:endCxn xmlns:a="http://schemas.openxmlformats.org/drawingml/2006/main" id="25" idx="1"/>
          </p:cNvCxnSpPr>
          <p:nvPr/>
        </p:nvCxnSpPr>
        <p:spPr>
          <a:xfrm xmlns:a="http://schemas.openxmlformats.org/drawingml/2006/main">
            <a:off x="8686800" y="3009900"/>
            <a:ext cx="638175"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cxnSp>
        <p:nvCxnSpPr>
          <p:cNvPr id="30" name="">
            <a:extLst xmlns:a="http://schemas.openxmlformats.org/drawingml/2006/main">
              <a:ext uri="{FF2B5EF4-FFF2-40B4-BE49-F238E27FC236}">
                <a16:creationId xmlns:a16="http://schemas.microsoft.com/office/drawing/2014/main" id="{EC0DBA20-56D6-46C3-8405-5E3088DCAF36}"/>
              </a:ext>
            </a:extLst>
          </p:cNvPr>
          <p:cNvCxnSpPr>
            <a:stCxn xmlns:a="http://schemas.openxmlformats.org/drawingml/2006/main" id="17" idx="3"/>
            <a:endCxn xmlns:a="http://schemas.openxmlformats.org/drawingml/2006/main" id="21" idx="1"/>
          </p:cNvCxnSpPr>
          <p:nvPr/>
        </p:nvCxnSpPr>
        <p:spPr>
          <a:xfrm xmlns:a="http://schemas.openxmlformats.org/drawingml/2006/main">
            <a:off x="5781675" y="3009900"/>
            <a:ext cx="638175"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cxnSp>
        <p:nvCxnSpPr>
          <p:cNvPr id="29" name="">
            <a:extLst xmlns:a="http://schemas.openxmlformats.org/drawingml/2006/main">
              <a:ext uri="{FF2B5EF4-FFF2-40B4-BE49-F238E27FC236}">
                <a16:creationId xmlns:a16="http://schemas.microsoft.com/office/drawing/2014/main" id="{6B22A6C8-BF9C-4019-9670-F78BEA1BDB76}"/>
              </a:ext>
            </a:extLst>
          </p:cNvPr>
          <p:cNvCxnSpPr>
            <a:stCxn xmlns:a="http://schemas.openxmlformats.org/drawingml/2006/main" id="13" idx="3"/>
            <a:endCxn xmlns:a="http://schemas.openxmlformats.org/drawingml/2006/main" id="17" idx="1"/>
          </p:cNvCxnSpPr>
          <p:nvPr/>
        </p:nvCxnSpPr>
        <p:spPr>
          <a:xfrm xmlns:a="http://schemas.openxmlformats.org/drawingml/2006/main">
            <a:off x="2876550" y="3009900"/>
            <a:ext cx="638175"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sp>
        <p:nvSpPr>
          <p:cNvPr id="38" name="">
            <a:extLst xmlns:a="http://schemas.openxmlformats.org/drawingml/2006/main">
              <a:ext uri="{FF2B5EF4-FFF2-40B4-BE49-F238E27FC236}">
                <a16:creationId xmlns:a16="http://schemas.microsoft.com/office/drawing/2014/main" id="{EAECB19F-D5AF-4B30-89A8-3F5B291A1DDA}"/>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E985A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3A5C96B-5332-48D1-8B10-AA802FCBD815}"/>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HOW THE REQUEST TRAVELS</a:t>
            </a:r>
          </a:p>
        </p:txBody>
      </p:sp>
      <p:sp>
        <p:nvSpPr>
          <p:cNvPr id="3" name="title">
            <a:extLst xmlns:a="http://schemas.openxmlformats.org/drawingml/2006/main">
              <a:ext uri="{FF2B5EF4-FFF2-40B4-BE49-F238E27FC236}">
                <a16:creationId xmlns:a16="http://schemas.microsoft.com/office/drawing/2014/main" id="{8836408C-FB4B-45C6-966E-CCF2AE310592}"/>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Realtime architecture</a:t>
            </a:r>
          </a:p>
        </p:txBody>
      </p:sp>
      <p:sp>
        <p:nvSpPr>
          <p:cNvPr id="4" name="">
            <a:extLst xmlns:a="http://schemas.openxmlformats.org/drawingml/2006/main">
              <a:ext uri="{FF2B5EF4-FFF2-40B4-BE49-F238E27FC236}">
                <a16:creationId xmlns:a16="http://schemas.microsoft.com/office/drawing/2014/main" id="{A56026F8-5F6A-41B6-B1DA-0BE5678A455E}"/>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1B0E77-1D84-4415-9E71-E0E1A8A8238E}"/>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2216AC8C-AA84-4F9C-B7F4-F2641340422E}"/>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297079-A32B-4F21-BFEA-F76673A37208}"/>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C868A0-3B4C-4830-A1EB-2FEBF4DE5CDC}"/>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FB3A6B9-4C9B-49B7-824B-5FBDEDD77550}"/>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CBDE1E-0922-42B8-AF4D-FC82452B9176}"/>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93D0ABD-A2DA-447B-921F-E0AF22C944C3}"/>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3C6294-7F1F-4351-977B-29F685EA77CE}"/>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07</a:t>
            </a:r>
          </a:p>
        </p:txBody>
      </p:sp>
      <p:sp>
        <p:nvSpPr>
          <p:cNvPr id="13" name="">
            <a:extLst xmlns:a="http://schemas.openxmlformats.org/drawingml/2006/main">
              <a:ext uri="{FF2B5EF4-FFF2-40B4-BE49-F238E27FC236}">
                <a16:creationId xmlns:a16="http://schemas.microsoft.com/office/drawing/2014/main" id="{512B3E8D-EFA7-4A24-BCC7-A53EABB5F30B}"/>
              </a:ext>
            </a:extLst>
          </p:cNvPr>
          <p:cNvSpPr>
            <a:spLocks xmlns:a="http://schemas.openxmlformats.org/drawingml/2006/main" noGrp="1"/>
          </p:cNvSpPr>
          <p:nvPr/>
        </p:nvSpPr>
        <p:spPr>
          <a:xfrm xmlns:a="http://schemas.openxmlformats.org/drawingml/2006/main">
            <a:off x="609600" y="2247900"/>
            <a:ext cx="2266950" cy="152400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4" name="">
            <a:extLst xmlns:a="http://schemas.openxmlformats.org/drawingml/2006/main">
              <a:ext uri="{FF2B5EF4-FFF2-40B4-BE49-F238E27FC236}">
                <a16:creationId xmlns:a16="http://schemas.microsoft.com/office/drawing/2014/main" id="{F679E9B9-05F6-464A-93F6-9D7EFABBD064}"/>
              </a:ext>
            </a:extLst>
          </p:cNvPr>
          <p:cNvSpPr>
            <a:spLocks xmlns:a="http://schemas.openxmlformats.org/drawingml/2006/main" noGrp="1"/>
          </p:cNvSpPr>
          <p:nvPr/>
        </p:nvSpPr>
        <p:spPr>
          <a:xfrm xmlns:a="http://schemas.openxmlformats.org/drawingml/2006/main">
            <a:off x="609600" y="2247900"/>
            <a:ext cx="47625" cy="1524000"/>
          </a:xfrm>
          <a:prstGeom xmlns:a="http://schemas.openxmlformats.org/drawingml/2006/main" prst="rect">
            <a:avLst/>
          </a:prstGeom>
          <a:solidFill xmlns:a="http://schemas.openxmlformats.org/drawingml/2006/main">
            <a:srgbClr val="E985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BAEA06-EC54-45AD-82FF-4CD4ED0C6D98}"/>
              </a:ext>
            </a:extLst>
          </p:cNvPr>
          <p:cNvSpPr>
            <a:spLocks xmlns:a="http://schemas.openxmlformats.org/drawingml/2006/main" noGrp="1"/>
          </p:cNvSpPr>
          <p:nvPr/>
        </p:nvSpPr>
        <p:spPr>
          <a:xfrm xmlns:a="http://schemas.openxmlformats.org/drawingml/2006/main">
            <a:off x="781050" y="240030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Caller device</a:t>
            </a:r>
          </a:p>
        </p:txBody>
      </p:sp>
      <p:sp>
        <p:nvSpPr>
          <p:cNvPr id="16" name="">
            <a:extLst xmlns:a="http://schemas.openxmlformats.org/drawingml/2006/main">
              <a:ext uri="{FF2B5EF4-FFF2-40B4-BE49-F238E27FC236}">
                <a16:creationId xmlns:a16="http://schemas.microsoft.com/office/drawing/2014/main" id="{2459FDB7-3258-4161-B440-8938CA44D133}"/>
              </a:ext>
            </a:extLst>
          </p:cNvPr>
          <p:cNvSpPr>
            <a:spLocks xmlns:a="http://schemas.openxmlformats.org/drawingml/2006/main" noGrp="1"/>
          </p:cNvSpPr>
          <p:nvPr/>
        </p:nvSpPr>
        <p:spPr>
          <a:xfrm xmlns:a="http://schemas.openxmlformats.org/drawingml/2006/main">
            <a:off x="781050" y="2886075"/>
            <a:ext cx="1924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Mic audio and</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shared camera</a:t>
            </a:r>
          </a:p>
        </p:txBody>
      </p:sp>
      <p:sp>
        <p:nvSpPr>
          <p:cNvPr id="17" name="">
            <a:extLst xmlns:a="http://schemas.openxmlformats.org/drawingml/2006/main">
              <a:ext uri="{FF2B5EF4-FFF2-40B4-BE49-F238E27FC236}">
                <a16:creationId xmlns:a16="http://schemas.microsoft.com/office/drawing/2014/main" id="{EFE01577-223E-4CEE-B562-F4A1FFFCDD26}"/>
              </a:ext>
            </a:extLst>
          </p:cNvPr>
          <p:cNvSpPr>
            <a:spLocks xmlns:a="http://schemas.openxmlformats.org/drawingml/2006/main" noGrp="1"/>
          </p:cNvSpPr>
          <p:nvPr/>
        </p:nvSpPr>
        <p:spPr>
          <a:xfrm xmlns:a="http://schemas.openxmlformats.org/drawingml/2006/main">
            <a:off x="3514725" y="2247900"/>
            <a:ext cx="2266950" cy="152400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8" name="">
            <a:extLst xmlns:a="http://schemas.openxmlformats.org/drawingml/2006/main">
              <a:ext uri="{FF2B5EF4-FFF2-40B4-BE49-F238E27FC236}">
                <a16:creationId xmlns:a16="http://schemas.microsoft.com/office/drawing/2014/main" id="{E574DA20-5EC3-4129-9C3A-AB96BE60B523}"/>
              </a:ext>
            </a:extLst>
          </p:cNvPr>
          <p:cNvSpPr>
            <a:spLocks xmlns:a="http://schemas.openxmlformats.org/drawingml/2006/main" noGrp="1"/>
          </p:cNvSpPr>
          <p:nvPr/>
        </p:nvSpPr>
        <p:spPr>
          <a:xfrm xmlns:a="http://schemas.openxmlformats.org/drawingml/2006/main">
            <a:off x="3514725" y="2247900"/>
            <a:ext cx="47625" cy="1524000"/>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5145ACE-2841-455B-B3F2-19C0180CEF5B}"/>
              </a:ext>
            </a:extLst>
          </p:cNvPr>
          <p:cNvSpPr>
            <a:spLocks xmlns:a="http://schemas.openxmlformats.org/drawingml/2006/main" noGrp="1"/>
          </p:cNvSpPr>
          <p:nvPr/>
        </p:nvSpPr>
        <p:spPr>
          <a:xfrm xmlns:a="http://schemas.openxmlformats.org/drawingml/2006/main">
            <a:off x="3686175" y="240030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LiveKit room</a:t>
            </a:r>
          </a:p>
        </p:txBody>
      </p:sp>
      <p:sp>
        <p:nvSpPr>
          <p:cNvPr id="20" name="">
            <a:extLst xmlns:a="http://schemas.openxmlformats.org/drawingml/2006/main">
              <a:ext uri="{FF2B5EF4-FFF2-40B4-BE49-F238E27FC236}">
                <a16:creationId xmlns:a16="http://schemas.microsoft.com/office/drawing/2014/main" id="{A07B4100-F3B2-4258-8233-119070ABA902}"/>
              </a:ext>
            </a:extLst>
          </p:cNvPr>
          <p:cNvSpPr>
            <a:spLocks xmlns:a="http://schemas.openxmlformats.org/drawingml/2006/main" noGrp="1"/>
          </p:cNvSpPr>
          <p:nvPr/>
        </p:nvSpPr>
        <p:spPr>
          <a:xfrm xmlns:a="http://schemas.openxmlformats.org/drawingml/2006/main">
            <a:off x="3686175" y="2886075"/>
            <a:ext cx="1924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Realtime media</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transport</a:t>
            </a:r>
          </a:p>
        </p:txBody>
      </p:sp>
      <p:sp>
        <p:nvSpPr>
          <p:cNvPr id="21" name="">
            <a:extLst xmlns:a="http://schemas.openxmlformats.org/drawingml/2006/main">
              <a:ext uri="{FF2B5EF4-FFF2-40B4-BE49-F238E27FC236}">
                <a16:creationId xmlns:a16="http://schemas.microsoft.com/office/drawing/2014/main" id="{408A53E7-E411-4F03-ACF3-39DD5A665159}"/>
              </a:ext>
            </a:extLst>
          </p:cNvPr>
          <p:cNvSpPr>
            <a:spLocks xmlns:a="http://schemas.openxmlformats.org/drawingml/2006/main" noGrp="1"/>
          </p:cNvSpPr>
          <p:nvPr/>
        </p:nvSpPr>
        <p:spPr>
          <a:xfrm xmlns:a="http://schemas.openxmlformats.org/drawingml/2006/main">
            <a:off x="6419850" y="2247900"/>
            <a:ext cx="2266950" cy="152400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22" name="">
            <a:extLst xmlns:a="http://schemas.openxmlformats.org/drawingml/2006/main">
              <a:ext uri="{FF2B5EF4-FFF2-40B4-BE49-F238E27FC236}">
                <a16:creationId xmlns:a16="http://schemas.microsoft.com/office/drawing/2014/main" id="{F5F4F343-5066-44E1-AB50-7C5F1A3CE592}"/>
              </a:ext>
            </a:extLst>
          </p:cNvPr>
          <p:cNvSpPr>
            <a:spLocks xmlns:a="http://schemas.openxmlformats.org/drawingml/2006/main" noGrp="1"/>
          </p:cNvSpPr>
          <p:nvPr/>
        </p:nvSpPr>
        <p:spPr>
          <a:xfrm xmlns:a="http://schemas.openxmlformats.org/drawingml/2006/main">
            <a:off x="6419850" y="2247900"/>
            <a:ext cx="47625" cy="1524000"/>
          </a:xfrm>
          <a:prstGeom xmlns:a="http://schemas.openxmlformats.org/drawingml/2006/main" prst="rect">
            <a:avLst/>
          </a:prstGeom>
          <a:solidFill xmlns:a="http://schemas.openxmlformats.org/drawingml/2006/main">
            <a:srgbClr val="B9AA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383299D-8976-4AEB-A0EB-5F6B657C32D8}"/>
              </a:ext>
            </a:extLst>
          </p:cNvPr>
          <p:cNvSpPr>
            <a:spLocks xmlns:a="http://schemas.openxmlformats.org/drawingml/2006/main" noGrp="1"/>
          </p:cNvSpPr>
          <p:nvPr/>
        </p:nvSpPr>
        <p:spPr>
          <a:xfrm xmlns:a="http://schemas.openxmlformats.org/drawingml/2006/main">
            <a:off x="6591300" y="240030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Python agent</a:t>
            </a:r>
          </a:p>
        </p:txBody>
      </p:sp>
      <p:sp>
        <p:nvSpPr>
          <p:cNvPr id="24" name="">
            <a:extLst xmlns:a="http://schemas.openxmlformats.org/drawingml/2006/main">
              <a:ext uri="{FF2B5EF4-FFF2-40B4-BE49-F238E27FC236}">
                <a16:creationId xmlns:a16="http://schemas.microsoft.com/office/drawing/2014/main" id="{9D3C8929-E9BA-4F18-B195-1EEC95A41C71}"/>
              </a:ext>
            </a:extLst>
          </p:cNvPr>
          <p:cNvSpPr>
            <a:spLocks xmlns:a="http://schemas.openxmlformats.org/drawingml/2006/main" noGrp="1"/>
          </p:cNvSpPr>
          <p:nvPr/>
        </p:nvSpPr>
        <p:spPr>
          <a:xfrm xmlns:a="http://schemas.openxmlformats.org/drawingml/2006/main">
            <a:off x="6591300" y="2886075"/>
            <a:ext cx="1924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Session, instructions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and tool execution</a:t>
            </a:r>
          </a:p>
        </p:txBody>
      </p:sp>
      <p:sp>
        <p:nvSpPr>
          <p:cNvPr id="25" name="">
            <a:extLst xmlns:a="http://schemas.openxmlformats.org/drawingml/2006/main">
              <a:ext uri="{FF2B5EF4-FFF2-40B4-BE49-F238E27FC236}">
                <a16:creationId xmlns:a16="http://schemas.microsoft.com/office/drawing/2014/main" id="{944E88F6-A641-4784-859C-595E449DB9C2}"/>
              </a:ext>
            </a:extLst>
          </p:cNvPr>
          <p:cNvSpPr>
            <a:spLocks xmlns:a="http://schemas.openxmlformats.org/drawingml/2006/main" noGrp="1"/>
          </p:cNvSpPr>
          <p:nvPr/>
        </p:nvSpPr>
        <p:spPr>
          <a:xfrm xmlns:a="http://schemas.openxmlformats.org/drawingml/2006/main">
            <a:off x="9324975" y="2247900"/>
            <a:ext cx="2257425" cy="152400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26" name="">
            <a:extLst xmlns:a="http://schemas.openxmlformats.org/drawingml/2006/main">
              <a:ext uri="{FF2B5EF4-FFF2-40B4-BE49-F238E27FC236}">
                <a16:creationId xmlns:a16="http://schemas.microsoft.com/office/drawing/2014/main" id="{67325013-3A3F-4DFC-A87A-42BE50BF54AA}"/>
              </a:ext>
            </a:extLst>
          </p:cNvPr>
          <p:cNvSpPr>
            <a:spLocks xmlns:a="http://schemas.openxmlformats.org/drawingml/2006/main" noGrp="1"/>
          </p:cNvSpPr>
          <p:nvPr/>
        </p:nvSpPr>
        <p:spPr>
          <a:xfrm xmlns:a="http://schemas.openxmlformats.org/drawingml/2006/main">
            <a:off x="9324975" y="2247900"/>
            <a:ext cx="47625" cy="1524000"/>
          </a:xfrm>
          <a:prstGeom xmlns:a="http://schemas.openxmlformats.org/drawingml/2006/main" prst="rect">
            <a:avLst/>
          </a:prstGeom>
          <a:solidFill xmlns:a="http://schemas.openxmlformats.org/drawingml/2006/main">
            <a:srgbClr val="EAC17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517C7EA-2CBE-403B-8CDA-4C1D3B66C846}"/>
              </a:ext>
            </a:extLst>
          </p:cNvPr>
          <p:cNvSpPr>
            <a:spLocks xmlns:a="http://schemas.openxmlformats.org/drawingml/2006/main" noGrp="1"/>
          </p:cNvSpPr>
          <p:nvPr/>
        </p:nvSpPr>
        <p:spPr>
          <a:xfrm xmlns:a="http://schemas.openxmlformats.org/drawingml/2006/main">
            <a:off x="9496425" y="2400300"/>
            <a:ext cx="1914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Gemini Live</a:t>
            </a:r>
          </a:p>
        </p:txBody>
      </p:sp>
      <p:sp>
        <p:nvSpPr>
          <p:cNvPr id="28" name="">
            <a:extLst xmlns:a="http://schemas.openxmlformats.org/drawingml/2006/main">
              <a:ext uri="{FF2B5EF4-FFF2-40B4-BE49-F238E27FC236}">
                <a16:creationId xmlns:a16="http://schemas.microsoft.com/office/drawing/2014/main" id="{3DCEE561-3597-47EF-8994-A2328BC5034F}"/>
              </a:ext>
            </a:extLst>
          </p:cNvPr>
          <p:cNvSpPr>
            <a:spLocks xmlns:a="http://schemas.openxmlformats.org/drawingml/2006/main" noGrp="1"/>
          </p:cNvSpPr>
          <p:nvPr/>
        </p:nvSpPr>
        <p:spPr>
          <a:xfrm xmlns:a="http://schemas.openxmlformats.org/drawingml/2006/main">
            <a:off x="9496425" y="2886075"/>
            <a:ext cx="1914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Understands inputs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and generates audio</a:t>
            </a:r>
          </a:p>
        </p:txBody>
      </p:sp>
      <p:sp>
        <p:nvSpPr>
          <p:cNvPr id="32" name="">
            <a:extLst xmlns:a="http://schemas.openxmlformats.org/drawingml/2006/main">
              <a:ext uri="{FF2B5EF4-FFF2-40B4-BE49-F238E27FC236}">
                <a16:creationId xmlns:a16="http://schemas.microsoft.com/office/drawing/2014/main" id="{381EAD73-687E-49DD-99B6-5112F3212FF4}"/>
              </a:ext>
            </a:extLst>
          </p:cNvPr>
          <p:cNvSpPr>
            <a:spLocks xmlns:a="http://schemas.openxmlformats.org/drawingml/2006/main" noGrp="1"/>
          </p:cNvSpPr>
          <p:nvPr/>
        </p:nvSpPr>
        <p:spPr>
          <a:xfrm xmlns:a="http://schemas.openxmlformats.org/drawingml/2006/main">
            <a:off x="6419850" y="4514850"/>
            <a:ext cx="5162550" cy="1209675"/>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33" name="">
            <a:extLst xmlns:a="http://schemas.openxmlformats.org/drawingml/2006/main">
              <a:ext uri="{FF2B5EF4-FFF2-40B4-BE49-F238E27FC236}">
                <a16:creationId xmlns:a16="http://schemas.microsoft.com/office/drawing/2014/main" id="{89242164-8896-4F27-8B30-53D5FCBD7203}"/>
              </a:ext>
            </a:extLst>
          </p:cNvPr>
          <p:cNvSpPr>
            <a:spLocks xmlns:a="http://schemas.openxmlformats.org/drawingml/2006/main" noGrp="1"/>
          </p:cNvSpPr>
          <p:nvPr/>
        </p:nvSpPr>
        <p:spPr>
          <a:xfrm xmlns:a="http://schemas.openxmlformats.org/drawingml/2006/main">
            <a:off x="6419850" y="4514850"/>
            <a:ext cx="47625" cy="120967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9F955C9-D7C4-464F-84FF-1B0EEB66E675}"/>
              </a:ext>
            </a:extLst>
          </p:cNvPr>
          <p:cNvSpPr>
            <a:spLocks xmlns:a="http://schemas.openxmlformats.org/drawingml/2006/main" noGrp="1"/>
          </p:cNvSpPr>
          <p:nvPr/>
        </p:nvSpPr>
        <p:spPr>
          <a:xfrm xmlns:a="http://schemas.openxmlformats.org/drawingml/2006/main">
            <a:off x="6591300" y="4667250"/>
            <a:ext cx="4819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External services</a:t>
            </a:r>
          </a:p>
        </p:txBody>
      </p:sp>
      <p:sp>
        <p:nvSpPr>
          <p:cNvPr id="35" name="">
            <a:extLst xmlns:a="http://schemas.openxmlformats.org/drawingml/2006/main">
              <a:ext uri="{FF2B5EF4-FFF2-40B4-BE49-F238E27FC236}">
                <a16:creationId xmlns:a16="http://schemas.microsoft.com/office/drawing/2014/main" id="{2F7F7DC0-89AB-490F-B473-7BD0EC501483}"/>
              </a:ext>
            </a:extLst>
          </p:cNvPr>
          <p:cNvSpPr>
            <a:spLocks xmlns:a="http://schemas.openxmlformats.org/drawingml/2006/main" noGrp="1"/>
          </p:cNvSpPr>
          <p:nvPr/>
        </p:nvSpPr>
        <p:spPr>
          <a:xfrm xmlns:a="http://schemas.openxmlformats.org/drawingml/2006/main">
            <a:off x="6591300" y="5153025"/>
            <a:ext cx="4819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DDGS search, Open-Meteo and Free Dictionary API</a:t>
            </a:r>
          </a:p>
        </p:txBody>
      </p:sp>
      <p:sp>
        <p:nvSpPr>
          <p:cNvPr id="37" name="">
            <a:extLst xmlns:a="http://schemas.openxmlformats.org/drawingml/2006/main">
              <a:ext uri="{FF2B5EF4-FFF2-40B4-BE49-F238E27FC236}">
                <a16:creationId xmlns:a16="http://schemas.microsoft.com/office/drawing/2014/main" id="{B4E50853-0B41-4D0E-929C-7E8817F45BE9}"/>
              </a:ext>
            </a:extLst>
          </p:cNvPr>
          <p:cNvSpPr>
            <a:spLocks xmlns:a="http://schemas.openxmlformats.org/drawingml/2006/main" noGrp="1"/>
          </p:cNvSpPr>
          <p:nvPr/>
        </p:nvSpPr>
        <p:spPr>
          <a:xfrm xmlns:a="http://schemas.openxmlformats.org/drawingml/2006/main">
            <a:off x="609600" y="4295775"/>
            <a:ext cx="50196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Spoken replies travel back through the worker and room to the caller.</a:t>
            </a:r>
          </a:p>
        </p:txBody>
      </p:sp>
    </p:spTree>
    <p:extLst>
      <p:ext uri="{BB962C8B-B14F-4D97-AF65-F5344CB8AC3E}">
        <p14:creationId xmlns:p14="http://schemas.microsoft.com/office/powerpoint/2010/main" val="952676266"/>
      </p:ext>
    </p:extLst>
  </p:cSld>
</p:sld>
</file>

<file path=ppt/slides/slide8.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DDA9B22-8987-41C2-AF5E-B68E52D1E88E}"/>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AF3AEE-FB4A-4420-BF0E-FB38C66C67CF}"/>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SRC/AGENT.PY</a:t>
            </a:r>
          </a:p>
        </p:txBody>
      </p:sp>
      <p:sp>
        <p:nvSpPr>
          <p:cNvPr id="3" name="title">
            <a:extLst xmlns:a="http://schemas.openxmlformats.org/drawingml/2006/main">
              <a:ext uri="{FF2B5EF4-FFF2-40B4-BE49-F238E27FC236}">
                <a16:creationId xmlns:a16="http://schemas.microsoft.com/office/drawing/2014/main" id="{AFBDF3EC-55E4-4744-9943-E2AB86B993DE}"/>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Session lifecycle</a:t>
            </a:r>
          </a:p>
        </p:txBody>
      </p:sp>
      <p:sp>
        <p:nvSpPr>
          <p:cNvPr id="4" name="">
            <a:extLst xmlns:a="http://schemas.openxmlformats.org/drawingml/2006/main">
              <a:ext uri="{FF2B5EF4-FFF2-40B4-BE49-F238E27FC236}">
                <a16:creationId xmlns:a16="http://schemas.microsoft.com/office/drawing/2014/main" id="{53C774FF-F68B-46E7-A8B6-EC7F8166261B}"/>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3382AF-3920-4A0A-9590-BCAF99BD22F7}"/>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5FF9ABE5-FB00-4A00-9FE1-8FD3A6C7B25B}"/>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A03DAE-DC2B-4ED9-B39C-18E0EC0B9CC2}"/>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BC02E9-F7BE-43D1-ADBB-92BCF42C4BD3}"/>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07B9E9-98AC-4D14-B804-E8DCE3286BE3}"/>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56083F6-5608-496D-A034-332F629D0385}"/>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664DB3-3068-42ED-9C94-9D664802CAD5}"/>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CB02AA-1C98-4E50-BAC2-90EF43FB919B}"/>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08</a:t>
            </a:r>
          </a:p>
        </p:txBody>
      </p:sp>
      <p:sp>
        <p:nvSpPr>
          <p:cNvPr id="13" name="">
            <a:extLst xmlns:a="http://schemas.openxmlformats.org/drawingml/2006/main">
              <a:ext uri="{FF2B5EF4-FFF2-40B4-BE49-F238E27FC236}">
                <a16:creationId xmlns:a16="http://schemas.microsoft.com/office/drawing/2014/main" id="{F362882E-0060-473D-BD41-978DDCC0CF60}"/>
              </a:ext>
            </a:extLst>
          </p:cNvPr>
          <p:cNvSpPr>
            <a:spLocks xmlns:a="http://schemas.openxmlformats.org/drawingml/2006/main" noGrp="1"/>
          </p:cNvSpPr>
          <p:nvPr/>
        </p:nvSpPr>
        <p:spPr>
          <a:xfrm xmlns:a="http://schemas.openxmlformats.org/drawingml/2006/main">
            <a:off x="609600" y="2105025"/>
            <a:ext cx="6477000" cy="2905125"/>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D19113-1FCC-43AE-B0A3-D777B75AEEA7}"/>
              </a:ext>
            </a:extLst>
          </p:cNvPr>
          <p:cNvSpPr>
            <a:spLocks xmlns:a="http://schemas.openxmlformats.org/drawingml/2006/main" noGrp="1"/>
          </p:cNvSpPr>
          <p:nvPr/>
        </p:nvSpPr>
        <p:spPr>
          <a:xfrm xmlns:a="http://schemas.openxmlformats.org/drawingml/2006/main">
            <a:off x="838200" y="2333625"/>
            <a:ext cx="601980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server = AgentServer()</a:t>
            </a:r>
          </a:p>
          <a:p xmlns:a="http://schemas.openxmlformats.org/drawingml/2006/main">
            <a:r>
              <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@server.rtc_session(agent_name="my-agent")</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async def my_agent(ctx):</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session = AgentSession(...)</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await session.start(agent=Assistant(), ...)</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await ctx.connect()</a:t>
            </a:r>
          </a:p>
        </p:txBody>
      </p:sp>
      <p:sp>
        <p:nvSpPr>
          <p:cNvPr id="15" name="">
            <a:extLst xmlns:a="http://schemas.openxmlformats.org/drawingml/2006/main">
              <a:ext uri="{FF2B5EF4-FFF2-40B4-BE49-F238E27FC236}">
                <a16:creationId xmlns:a16="http://schemas.microsoft.com/office/drawing/2014/main" id="{A63410F3-2915-44D1-AE49-40FC2D2B97DD}"/>
              </a:ext>
            </a:extLst>
          </p:cNvPr>
          <p:cNvSpPr>
            <a:spLocks xmlns:a="http://schemas.openxmlformats.org/drawingml/2006/main" noGrp="1"/>
          </p:cNvSpPr>
          <p:nvPr/>
        </p:nvSpPr>
        <p:spPr>
          <a:xfrm xmlns:a="http://schemas.openxmlformats.org/drawingml/2006/main">
            <a:off x="7639050" y="2047875"/>
            <a:ext cx="3867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AgentServer</a:t>
            </a:r>
          </a:p>
        </p:txBody>
      </p:sp>
      <p:sp>
        <p:nvSpPr>
          <p:cNvPr id="16" name="">
            <a:extLst xmlns:a="http://schemas.openxmlformats.org/drawingml/2006/main">
              <a:ext uri="{FF2B5EF4-FFF2-40B4-BE49-F238E27FC236}">
                <a16:creationId xmlns:a16="http://schemas.microsoft.com/office/drawing/2014/main" id="{D4AF364F-4DBF-436B-9F67-56473A1BFAD8}"/>
              </a:ext>
            </a:extLst>
          </p:cNvPr>
          <p:cNvSpPr>
            <a:spLocks xmlns:a="http://schemas.openxmlformats.org/drawingml/2006/main" noGrp="1"/>
          </p:cNvSpPr>
          <p:nvPr/>
        </p:nvSpPr>
        <p:spPr>
          <a:xfrm xmlns:a="http://schemas.openxmlformats.org/drawingml/2006/main">
            <a:off x="7639050" y="2390775"/>
            <a:ext cx="3867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Waits for assigned room sessions.</a:t>
            </a:r>
          </a:p>
        </p:txBody>
      </p:sp>
      <p:sp>
        <p:nvSpPr>
          <p:cNvPr id="17" name="">
            <a:extLst xmlns:a="http://schemas.openxmlformats.org/drawingml/2006/main">
              <a:ext uri="{FF2B5EF4-FFF2-40B4-BE49-F238E27FC236}">
                <a16:creationId xmlns:a16="http://schemas.microsoft.com/office/drawing/2014/main" id="{E3578EA9-AAC6-45F0-8046-B0599BC1B54D}"/>
              </a:ext>
            </a:extLst>
          </p:cNvPr>
          <p:cNvSpPr>
            <a:spLocks xmlns:a="http://schemas.openxmlformats.org/drawingml/2006/main" noGrp="1"/>
          </p:cNvSpPr>
          <p:nvPr/>
        </p:nvSpPr>
        <p:spPr>
          <a:xfrm xmlns:a="http://schemas.openxmlformats.org/drawingml/2006/main">
            <a:off x="7639050" y="2943225"/>
            <a:ext cx="3867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AgentSession</a:t>
            </a:r>
          </a:p>
        </p:txBody>
      </p:sp>
      <p:sp>
        <p:nvSpPr>
          <p:cNvPr id="18" name="">
            <a:extLst xmlns:a="http://schemas.openxmlformats.org/drawingml/2006/main">
              <a:ext uri="{FF2B5EF4-FFF2-40B4-BE49-F238E27FC236}">
                <a16:creationId xmlns:a16="http://schemas.microsoft.com/office/drawing/2014/main" id="{78157CB5-ED2B-46A9-BD93-A0BF2CF5D62B}"/>
              </a:ext>
            </a:extLst>
          </p:cNvPr>
          <p:cNvSpPr>
            <a:spLocks xmlns:a="http://schemas.openxmlformats.org/drawingml/2006/main" noGrp="1"/>
          </p:cNvSpPr>
          <p:nvPr/>
        </p:nvSpPr>
        <p:spPr>
          <a:xfrm xmlns:a="http://schemas.openxmlformats.org/drawingml/2006/main">
            <a:off x="7639050" y="3286125"/>
            <a:ext cx="3867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Manages conversation media.</a:t>
            </a:r>
          </a:p>
        </p:txBody>
      </p:sp>
      <p:sp>
        <p:nvSpPr>
          <p:cNvPr id="19" name="">
            <a:extLst xmlns:a="http://schemas.openxmlformats.org/drawingml/2006/main">
              <a:ext uri="{FF2B5EF4-FFF2-40B4-BE49-F238E27FC236}">
                <a16:creationId xmlns:a16="http://schemas.microsoft.com/office/drawing/2014/main" id="{76BCE506-35BA-473A-8309-E5C055FF74A7}"/>
              </a:ext>
            </a:extLst>
          </p:cNvPr>
          <p:cNvSpPr>
            <a:spLocks xmlns:a="http://schemas.openxmlformats.org/drawingml/2006/main" noGrp="1"/>
          </p:cNvSpPr>
          <p:nvPr/>
        </p:nvSpPr>
        <p:spPr>
          <a:xfrm xmlns:a="http://schemas.openxmlformats.org/drawingml/2006/main">
            <a:off x="7639050" y="3838575"/>
            <a:ext cx="3867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Assistant</a:t>
            </a:r>
          </a:p>
        </p:txBody>
      </p:sp>
      <p:sp>
        <p:nvSpPr>
          <p:cNvPr id="20" name="">
            <a:extLst xmlns:a="http://schemas.openxmlformats.org/drawingml/2006/main">
              <a:ext uri="{FF2B5EF4-FFF2-40B4-BE49-F238E27FC236}">
                <a16:creationId xmlns:a16="http://schemas.microsoft.com/office/drawing/2014/main" id="{32E4E095-03FC-48F5-9459-4F1F795DC781}"/>
              </a:ext>
            </a:extLst>
          </p:cNvPr>
          <p:cNvSpPr>
            <a:spLocks xmlns:a="http://schemas.openxmlformats.org/drawingml/2006/main" noGrp="1"/>
          </p:cNvSpPr>
          <p:nvPr/>
        </p:nvSpPr>
        <p:spPr>
          <a:xfrm xmlns:a="http://schemas.openxmlformats.org/drawingml/2006/main">
            <a:off x="7639050" y="4181475"/>
            <a:ext cx="3867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Supplies the model, prompt and tools.</a:t>
            </a:r>
          </a:p>
        </p:txBody>
      </p:sp>
      <p:sp>
        <p:nvSpPr>
          <p:cNvPr id="21" name="">
            <a:extLst xmlns:a="http://schemas.openxmlformats.org/drawingml/2006/main">
              <a:ext uri="{FF2B5EF4-FFF2-40B4-BE49-F238E27FC236}">
                <a16:creationId xmlns:a16="http://schemas.microsoft.com/office/drawing/2014/main" id="{00F62315-B85E-47FD-9A51-7F732133670A}"/>
              </a:ext>
            </a:extLst>
          </p:cNvPr>
          <p:cNvSpPr>
            <a:spLocks xmlns:a="http://schemas.openxmlformats.org/drawingml/2006/main" noGrp="1"/>
          </p:cNvSpPr>
          <p:nvPr/>
        </p:nvSpPr>
        <p:spPr>
          <a:xfrm xmlns:a="http://schemas.openxmlformats.org/drawingml/2006/main">
            <a:off x="7639050" y="4733925"/>
            <a:ext cx="3867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RoomOptions</a:t>
            </a:r>
          </a:p>
        </p:txBody>
      </p:sp>
      <p:sp>
        <p:nvSpPr>
          <p:cNvPr id="22" name="">
            <a:extLst xmlns:a="http://schemas.openxmlformats.org/drawingml/2006/main">
              <a:ext uri="{FF2B5EF4-FFF2-40B4-BE49-F238E27FC236}">
                <a16:creationId xmlns:a16="http://schemas.microsoft.com/office/drawing/2014/main" id="{670B95B4-CD06-4562-AB93-87629976E9FE}"/>
              </a:ext>
            </a:extLst>
          </p:cNvPr>
          <p:cNvSpPr>
            <a:spLocks xmlns:a="http://schemas.openxmlformats.org/drawingml/2006/main" noGrp="1"/>
          </p:cNvSpPr>
          <p:nvPr/>
        </p:nvSpPr>
        <p:spPr>
          <a:xfrm xmlns:a="http://schemas.openxmlformats.org/drawingml/2006/main">
            <a:off x="7639050" y="5076825"/>
            <a:ext cx="3867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Enables microphone and camera input.</a:t>
            </a:r>
          </a:p>
        </p:txBody>
      </p:sp>
      <p:sp>
        <p:nvSpPr>
          <p:cNvPr id="23" name="">
            <a:extLst xmlns:a="http://schemas.openxmlformats.org/drawingml/2006/main">
              <a:ext uri="{FF2B5EF4-FFF2-40B4-BE49-F238E27FC236}">
                <a16:creationId xmlns:a16="http://schemas.microsoft.com/office/drawing/2014/main" id="{977A5B07-1995-49C3-A467-42436A1DD09B}"/>
              </a:ext>
            </a:extLst>
          </p:cNvPr>
          <p:cNvSpPr>
            <a:spLocks xmlns:a="http://schemas.openxmlformats.org/drawingml/2006/main" noGrp="1"/>
          </p:cNvSpPr>
          <p:nvPr/>
        </p:nvSpPr>
        <p:spPr>
          <a:xfrm xmlns:a="http://schemas.openxmlformats.org/drawingml/2006/main">
            <a:off x="609600" y="5419725"/>
            <a:ext cx="64293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Lifecycle excerpt. Some arguments are omitted for readability.</a:t>
            </a:r>
          </a:p>
        </p:txBody>
      </p:sp>
    </p:spTree>
    <p:extLst>
      <p:ext uri="{BB962C8B-B14F-4D97-AF65-F5344CB8AC3E}">
        <p14:creationId xmlns:p14="http://schemas.microsoft.com/office/powerpoint/2010/main" val="1643271673"/>
      </p:ext>
    </p:extLst>
  </p:cSld>
</p:sld>
</file>

<file path=ppt/slides/slide9.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F14953C-4158-44C4-86A7-DD9E9284025C}"/>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A25E7A-5471-45FB-A83C-05187B19525F}"/>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SRC/AGENT.PY</a:t>
            </a:r>
          </a:p>
        </p:txBody>
      </p:sp>
      <p:sp>
        <p:nvSpPr>
          <p:cNvPr id="3" name="title">
            <a:extLst xmlns:a="http://schemas.openxmlformats.org/drawingml/2006/main">
              <a:ext uri="{FF2B5EF4-FFF2-40B4-BE49-F238E27FC236}">
                <a16:creationId xmlns:a16="http://schemas.microsoft.com/office/drawing/2014/main" id="{C8BFB4C4-CC9B-4CF2-9CE2-A49000044941}"/>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The configured voice model</a:t>
            </a:r>
          </a:p>
        </p:txBody>
      </p:sp>
      <p:sp>
        <p:nvSpPr>
          <p:cNvPr id="4" name="">
            <a:extLst xmlns:a="http://schemas.openxmlformats.org/drawingml/2006/main">
              <a:ext uri="{FF2B5EF4-FFF2-40B4-BE49-F238E27FC236}">
                <a16:creationId xmlns:a16="http://schemas.microsoft.com/office/drawing/2014/main" id="{9D0BEA5B-F98B-42D6-9FD9-ED0AAE802282}"/>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43C934-D6A7-4953-9D15-91DDB4D0D9E2}"/>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BA5649FB-BC93-4E06-BCC8-0B86D333699F}"/>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82A0C2-60AA-4BCA-8EBE-6B630198EEAA}"/>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00E799F-2C9D-4EE5-89EC-8A847D2794FA}"/>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53E9A7A-6240-4498-BB4C-15B4187CC61F}"/>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034D66-FB1A-435F-A48B-1A1F86799704}"/>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4A5B0E-8BCA-4893-934E-82EB27E14A26}"/>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F8A7F12-AD90-434A-BB84-971C85C08036}"/>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09</a:t>
            </a:r>
          </a:p>
        </p:txBody>
      </p:sp>
      <p:sp>
        <p:nvSpPr>
          <p:cNvPr id="13" name="">
            <a:extLst xmlns:a="http://schemas.openxmlformats.org/drawingml/2006/main">
              <a:ext uri="{FF2B5EF4-FFF2-40B4-BE49-F238E27FC236}">
                <a16:creationId xmlns:a16="http://schemas.microsoft.com/office/drawing/2014/main" id="{09A71A29-56E5-4318-85C6-0E8B0BCCF7C2}"/>
              </a:ext>
            </a:extLst>
          </p:cNvPr>
          <p:cNvSpPr>
            <a:spLocks xmlns:a="http://schemas.openxmlformats.org/drawingml/2006/main" noGrp="1"/>
          </p:cNvSpPr>
          <p:nvPr/>
        </p:nvSpPr>
        <p:spPr>
          <a:xfrm xmlns:a="http://schemas.openxmlformats.org/drawingml/2006/main">
            <a:off x="609600" y="2181225"/>
            <a:ext cx="6391275" cy="2047875"/>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08D354-29A1-4B5F-9CDD-B126F32D782E}"/>
              </a:ext>
            </a:extLst>
          </p:cNvPr>
          <p:cNvSpPr>
            <a:spLocks xmlns:a="http://schemas.openxmlformats.org/drawingml/2006/main" noGrp="1"/>
          </p:cNvSpPr>
          <p:nvPr/>
        </p:nvSpPr>
        <p:spPr>
          <a:xfrm xmlns:a="http://schemas.openxmlformats.org/drawingml/2006/main">
            <a:off x="838200" y="2409825"/>
            <a:ext cx="59340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google.beta.realtime.RealtimeModel(</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model="gemini-3.1-flash-live-preview",</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voice="Aoede",</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language="en-GB",</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130D64E-F2C5-41B2-A0AD-07B84AA7601F}"/>
              </a:ext>
            </a:extLst>
          </p:cNvPr>
          <p:cNvSpPr>
            <a:spLocks xmlns:a="http://schemas.openxmlformats.org/drawingml/2006/main" noGrp="1"/>
          </p:cNvSpPr>
          <p:nvPr/>
        </p:nvSpPr>
        <p:spPr>
          <a:xfrm xmlns:a="http://schemas.openxmlformats.org/drawingml/2006/main">
            <a:off x="7629525" y="2066925"/>
            <a:ext cx="3876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Model</a:t>
            </a:r>
          </a:p>
        </p:txBody>
      </p:sp>
      <p:sp>
        <p:nvSpPr>
          <p:cNvPr id="16" name="">
            <a:extLst xmlns:a="http://schemas.openxmlformats.org/drawingml/2006/main">
              <a:ext uri="{FF2B5EF4-FFF2-40B4-BE49-F238E27FC236}">
                <a16:creationId xmlns:a16="http://schemas.microsoft.com/office/drawing/2014/main" id="{7DF0FA85-82C9-457D-933F-7B66EE36FE82}"/>
              </a:ext>
            </a:extLst>
          </p:cNvPr>
          <p:cNvSpPr>
            <a:spLocks xmlns:a="http://schemas.openxmlformats.org/drawingml/2006/main" noGrp="1"/>
          </p:cNvSpPr>
          <p:nvPr/>
        </p:nvSpPr>
        <p:spPr>
          <a:xfrm xmlns:a="http://schemas.openxmlformats.org/drawingml/2006/main">
            <a:off x="7629525" y="2409825"/>
            <a:ext cx="3876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Gemini Live handles audio input and spoken output.</a:t>
            </a:r>
          </a:p>
        </p:txBody>
      </p:sp>
      <p:sp>
        <p:nvSpPr>
          <p:cNvPr id="17" name="">
            <a:extLst xmlns:a="http://schemas.openxmlformats.org/drawingml/2006/main">
              <a:ext uri="{FF2B5EF4-FFF2-40B4-BE49-F238E27FC236}">
                <a16:creationId xmlns:a16="http://schemas.microsoft.com/office/drawing/2014/main" id="{95743F75-6A33-4F61-9826-D49A93946FB8}"/>
              </a:ext>
            </a:extLst>
          </p:cNvPr>
          <p:cNvSpPr>
            <a:spLocks xmlns:a="http://schemas.openxmlformats.org/drawingml/2006/main" noGrp="1"/>
          </p:cNvSpPr>
          <p:nvPr/>
        </p:nvSpPr>
        <p:spPr>
          <a:xfrm xmlns:a="http://schemas.openxmlformats.org/drawingml/2006/main">
            <a:off x="7629525" y="3143250"/>
            <a:ext cx="3876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Voice</a:t>
            </a:r>
          </a:p>
        </p:txBody>
      </p:sp>
      <p:sp>
        <p:nvSpPr>
          <p:cNvPr id="18" name="">
            <a:extLst xmlns:a="http://schemas.openxmlformats.org/drawingml/2006/main">
              <a:ext uri="{FF2B5EF4-FFF2-40B4-BE49-F238E27FC236}">
                <a16:creationId xmlns:a16="http://schemas.microsoft.com/office/drawing/2014/main" id="{D73C508B-DA77-41A2-8CA0-D66D67BE8A2F}"/>
              </a:ext>
            </a:extLst>
          </p:cNvPr>
          <p:cNvSpPr>
            <a:spLocks xmlns:a="http://schemas.openxmlformats.org/drawingml/2006/main" noGrp="1"/>
          </p:cNvSpPr>
          <p:nvPr/>
        </p:nvSpPr>
        <p:spPr>
          <a:xfrm xmlns:a="http://schemas.openxmlformats.org/drawingml/2006/main">
            <a:off x="7629525" y="3486150"/>
            <a:ext cx="3876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Aoede selects the sound of the generated speech.</a:t>
            </a:r>
          </a:p>
        </p:txBody>
      </p:sp>
      <p:sp>
        <p:nvSpPr>
          <p:cNvPr id="19" name="">
            <a:extLst xmlns:a="http://schemas.openxmlformats.org/drawingml/2006/main">
              <a:ext uri="{FF2B5EF4-FFF2-40B4-BE49-F238E27FC236}">
                <a16:creationId xmlns:a16="http://schemas.microsoft.com/office/drawing/2014/main" id="{36B3203D-B722-4B5E-B95B-905B901E6616}"/>
              </a:ext>
            </a:extLst>
          </p:cNvPr>
          <p:cNvSpPr>
            <a:spLocks xmlns:a="http://schemas.openxmlformats.org/drawingml/2006/main" noGrp="1"/>
          </p:cNvSpPr>
          <p:nvPr/>
        </p:nvSpPr>
        <p:spPr>
          <a:xfrm xmlns:a="http://schemas.openxmlformats.org/drawingml/2006/main">
            <a:off x="7629525" y="4219575"/>
            <a:ext cx="3876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Instructions</a:t>
            </a:r>
          </a:p>
        </p:txBody>
      </p:sp>
      <p:sp>
        <p:nvSpPr>
          <p:cNvPr id="20" name="">
            <a:extLst xmlns:a="http://schemas.openxmlformats.org/drawingml/2006/main">
              <a:ext uri="{FF2B5EF4-FFF2-40B4-BE49-F238E27FC236}">
                <a16:creationId xmlns:a16="http://schemas.microsoft.com/office/drawing/2014/main" id="{61AC6158-C759-4F13-8F5C-1A1E0A34ED5F}"/>
              </a:ext>
            </a:extLst>
          </p:cNvPr>
          <p:cNvSpPr>
            <a:spLocks xmlns:a="http://schemas.openxmlformats.org/drawingml/2006/main" noGrp="1"/>
          </p:cNvSpPr>
          <p:nvPr/>
        </p:nvSpPr>
        <p:spPr>
          <a:xfrm xmlns:a="http://schemas.openxmlformats.org/drawingml/2006/main">
            <a:off x="7629525" y="4562475"/>
            <a:ext cx="3876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The prompt sets tone, brevity and tool-use behavior.</a:t>
            </a:r>
          </a:p>
        </p:txBody>
      </p:sp>
      <p:sp>
        <p:nvSpPr>
          <p:cNvPr id="21" name="">
            <a:extLst xmlns:a="http://schemas.openxmlformats.org/drawingml/2006/main">
              <a:ext uri="{FF2B5EF4-FFF2-40B4-BE49-F238E27FC236}">
                <a16:creationId xmlns:a16="http://schemas.microsoft.com/office/drawing/2014/main" id="{6860C076-86B2-4C71-A633-0FF91F486AE9}"/>
              </a:ext>
            </a:extLst>
          </p:cNvPr>
          <p:cNvSpPr>
            <a:spLocks xmlns:a="http://schemas.openxmlformats.org/drawingml/2006/main" noGrp="1"/>
          </p:cNvSpPr>
          <p:nvPr/>
        </p:nvSpPr>
        <p:spPr>
          <a:xfrm xmlns:a="http://schemas.openxmlformats.org/drawingml/2006/main">
            <a:off x="609600" y="4876800"/>
            <a:ext cx="651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Realtime speech-to-speech in this project.</a:t>
            </a:r>
          </a:p>
        </p:txBody>
      </p:sp>
      <p:sp>
        <p:nvSpPr>
          <p:cNvPr id="22" name="">
            <a:extLst xmlns:a="http://schemas.openxmlformats.org/drawingml/2006/main">
              <a:ext uri="{FF2B5EF4-FFF2-40B4-BE49-F238E27FC236}">
                <a16:creationId xmlns:a16="http://schemas.microsoft.com/office/drawing/2014/main" id="{B45FE081-4677-48F8-BC7E-69D797F91EAA}"/>
              </a:ext>
            </a:extLst>
          </p:cNvPr>
          <p:cNvSpPr>
            <a:spLocks xmlns:a="http://schemas.openxmlformats.org/drawingml/2006/main" noGrp="1"/>
          </p:cNvSpPr>
          <p:nvPr/>
        </p:nvSpPr>
        <p:spPr>
          <a:xfrm xmlns:a="http://schemas.openxmlformats.org/drawingml/2006/main">
            <a:off x="609600" y="5353050"/>
            <a:ext cx="6515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5C3D1"/>
                </a:solidFill>
                <a:latin typeface="Arial"/>
                <a:ea typeface="Arial"/>
                <a:cs typeface="Arial"/>
              </a:defRPr>
            </a:defPPr>
          </a:lstStyle>
          <a:p xmlns:a="http://schemas.openxmlformats.org/drawingml/2006/main">
            <a:pPr algn="l">
              <a:defRPr sz="1650" b="0">
                <a:solidFill>
                  <a:srgbClr val="C5C3D1"/>
                </a:solidFill>
                <a:latin typeface="Arial"/>
                <a:ea typeface="Arial"/>
                <a:cs typeface="Arial"/>
              </a:defRPr>
            </a:pPr>
            <a:r>
              <a:rPr sz="1650" b="0">
                <a:solidFill>
                  <a:srgbClr val="C5C3D1"/>
                </a:solidFill>
                <a:latin typeface="Arial"/>
                <a:ea typeface="Arial"/>
                <a:cs typeface="Arial"/>
              </a:rPr>
              <a:t>Aoede is selected here; Kore, Puck and Charon are voices to audition when supported.</a:t>
            </a:r>
          </a:p>
        </p:txBody>
      </p:sp>
    </p:spTree>
    <p:extLst>
      <p:ext uri="{BB962C8B-B14F-4D97-AF65-F5344CB8AC3E}">
        <p14:creationId xmlns:p14="http://schemas.microsoft.com/office/powerpoint/2010/main" val="342830234"/>
      </p:ext>
    </p:extLst>
  </p:cSld>
</p:sld>
</file>

<file path=ppt/slides/slide10.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F2F482F-FFA1-49D3-8728-D262D47BA3AD}"/>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4FD418-4AB5-4134-A70D-13DFA16FE5C3}"/>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SESSION CONFIGURATION</a:t>
            </a:r>
          </a:p>
        </p:txBody>
      </p:sp>
      <p:sp>
        <p:nvSpPr>
          <p:cNvPr id="3" name="title">
            <a:extLst xmlns:a="http://schemas.openxmlformats.org/drawingml/2006/main">
              <a:ext uri="{FF2B5EF4-FFF2-40B4-BE49-F238E27FC236}">
                <a16:creationId xmlns:a16="http://schemas.microsoft.com/office/drawing/2014/main" id="{271830AB-A362-4AE2-B535-B478C0BEACCD}"/>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Conversation timing and recording</a:t>
            </a:r>
          </a:p>
        </p:txBody>
      </p:sp>
      <p:sp>
        <p:nvSpPr>
          <p:cNvPr id="4" name="">
            <a:extLst xmlns:a="http://schemas.openxmlformats.org/drawingml/2006/main">
              <a:ext uri="{FF2B5EF4-FFF2-40B4-BE49-F238E27FC236}">
                <a16:creationId xmlns:a16="http://schemas.microsoft.com/office/drawing/2014/main" id="{39638B93-4012-4A0F-BB00-C9FFA567F94A}"/>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7F46D9-B858-4DE8-84FF-91B9144F90F6}"/>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4E6349AB-E1BB-4CEA-82BB-12A4216283A7}"/>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E6FFCF-5EEC-4AC8-9359-43D31BF6A14B}"/>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79245C-0A14-42BA-B644-17BAF2548045}"/>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736C6E1-6E30-4055-8C45-997FC5E8EA1C}"/>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E871AB0-7C12-4659-8EF8-CB34EBC701F9}"/>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09BA7D9-42DC-444B-B70E-FF2089FC4FA1}"/>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2810A6-2E20-476C-BD7B-89F0AFF929B8}"/>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10</a:t>
            </a:r>
          </a:p>
        </p:txBody>
      </p:sp>
      <p:sp>
        <p:nvSpPr>
          <p:cNvPr id="13" name="">
            <a:extLst xmlns:a="http://schemas.openxmlformats.org/drawingml/2006/main">
              <a:ext uri="{FF2B5EF4-FFF2-40B4-BE49-F238E27FC236}">
                <a16:creationId xmlns:a16="http://schemas.microsoft.com/office/drawing/2014/main" id="{939521D0-EAF2-4288-A69F-67656161E9C3}"/>
              </a:ext>
            </a:extLst>
          </p:cNvPr>
          <p:cNvSpPr>
            <a:spLocks xmlns:a="http://schemas.openxmlformats.org/drawingml/2006/main" noGrp="1"/>
          </p:cNvSpPr>
          <p:nvPr/>
        </p:nvSpPr>
        <p:spPr>
          <a:xfrm xmlns:a="http://schemas.openxmlformats.org/drawingml/2006/main">
            <a:off x="609600" y="1876425"/>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5F1FA"/>
                </a:solidFill>
                <a:latin typeface="Arial"/>
                <a:ea typeface="Arial"/>
                <a:cs typeface="Arial"/>
              </a:defRPr>
            </a:defPPr>
          </a:lstStyle>
          <a:p xmlns:a="http://schemas.openxmlformats.org/drawingml/2006/main">
            <a:pPr algn="l">
              <a:defRPr sz="1875" b="1">
                <a:solidFill>
                  <a:srgbClr val="F5F1FA"/>
                </a:solidFill>
                <a:latin typeface="Arial"/>
                <a:ea typeface="Arial"/>
                <a:cs typeface="Arial"/>
              </a:defRPr>
            </a:pPr>
            <a:r>
              <a:rPr sz="1875" b="1">
                <a:solidFill>
                  <a:srgbClr val="F5F1FA"/>
                </a:solidFill>
                <a:latin typeface="Arial"/>
                <a:ea typeface="Arial"/>
                <a:cs typeface="Arial"/>
              </a:rPr>
              <a:t>Turn detection</a:t>
            </a:r>
          </a:p>
        </p:txBody>
      </p:sp>
      <p:sp>
        <p:nvSpPr>
          <p:cNvPr id="14" name="">
            <a:extLst xmlns:a="http://schemas.openxmlformats.org/drawingml/2006/main">
              <a:ext uri="{FF2B5EF4-FFF2-40B4-BE49-F238E27FC236}">
                <a16:creationId xmlns:a16="http://schemas.microsoft.com/office/drawing/2014/main" id="{C5AD4433-4F26-4615-B498-8DA9DF995F09}"/>
              </a:ext>
            </a:extLst>
          </p:cNvPr>
          <p:cNvSpPr>
            <a:spLocks xmlns:a="http://schemas.openxmlformats.org/drawingml/2006/main" noGrp="1"/>
          </p:cNvSpPr>
          <p:nvPr/>
        </p:nvSpPr>
        <p:spPr>
          <a:xfrm xmlns:a="http://schemas.openxmlformats.org/drawingml/2006/main">
            <a:off x="3762375" y="1876425"/>
            <a:ext cx="7629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1FA"/>
                </a:solidFill>
                <a:latin typeface="Arial"/>
                <a:ea typeface="Arial"/>
                <a:cs typeface="Arial"/>
              </a:defRPr>
            </a:defPPr>
          </a:lstStyle>
          <a:p xmlns:a="http://schemas.openxmlformats.org/drawingml/2006/main">
            <a:pPr algn="l">
              <a:defRPr sz="1800" b="0">
                <a:solidFill>
                  <a:srgbClr val="F5F1FA"/>
                </a:solidFill>
                <a:latin typeface="Arial"/>
                <a:ea typeface="Arial"/>
                <a:cs typeface="Arial"/>
              </a:defRPr>
            </a:pPr>
            <a:r>
              <a:rPr sz="1800" b="0">
                <a:solidFill>
                  <a:srgbClr val="F5F1FA"/>
                </a:solidFill>
                <a:latin typeface="Arial"/>
                <a:ea typeface="Arial"/>
                <a:cs typeface="Arial"/>
              </a:rPr>
              <a:t>turn_detection="realtime_llm"</a:t>
            </a:r>
          </a:p>
        </p:txBody>
      </p:sp>
      <p:sp>
        <p:nvSpPr>
          <p:cNvPr id="15" name="">
            <a:extLst xmlns:a="http://schemas.openxmlformats.org/drawingml/2006/main">
              <a:ext uri="{FF2B5EF4-FFF2-40B4-BE49-F238E27FC236}">
                <a16:creationId xmlns:a16="http://schemas.microsoft.com/office/drawing/2014/main" id="{B391B2D3-343E-46BA-9053-66C8DA09D047}"/>
              </a:ext>
            </a:extLst>
          </p:cNvPr>
          <p:cNvSpPr>
            <a:spLocks xmlns:a="http://schemas.openxmlformats.org/drawingml/2006/main" noGrp="1"/>
          </p:cNvSpPr>
          <p:nvPr/>
        </p:nvSpPr>
        <p:spPr>
          <a:xfrm xmlns:a="http://schemas.openxmlformats.org/drawingml/2006/main">
            <a:off x="3762375" y="2286000"/>
            <a:ext cx="7629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Gemini detects when a user’s speaking turn ends.</a:t>
            </a:r>
          </a:p>
        </p:txBody>
      </p:sp>
      <p:sp>
        <p:nvSpPr>
          <p:cNvPr id="16" name="">
            <a:extLst xmlns:a="http://schemas.openxmlformats.org/drawingml/2006/main">
              <a:ext uri="{FF2B5EF4-FFF2-40B4-BE49-F238E27FC236}">
                <a16:creationId xmlns:a16="http://schemas.microsoft.com/office/drawing/2014/main" id="{EEA0EAAB-BB64-4535-AB09-1B614D4A0D7B}"/>
              </a:ext>
            </a:extLst>
          </p:cNvPr>
          <p:cNvSpPr>
            <a:spLocks xmlns:a="http://schemas.openxmlformats.org/drawingml/2006/main" noGrp="1"/>
          </p:cNvSpPr>
          <p:nvPr/>
        </p:nvSpPr>
        <p:spPr>
          <a:xfrm xmlns:a="http://schemas.openxmlformats.org/drawingml/2006/main">
            <a:off x="609600" y="273367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EC055E-7857-4138-A916-944E95ABF0B4}"/>
              </a:ext>
            </a:extLst>
          </p:cNvPr>
          <p:cNvSpPr>
            <a:spLocks xmlns:a="http://schemas.openxmlformats.org/drawingml/2006/main" noGrp="1"/>
          </p:cNvSpPr>
          <p:nvPr/>
        </p:nvSpPr>
        <p:spPr>
          <a:xfrm xmlns:a="http://schemas.openxmlformats.org/drawingml/2006/main">
            <a:off x="609600" y="289560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5F1FA"/>
                </a:solidFill>
                <a:latin typeface="Arial"/>
                <a:ea typeface="Arial"/>
                <a:cs typeface="Arial"/>
              </a:defRPr>
            </a:defPPr>
          </a:lstStyle>
          <a:p xmlns:a="http://schemas.openxmlformats.org/drawingml/2006/main">
            <a:pPr algn="l">
              <a:defRPr sz="1875" b="1">
                <a:solidFill>
                  <a:srgbClr val="F5F1FA"/>
                </a:solidFill>
                <a:latin typeface="Arial"/>
                <a:ea typeface="Arial"/>
                <a:cs typeface="Arial"/>
              </a:defRPr>
            </a:pPr>
            <a:r>
              <a:rPr sz="1875" b="1">
                <a:solidFill>
                  <a:srgbClr val="F5F1FA"/>
                </a:solidFill>
                <a:latin typeface="Arial"/>
                <a:ea typeface="Arial"/>
                <a:cs typeface="Arial"/>
              </a:rPr>
              <a:t>Interruptions</a:t>
            </a:r>
          </a:p>
        </p:txBody>
      </p:sp>
      <p:sp>
        <p:nvSpPr>
          <p:cNvPr id="18" name="">
            <a:extLst xmlns:a="http://schemas.openxmlformats.org/drawingml/2006/main">
              <a:ext uri="{FF2B5EF4-FFF2-40B4-BE49-F238E27FC236}">
                <a16:creationId xmlns:a16="http://schemas.microsoft.com/office/drawing/2014/main" id="{2A2455AA-4F06-444C-AE7D-DC6A4AF040C5}"/>
              </a:ext>
            </a:extLst>
          </p:cNvPr>
          <p:cNvSpPr>
            <a:spLocks xmlns:a="http://schemas.openxmlformats.org/drawingml/2006/main" noGrp="1"/>
          </p:cNvSpPr>
          <p:nvPr/>
        </p:nvSpPr>
        <p:spPr>
          <a:xfrm xmlns:a="http://schemas.openxmlformats.org/drawingml/2006/main">
            <a:off x="3762375" y="2895600"/>
            <a:ext cx="7629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1FA"/>
                </a:solidFill>
                <a:latin typeface="Arial"/>
                <a:ea typeface="Arial"/>
                <a:cs typeface="Arial"/>
              </a:defRPr>
            </a:defPPr>
          </a:lstStyle>
          <a:p xmlns:a="http://schemas.openxmlformats.org/drawingml/2006/main">
            <a:pPr algn="l">
              <a:defRPr sz="1800" b="0">
                <a:solidFill>
                  <a:srgbClr val="F5F1FA"/>
                </a:solidFill>
                <a:latin typeface="Arial"/>
                <a:ea typeface="Arial"/>
                <a:cs typeface="Arial"/>
              </a:defRPr>
            </a:pPr>
            <a:r>
              <a:rPr sz="1800" b="0">
                <a:solidFill>
                  <a:srgbClr val="F5F1FA"/>
                </a:solidFill>
                <a:latin typeface="Arial"/>
                <a:ea typeface="Arial"/>
                <a:cs typeface="Arial"/>
              </a:rPr>
              <a:t>Gemini’s native handling</a:t>
            </a:r>
          </a:p>
        </p:txBody>
      </p:sp>
      <p:sp>
        <p:nvSpPr>
          <p:cNvPr id="19" name="">
            <a:extLst xmlns:a="http://schemas.openxmlformats.org/drawingml/2006/main">
              <a:ext uri="{FF2B5EF4-FFF2-40B4-BE49-F238E27FC236}">
                <a16:creationId xmlns:a16="http://schemas.microsoft.com/office/drawing/2014/main" id="{FB1063E8-77F6-479E-A0F7-0B791FD7CBFD}"/>
              </a:ext>
            </a:extLst>
          </p:cNvPr>
          <p:cNvSpPr>
            <a:spLocks xmlns:a="http://schemas.openxmlformats.org/drawingml/2006/main" noGrp="1"/>
          </p:cNvSpPr>
          <p:nvPr/>
        </p:nvSpPr>
        <p:spPr>
          <a:xfrm xmlns:a="http://schemas.openxmlformats.org/drawingml/2006/main">
            <a:off x="3762375" y="3305175"/>
            <a:ext cx="7629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The incompatible adaptive option has been removed.</a:t>
            </a:r>
          </a:p>
        </p:txBody>
      </p:sp>
      <p:sp>
        <p:nvSpPr>
          <p:cNvPr id="20" name="">
            <a:extLst xmlns:a="http://schemas.openxmlformats.org/drawingml/2006/main">
              <a:ext uri="{FF2B5EF4-FFF2-40B4-BE49-F238E27FC236}">
                <a16:creationId xmlns:a16="http://schemas.microsoft.com/office/drawing/2014/main" id="{294F99B3-61CF-4063-87F5-FD36AA98DD5C}"/>
              </a:ext>
            </a:extLst>
          </p:cNvPr>
          <p:cNvSpPr>
            <a:spLocks xmlns:a="http://schemas.openxmlformats.org/drawingml/2006/main" noGrp="1"/>
          </p:cNvSpPr>
          <p:nvPr/>
        </p:nvSpPr>
        <p:spPr>
          <a:xfrm xmlns:a="http://schemas.openxmlformats.org/drawingml/2006/main">
            <a:off x="609600" y="3752850"/>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81BEBF-5352-4544-B229-24F4E9C9197B}"/>
              </a:ext>
            </a:extLst>
          </p:cNvPr>
          <p:cNvSpPr>
            <a:spLocks xmlns:a="http://schemas.openxmlformats.org/drawingml/2006/main" noGrp="1"/>
          </p:cNvSpPr>
          <p:nvPr/>
        </p:nvSpPr>
        <p:spPr>
          <a:xfrm xmlns:a="http://schemas.openxmlformats.org/drawingml/2006/main">
            <a:off x="609600" y="3914775"/>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5F1FA"/>
                </a:solidFill>
                <a:latin typeface="Arial"/>
                <a:ea typeface="Arial"/>
                <a:cs typeface="Arial"/>
              </a:defRPr>
            </a:defPPr>
          </a:lstStyle>
          <a:p xmlns:a="http://schemas.openxmlformats.org/drawingml/2006/main">
            <a:pPr algn="l">
              <a:defRPr sz="1875" b="1">
                <a:solidFill>
                  <a:srgbClr val="F5F1FA"/>
                </a:solidFill>
                <a:latin typeface="Arial"/>
                <a:ea typeface="Arial"/>
                <a:cs typeface="Arial"/>
              </a:defRPr>
            </a:pPr>
            <a:r>
              <a:rPr sz="1875" b="1">
                <a:solidFill>
                  <a:srgbClr val="F5F1FA"/>
                </a:solidFill>
                <a:latin typeface="Arial"/>
                <a:ea typeface="Arial"/>
                <a:cs typeface="Arial"/>
              </a:rPr>
              <a:t>Tool responses</a:t>
            </a:r>
          </a:p>
        </p:txBody>
      </p:sp>
      <p:sp>
        <p:nvSpPr>
          <p:cNvPr id="22" name="">
            <a:extLst xmlns:a="http://schemas.openxmlformats.org/drawingml/2006/main">
              <a:ext uri="{FF2B5EF4-FFF2-40B4-BE49-F238E27FC236}">
                <a16:creationId xmlns:a16="http://schemas.microsoft.com/office/drawing/2014/main" id="{57A0F752-0D8B-4F27-9296-9F716517080C}"/>
              </a:ext>
            </a:extLst>
          </p:cNvPr>
          <p:cNvSpPr>
            <a:spLocks xmlns:a="http://schemas.openxmlformats.org/drawingml/2006/main" noGrp="1"/>
          </p:cNvSpPr>
          <p:nvPr/>
        </p:nvSpPr>
        <p:spPr>
          <a:xfrm xmlns:a="http://schemas.openxmlformats.org/drawingml/2006/main">
            <a:off x="3762375" y="3914775"/>
            <a:ext cx="7629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1FA"/>
                </a:solidFill>
                <a:latin typeface="Arial"/>
                <a:ea typeface="Arial"/>
                <a:cs typeface="Arial"/>
              </a:defRPr>
            </a:defPPr>
          </a:lstStyle>
          <a:p xmlns:a="http://schemas.openxmlformats.org/drawingml/2006/main">
            <a:pPr algn="l">
              <a:defRPr sz="1800" b="0">
                <a:solidFill>
                  <a:srgbClr val="F5F1FA"/>
                </a:solidFill>
                <a:latin typeface="Arial"/>
                <a:ea typeface="Arial"/>
                <a:cs typeface="Arial"/>
              </a:defRPr>
            </a:pPr>
            <a:r>
              <a:rPr sz="1800" b="0">
                <a:solidFill>
                  <a:srgbClr val="F5F1FA"/>
                </a:solidFill>
                <a:latin typeface="Arial"/>
                <a:ea typeface="Arial"/>
                <a:cs typeface="Arial"/>
              </a:rPr>
              <a:t>Synchronous function calling</a:t>
            </a:r>
          </a:p>
        </p:txBody>
      </p:sp>
      <p:sp>
        <p:nvSpPr>
          <p:cNvPr id="23" name="">
            <a:extLst xmlns:a="http://schemas.openxmlformats.org/drawingml/2006/main">
              <a:ext uri="{FF2B5EF4-FFF2-40B4-BE49-F238E27FC236}">
                <a16:creationId xmlns:a16="http://schemas.microsoft.com/office/drawing/2014/main" id="{5A6D4F78-7564-40BA-A1F3-AE6F831D04D1}"/>
              </a:ext>
            </a:extLst>
          </p:cNvPr>
          <p:cNvSpPr>
            <a:spLocks xmlns:a="http://schemas.openxmlformats.org/drawingml/2006/main" noGrp="1"/>
          </p:cNvSpPr>
          <p:nvPr/>
        </p:nvSpPr>
        <p:spPr>
          <a:xfrm xmlns:a="http://schemas.openxmlformats.org/drawingml/2006/main">
            <a:off x="3762375" y="4324350"/>
            <a:ext cx="7629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Gemini waits for the Python function to return its result.</a:t>
            </a:r>
          </a:p>
        </p:txBody>
      </p:sp>
      <p:sp>
        <p:nvSpPr>
          <p:cNvPr id="24" name="">
            <a:extLst xmlns:a="http://schemas.openxmlformats.org/drawingml/2006/main">
              <a:ext uri="{FF2B5EF4-FFF2-40B4-BE49-F238E27FC236}">
                <a16:creationId xmlns:a16="http://schemas.microsoft.com/office/drawing/2014/main" id="{5C7E06F4-12FF-4FC8-95E3-A9E31A39C5BC}"/>
              </a:ext>
            </a:extLst>
          </p:cNvPr>
          <p:cNvSpPr>
            <a:spLocks xmlns:a="http://schemas.openxmlformats.org/drawingml/2006/main" noGrp="1"/>
          </p:cNvSpPr>
          <p:nvPr/>
        </p:nvSpPr>
        <p:spPr>
          <a:xfrm xmlns:a="http://schemas.openxmlformats.org/drawingml/2006/main">
            <a:off x="609600" y="4772025"/>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7EEBEF5-7E61-433B-A0E0-E4F5A6DB20DB}"/>
              </a:ext>
            </a:extLst>
          </p:cNvPr>
          <p:cNvSpPr>
            <a:spLocks xmlns:a="http://schemas.openxmlformats.org/drawingml/2006/main" noGrp="1"/>
          </p:cNvSpPr>
          <p:nvPr/>
        </p:nvSpPr>
        <p:spPr>
          <a:xfrm xmlns:a="http://schemas.openxmlformats.org/drawingml/2006/main">
            <a:off x="609600" y="49339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5F1FA"/>
                </a:solidFill>
                <a:latin typeface="Arial"/>
                <a:ea typeface="Arial"/>
                <a:cs typeface="Arial"/>
              </a:defRPr>
            </a:defPPr>
          </a:lstStyle>
          <a:p xmlns:a="http://schemas.openxmlformats.org/drawingml/2006/main">
            <a:pPr algn="l">
              <a:defRPr sz="1875" b="1">
                <a:solidFill>
                  <a:srgbClr val="F5F1FA"/>
                </a:solidFill>
                <a:latin typeface="Arial"/>
                <a:ea typeface="Arial"/>
                <a:cs typeface="Arial"/>
              </a:defRPr>
            </a:pPr>
            <a:r>
              <a:rPr sz="1875" b="1">
                <a:solidFill>
                  <a:srgbClr val="F5F1FA"/>
                </a:solidFill>
                <a:latin typeface="Arial"/>
                <a:ea typeface="Arial"/>
                <a:cs typeface="Arial"/>
              </a:rPr>
              <a:t>Recording</a:t>
            </a:r>
          </a:p>
        </p:txBody>
      </p:sp>
      <p:sp>
        <p:nvSpPr>
          <p:cNvPr id="26" name="">
            <a:extLst xmlns:a="http://schemas.openxmlformats.org/drawingml/2006/main">
              <a:ext uri="{FF2B5EF4-FFF2-40B4-BE49-F238E27FC236}">
                <a16:creationId xmlns:a16="http://schemas.microsoft.com/office/drawing/2014/main" id="{150E3BB6-EB19-4C85-94BF-38172DF4B37E}"/>
              </a:ext>
            </a:extLst>
          </p:cNvPr>
          <p:cNvSpPr>
            <a:spLocks xmlns:a="http://schemas.openxmlformats.org/drawingml/2006/main" noGrp="1"/>
          </p:cNvSpPr>
          <p:nvPr/>
        </p:nvSpPr>
        <p:spPr>
          <a:xfrm xmlns:a="http://schemas.openxmlformats.org/drawingml/2006/main">
            <a:off x="3762375" y="4933950"/>
            <a:ext cx="7629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5F1FA"/>
                </a:solidFill>
                <a:latin typeface="Arial"/>
                <a:ea typeface="Arial"/>
                <a:cs typeface="Arial"/>
              </a:defRPr>
            </a:defPPr>
          </a:lstStyle>
          <a:p xmlns:a="http://schemas.openxmlformats.org/drawingml/2006/main">
            <a:pPr algn="l">
              <a:defRPr sz="1800" b="0">
                <a:solidFill>
                  <a:srgbClr val="F5F1FA"/>
                </a:solidFill>
                <a:latin typeface="Arial"/>
                <a:ea typeface="Arial"/>
                <a:cs typeface="Arial"/>
              </a:defRPr>
            </a:pPr>
            <a:r>
              <a:rPr sz="1800" b="0">
                <a:solidFill>
                  <a:srgbClr val="F5F1FA"/>
                </a:solidFill>
                <a:latin typeface="Arial"/>
                <a:ea typeface="Arial"/>
                <a:cs typeface="Arial"/>
              </a:rPr>
              <a:t>record={"audio": False}</a:t>
            </a:r>
          </a:p>
        </p:txBody>
      </p:sp>
      <p:sp>
        <p:nvSpPr>
          <p:cNvPr id="27" name="">
            <a:extLst xmlns:a="http://schemas.openxmlformats.org/drawingml/2006/main">
              <a:ext uri="{FF2B5EF4-FFF2-40B4-BE49-F238E27FC236}">
                <a16:creationId xmlns:a16="http://schemas.microsoft.com/office/drawing/2014/main" id="{E404C0C3-F4BD-4484-8991-B5FA9A0B94CF}"/>
              </a:ext>
            </a:extLst>
          </p:cNvPr>
          <p:cNvSpPr>
            <a:spLocks xmlns:a="http://schemas.openxmlformats.org/drawingml/2006/main" noGrp="1"/>
          </p:cNvSpPr>
          <p:nvPr/>
        </p:nvSpPr>
        <p:spPr>
          <a:xfrm xmlns:a="http://schemas.openxmlformats.org/drawingml/2006/main">
            <a:off x="3762375" y="5343525"/>
            <a:ext cx="7629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Audio recording is off; transcripts remain enabled.</a:t>
            </a:r>
          </a:p>
        </p:txBody>
      </p:sp>
    </p:spTree>
    <p:extLst>
      <p:ext uri="{BB962C8B-B14F-4D97-AF65-F5344CB8AC3E}">
        <p14:creationId xmlns:p14="http://schemas.microsoft.com/office/powerpoint/2010/main" val="1254671486"/>
      </p:ext>
    </p:extLst>
  </p:cSld>
</p:sld>
</file>

<file path=ppt/slides/slide11.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F0ED4B-1878-4420-B66F-EF603EE3E5B5}"/>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D1B73B-3C51-4B26-A7A0-6AD2FFD1DD20}"/>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WHAT WE ADDED</a:t>
            </a:r>
          </a:p>
        </p:txBody>
      </p:sp>
      <p:sp>
        <p:nvSpPr>
          <p:cNvPr id="3" name="title">
            <a:extLst xmlns:a="http://schemas.openxmlformats.org/drawingml/2006/main">
              <a:ext uri="{FF2B5EF4-FFF2-40B4-BE49-F238E27FC236}">
                <a16:creationId xmlns:a16="http://schemas.microsoft.com/office/drawing/2014/main" id="{6E2C06C1-13E1-4A5B-B1BD-2F77A3DDCCD3}"/>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Prompt design for a spoken interface</a:t>
            </a:r>
          </a:p>
        </p:txBody>
      </p:sp>
      <p:sp>
        <p:nvSpPr>
          <p:cNvPr id="4" name="">
            <a:extLst xmlns:a="http://schemas.openxmlformats.org/drawingml/2006/main">
              <a:ext uri="{FF2B5EF4-FFF2-40B4-BE49-F238E27FC236}">
                <a16:creationId xmlns:a16="http://schemas.microsoft.com/office/drawing/2014/main" id="{BD70E864-EE3C-4D65-B025-4196E42E4514}"/>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D949E6-6EE7-4B71-AC18-61DEB3575141}"/>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36FA7575-850B-45DC-AEA5-F4E6AB1B401E}"/>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826539-B10E-44DF-94AF-109C32801072}"/>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5ADC13-7378-44A2-A0D3-B6341717555D}"/>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971F19-4124-4688-B8FF-C32ED781D3B0}"/>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FF674F-50F1-47DF-B01A-75ECDEFB6B1C}"/>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4715A8B-0258-485D-AEED-2CB7A0E3CDE1}"/>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DD3B8B5-BBDC-4339-BA9A-2151F30BBA2B}"/>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11</a:t>
            </a:r>
          </a:p>
        </p:txBody>
      </p:sp>
      <p:sp>
        <p:nvSpPr>
          <p:cNvPr id="13" name="">
            <a:extLst xmlns:a="http://schemas.openxmlformats.org/drawingml/2006/main">
              <a:ext uri="{FF2B5EF4-FFF2-40B4-BE49-F238E27FC236}">
                <a16:creationId xmlns:a16="http://schemas.microsoft.com/office/drawing/2014/main" id="{7A8A12D9-6864-4D6C-BFBB-94BBECA2E689}"/>
              </a:ext>
            </a:extLst>
          </p:cNvPr>
          <p:cNvSpPr>
            <a:spLocks xmlns:a="http://schemas.openxmlformats.org/drawingml/2006/main" noGrp="1"/>
          </p:cNvSpPr>
          <p:nvPr/>
        </p:nvSpPr>
        <p:spPr>
          <a:xfrm xmlns:a="http://schemas.openxmlformats.org/drawingml/2006/main">
            <a:off x="609600" y="19240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Persona</a:t>
            </a:r>
          </a:p>
        </p:txBody>
      </p:sp>
      <p:sp>
        <p:nvSpPr>
          <p:cNvPr id="14" name="">
            <a:extLst xmlns:a="http://schemas.openxmlformats.org/drawingml/2006/main">
              <a:ext uri="{FF2B5EF4-FFF2-40B4-BE49-F238E27FC236}">
                <a16:creationId xmlns:a16="http://schemas.microsoft.com/office/drawing/2014/main" id="{84A8AAFF-8870-439A-B6F2-0176D17EF220}"/>
              </a:ext>
            </a:extLst>
          </p:cNvPr>
          <p:cNvSpPr>
            <a:spLocks xmlns:a="http://schemas.openxmlformats.org/drawingml/2006/main" noGrp="1"/>
          </p:cNvSpPr>
          <p:nvPr/>
        </p:nvSpPr>
        <p:spPr>
          <a:xfrm xmlns:a="http://schemas.openxmlformats.org/drawingml/2006/main">
            <a:off x="3933825" y="1924050"/>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A warm, practical confidante with restrained dry humor.</a:t>
            </a:r>
          </a:p>
        </p:txBody>
      </p:sp>
      <p:sp>
        <p:nvSpPr>
          <p:cNvPr id="15" name="">
            <a:extLst xmlns:a="http://schemas.openxmlformats.org/drawingml/2006/main">
              <a:ext uri="{FF2B5EF4-FFF2-40B4-BE49-F238E27FC236}">
                <a16:creationId xmlns:a16="http://schemas.microsoft.com/office/drawing/2014/main" id="{219B0C4B-162C-4444-8D4D-2E5CB2AFCDB4}"/>
              </a:ext>
            </a:extLst>
          </p:cNvPr>
          <p:cNvSpPr>
            <a:spLocks xmlns:a="http://schemas.openxmlformats.org/drawingml/2006/main" noGrp="1"/>
          </p:cNvSpPr>
          <p:nvPr/>
        </p:nvSpPr>
        <p:spPr>
          <a:xfrm xmlns:a="http://schemas.openxmlformats.org/drawingml/2006/main">
            <a:off x="609600" y="2705100"/>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E93EAC-92B7-4287-8C9F-63FFB7BCC9CA}"/>
              </a:ext>
            </a:extLst>
          </p:cNvPr>
          <p:cNvSpPr>
            <a:spLocks xmlns:a="http://schemas.openxmlformats.org/drawingml/2006/main" noGrp="1"/>
          </p:cNvSpPr>
          <p:nvPr/>
        </p:nvSpPr>
        <p:spPr>
          <a:xfrm xmlns:a="http://schemas.openxmlformats.org/drawingml/2006/main">
            <a:off x="609600" y="28765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Spoken output</a:t>
            </a:r>
          </a:p>
        </p:txBody>
      </p:sp>
      <p:sp>
        <p:nvSpPr>
          <p:cNvPr id="17" name="">
            <a:extLst xmlns:a="http://schemas.openxmlformats.org/drawingml/2006/main">
              <a:ext uri="{FF2B5EF4-FFF2-40B4-BE49-F238E27FC236}">
                <a16:creationId xmlns:a16="http://schemas.microsoft.com/office/drawing/2014/main" id="{DFC95B29-C589-476B-9DAA-80DAA9076316}"/>
              </a:ext>
            </a:extLst>
          </p:cNvPr>
          <p:cNvSpPr>
            <a:spLocks xmlns:a="http://schemas.openxmlformats.org/drawingml/2006/main" noGrp="1"/>
          </p:cNvSpPr>
          <p:nvPr/>
        </p:nvSpPr>
        <p:spPr>
          <a:xfrm xmlns:a="http://schemas.openxmlformats.org/drawingml/2006/main">
            <a:off x="3933825" y="2876550"/>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One to three sentences by default. Plain text and one question at a time.</a:t>
            </a:r>
          </a:p>
        </p:txBody>
      </p:sp>
      <p:sp>
        <p:nvSpPr>
          <p:cNvPr id="18" name="">
            <a:extLst xmlns:a="http://schemas.openxmlformats.org/drawingml/2006/main">
              <a:ext uri="{FF2B5EF4-FFF2-40B4-BE49-F238E27FC236}">
                <a16:creationId xmlns:a16="http://schemas.microsoft.com/office/drawing/2014/main" id="{3FA00A1F-B6F2-4A5C-9E49-B0989F633CC2}"/>
              </a:ext>
            </a:extLst>
          </p:cNvPr>
          <p:cNvSpPr>
            <a:spLocks xmlns:a="http://schemas.openxmlformats.org/drawingml/2006/main" noGrp="1"/>
          </p:cNvSpPr>
          <p:nvPr/>
        </p:nvSpPr>
        <p:spPr>
          <a:xfrm xmlns:a="http://schemas.openxmlformats.org/drawingml/2006/main">
            <a:off x="609600" y="3657600"/>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8A3E34E-3582-496F-A328-CEFA4317499A}"/>
              </a:ext>
            </a:extLst>
          </p:cNvPr>
          <p:cNvSpPr>
            <a:spLocks xmlns:a="http://schemas.openxmlformats.org/drawingml/2006/main" noGrp="1"/>
          </p:cNvSpPr>
          <p:nvPr/>
        </p:nvSpPr>
        <p:spPr>
          <a:xfrm xmlns:a="http://schemas.openxmlformats.org/drawingml/2006/main">
            <a:off x="609600" y="38290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Tool policy</a:t>
            </a:r>
          </a:p>
        </p:txBody>
      </p:sp>
      <p:sp>
        <p:nvSpPr>
          <p:cNvPr id="20" name="">
            <a:extLst xmlns:a="http://schemas.openxmlformats.org/drawingml/2006/main">
              <a:ext uri="{FF2B5EF4-FFF2-40B4-BE49-F238E27FC236}">
                <a16:creationId xmlns:a16="http://schemas.microsoft.com/office/drawing/2014/main" id="{FDF5FE97-0EF3-4D24-B5E8-5DBAB9911A7C}"/>
              </a:ext>
            </a:extLst>
          </p:cNvPr>
          <p:cNvSpPr>
            <a:spLocks xmlns:a="http://schemas.openxmlformats.org/drawingml/2006/main" noGrp="1"/>
          </p:cNvSpPr>
          <p:nvPr/>
        </p:nvSpPr>
        <p:spPr>
          <a:xfrm xmlns:a="http://schemas.openxmlformats.org/drawingml/2006/main">
            <a:off x="3933825" y="3829050"/>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Use external lookups when appropriate. Summarize results without reading raw fields.</a:t>
            </a:r>
          </a:p>
        </p:txBody>
      </p:sp>
      <p:sp>
        <p:nvSpPr>
          <p:cNvPr id="21" name="">
            <a:extLst xmlns:a="http://schemas.openxmlformats.org/drawingml/2006/main">
              <a:ext uri="{FF2B5EF4-FFF2-40B4-BE49-F238E27FC236}">
                <a16:creationId xmlns:a16="http://schemas.microsoft.com/office/drawing/2014/main" id="{EC2CD981-F5A2-442A-B4F8-6A7099B369C0}"/>
              </a:ext>
            </a:extLst>
          </p:cNvPr>
          <p:cNvSpPr>
            <a:spLocks xmlns:a="http://schemas.openxmlformats.org/drawingml/2006/main" noGrp="1"/>
          </p:cNvSpPr>
          <p:nvPr/>
        </p:nvSpPr>
        <p:spPr>
          <a:xfrm xmlns:a="http://schemas.openxmlformats.org/drawingml/2006/main">
            <a:off x="609600" y="4610100"/>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90596B0-E10C-48F9-857A-D475D597396B}"/>
              </a:ext>
            </a:extLst>
          </p:cNvPr>
          <p:cNvSpPr>
            <a:spLocks xmlns:a="http://schemas.openxmlformats.org/drawingml/2006/main" noGrp="1"/>
          </p:cNvSpPr>
          <p:nvPr/>
        </p:nvSpPr>
        <p:spPr>
          <a:xfrm xmlns:a="http://schemas.openxmlformats.org/drawingml/2006/main">
            <a:off x="609600" y="47815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5F1FA"/>
                </a:solidFill>
                <a:latin typeface="Arial"/>
                <a:ea typeface="Arial"/>
                <a:cs typeface="Arial"/>
              </a:defRPr>
            </a:defPPr>
          </a:lstStyle>
          <a:p xmlns:a="http://schemas.openxmlformats.org/drawingml/2006/main">
            <a:pPr algn="l">
              <a:defRPr sz="1950" b="1">
                <a:solidFill>
                  <a:srgbClr val="F5F1FA"/>
                </a:solidFill>
                <a:latin typeface="Arial"/>
                <a:ea typeface="Arial"/>
                <a:cs typeface="Arial"/>
              </a:defRPr>
            </a:pPr>
            <a:r>
              <a:rPr sz="1950" b="1">
                <a:solidFill>
                  <a:srgbClr val="F5F1FA"/>
                </a:solidFill>
                <a:latin typeface="Arial"/>
                <a:ea typeface="Arial"/>
                <a:cs typeface="Arial"/>
              </a:rPr>
              <a:t>Privacy and limits</a:t>
            </a:r>
          </a:p>
        </p:txBody>
      </p:sp>
      <p:sp>
        <p:nvSpPr>
          <p:cNvPr id="23" name="">
            <a:extLst xmlns:a="http://schemas.openxmlformats.org/drawingml/2006/main">
              <a:ext uri="{FF2B5EF4-FFF2-40B4-BE49-F238E27FC236}">
                <a16:creationId xmlns:a16="http://schemas.microsoft.com/office/drawing/2014/main" id="{73AB4A03-D920-4E39-A6EC-292A566C1593}"/>
              </a:ext>
            </a:extLst>
          </p:cNvPr>
          <p:cNvSpPr>
            <a:spLocks xmlns:a="http://schemas.openxmlformats.org/drawingml/2006/main" noGrp="1"/>
          </p:cNvSpPr>
          <p:nvPr/>
        </p:nvSpPr>
        <p:spPr>
          <a:xfrm xmlns:a="http://schemas.openxmlformats.org/drawingml/2006/main">
            <a:off x="3933825" y="4781550"/>
            <a:ext cx="7419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Describe visible camera details. Avoid invented progress and sensitive-data exposure.</a:t>
            </a:r>
          </a:p>
        </p:txBody>
      </p:sp>
      <p:sp>
        <p:nvSpPr>
          <p:cNvPr id="24" name="">
            <a:extLst xmlns:a="http://schemas.openxmlformats.org/drawingml/2006/main">
              <a:ext uri="{FF2B5EF4-FFF2-40B4-BE49-F238E27FC236}">
                <a16:creationId xmlns:a16="http://schemas.microsoft.com/office/drawing/2014/main" id="{A8BE6640-C6FC-4C79-B0EC-0A337FE7CB22}"/>
              </a:ext>
            </a:extLst>
          </p:cNvPr>
          <p:cNvSpPr>
            <a:spLocks xmlns:a="http://schemas.openxmlformats.org/drawingml/2006/main" noGrp="1"/>
          </p:cNvSpPr>
          <p:nvPr/>
        </p:nvSpPr>
        <p:spPr>
          <a:xfrm xmlns:a="http://schemas.openxmlformats.org/drawingml/2006/main">
            <a:off x="609600" y="58769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The scenarios check fixed-response behavior, supportive tone, grounding and refusals.</a:t>
            </a:r>
          </a:p>
        </p:txBody>
      </p:sp>
    </p:spTree>
    <p:extLst>
      <p:ext uri="{BB962C8B-B14F-4D97-AF65-F5344CB8AC3E}">
        <p14:creationId xmlns:p14="http://schemas.microsoft.com/office/powerpoint/2010/main" val="747703268"/>
      </p:ext>
    </p:extLst>
  </p:cSld>
</p:sld>
</file>

<file path=ppt/slides/slide12.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14B1DFCF-262F-492B-8174-86051F02E46A}"/>
              </a:ext>
            </a:extLst>
          </p:cNvPr>
          <p:cNvCxnSpPr>
            <a:stCxn xmlns:a="http://schemas.openxmlformats.org/drawingml/2006/main" id="17" idx="3"/>
            <a:endCxn xmlns:a="http://schemas.openxmlformats.org/drawingml/2006/main" id="21" idx="1"/>
          </p:cNvCxnSpPr>
          <p:nvPr/>
        </p:nvCxnSpPr>
        <p:spPr>
          <a:xfrm xmlns:a="http://schemas.openxmlformats.org/drawingml/2006/main">
            <a:off x="7419975" y="2914650"/>
            <a:ext cx="1504950"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88686B38-3A14-4370-9BCC-24B7CBC0F125}"/>
              </a:ext>
            </a:extLst>
          </p:cNvPr>
          <p:cNvCxnSpPr>
            <a:stCxn xmlns:a="http://schemas.openxmlformats.org/drawingml/2006/main" id="13" idx="3"/>
            <a:endCxn xmlns:a="http://schemas.openxmlformats.org/drawingml/2006/main" id="17" idx="1"/>
          </p:cNvCxnSpPr>
          <p:nvPr/>
        </p:nvCxnSpPr>
        <p:spPr>
          <a:xfrm xmlns:a="http://schemas.openxmlformats.org/drawingml/2006/main">
            <a:off x="3267075" y="2914650"/>
            <a:ext cx="1504950"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sp>
        <p:nvSpPr>
          <p:cNvPr id="31" name="">
            <a:extLst xmlns:a="http://schemas.openxmlformats.org/drawingml/2006/main">
              <a:ext uri="{FF2B5EF4-FFF2-40B4-BE49-F238E27FC236}">
                <a16:creationId xmlns:a16="http://schemas.microsoft.com/office/drawing/2014/main" id="{932CBE14-F47C-4FE1-B0A2-C4F36F781AEC}"/>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9012BC-3CEB-47BB-8F1A-204D9B847735}"/>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MULTIMODAL INPUT</a:t>
            </a:r>
          </a:p>
        </p:txBody>
      </p:sp>
      <p:sp>
        <p:nvSpPr>
          <p:cNvPr id="3" name="title">
            <a:extLst xmlns:a="http://schemas.openxmlformats.org/drawingml/2006/main">
              <a:ext uri="{FF2B5EF4-FFF2-40B4-BE49-F238E27FC236}">
                <a16:creationId xmlns:a16="http://schemas.microsoft.com/office/drawing/2014/main" id="{B49D3382-75C2-4CE3-A50E-699490DDCFB1}"/>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Camera vision inside the live session</a:t>
            </a:r>
          </a:p>
        </p:txBody>
      </p:sp>
      <p:sp>
        <p:nvSpPr>
          <p:cNvPr id="4" name="">
            <a:extLst xmlns:a="http://schemas.openxmlformats.org/drawingml/2006/main">
              <a:ext uri="{FF2B5EF4-FFF2-40B4-BE49-F238E27FC236}">
                <a16:creationId xmlns:a16="http://schemas.microsoft.com/office/drawing/2014/main" id="{EA257E11-E651-4662-91CB-67D429CC5C89}"/>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6E7D96-C74D-4328-9A13-AABD64FD54AB}"/>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2FF4A6A2-4FF2-408E-9D80-7CED8701E42E}"/>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D6EB843-E75D-4270-B91E-C96B11B92556}"/>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E434B5-9B2E-4DA5-B613-34130752430D}"/>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8135917-E5C5-4EB3-AA6C-60C3D8984BEC}"/>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A41264-860D-4340-98D4-B556FF00EE7B}"/>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AC0DFF-5EE7-4B6B-9478-5428ED9220EF}"/>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4B6926-2B1B-4E7A-9416-CC2560FF3766}"/>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12</a:t>
            </a:r>
          </a:p>
        </p:txBody>
      </p:sp>
      <p:sp>
        <p:nvSpPr>
          <p:cNvPr id="13" name="">
            <a:extLst xmlns:a="http://schemas.openxmlformats.org/drawingml/2006/main">
              <a:ext uri="{FF2B5EF4-FFF2-40B4-BE49-F238E27FC236}">
                <a16:creationId xmlns:a16="http://schemas.microsoft.com/office/drawing/2014/main" id="{1D6E1E8E-B959-48B1-9B27-12E9239E962F}"/>
              </a:ext>
            </a:extLst>
          </p:cNvPr>
          <p:cNvSpPr>
            <a:spLocks xmlns:a="http://schemas.openxmlformats.org/drawingml/2006/main" noGrp="1"/>
          </p:cNvSpPr>
          <p:nvPr/>
        </p:nvSpPr>
        <p:spPr>
          <a:xfrm xmlns:a="http://schemas.openxmlformats.org/drawingml/2006/main">
            <a:off x="609600" y="2162175"/>
            <a:ext cx="2657475" cy="15049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4" name="">
            <a:extLst xmlns:a="http://schemas.openxmlformats.org/drawingml/2006/main">
              <a:ext uri="{FF2B5EF4-FFF2-40B4-BE49-F238E27FC236}">
                <a16:creationId xmlns:a16="http://schemas.microsoft.com/office/drawing/2014/main" id="{82993882-1724-4530-A6BF-00D6946DC8D9}"/>
              </a:ext>
            </a:extLst>
          </p:cNvPr>
          <p:cNvSpPr>
            <a:spLocks xmlns:a="http://schemas.openxmlformats.org/drawingml/2006/main" noGrp="1"/>
          </p:cNvSpPr>
          <p:nvPr/>
        </p:nvSpPr>
        <p:spPr>
          <a:xfrm xmlns:a="http://schemas.openxmlformats.org/drawingml/2006/main">
            <a:off x="609600" y="2162175"/>
            <a:ext cx="47625" cy="1504950"/>
          </a:xfrm>
          <a:prstGeom xmlns:a="http://schemas.openxmlformats.org/drawingml/2006/main" prst="rect">
            <a:avLst/>
          </a:prstGeom>
          <a:solidFill xmlns:a="http://schemas.openxmlformats.org/drawingml/2006/main">
            <a:srgbClr val="E985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CE70498-3BCF-4761-B0E9-1339069B1E58}"/>
              </a:ext>
            </a:extLst>
          </p:cNvPr>
          <p:cNvSpPr>
            <a:spLocks xmlns:a="http://schemas.openxmlformats.org/drawingml/2006/main" noGrp="1"/>
          </p:cNvSpPr>
          <p:nvPr/>
        </p:nvSpPr>
        <p:spPr>
          <a:xfrm xmlns:a="http://schemas.openxmlformats.org/drawingml/2006/main">
            <a:off x="781050" y="23145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Shared camera</a:t>
            </a:r>
          </a:p>
        </p:txBody>
      </p:sp>
      <p:sp>
        <p:nvSpPr>
          <p:cNvPr id="16" name="">
            <a:extLst xmlns:a="http://schemas.openxmlformats.org/drawingml/2006/main">
              <a:ext uri="{FF2B5EF4-FFF2-40B4-BE49-F238E27FC236}">
                <a16:creationId xmlns:a16="http://schemas.microsoft.com/office/drawing/2014/main" id="{0982C002-85D8-427F-BA74-EAA17C8D4328}"/>
              </a:ext>
            </a:extLst>
          </p:cNvPr>
          <p:cNvSpPr>
            <a:spLocks xmlns:a="http://schemas.openxmlformats.org/drawingml/2006/main" noGrp="1"/>
          </p:cNvSpPr>
          <p:nvPr/>
        </p:nvSpPr>
        <p:spPr>
          <a:xfrm xmlns:a="http://schemas.openxmlformats.org/drawingml/2006/main">
            <a:off x="781050" y="2800350"/>
            <a:ext cx="23145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Participant supplies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 video track</a:t>
            </a:r>
          </a:p>
        </p:txBody>
      </p:sp>
      <p:sp>
        <p:nvSpPr>
          <p:cNvPr id="17" name="">
            <a:extLst xmlns:a="http://schemas.openxmlformats.org/drawingml/2006/main">
              <a:ext uri="{FF2B5EF4-FFF2-40B4-BE49-F238E27FC236}">
                <a16:creationId xmlns:a16="http://schemas.microsoft.com/office/drawing/2014/main" id="{35659EFD-F073-43BC-87D3-D4FD5CF54B27}"/>
              </a:ext>
            </a:extLst>
          </p:cNvPr>
          <p:cNvSpPr>
            <a:spLocks xmlns:a="http://schemas.openxmlformats.org/drawingml/2006/main" noGrp="1"/>
          </p:cNvSpPr>
          <p:nvPr/>
        </p:nvSpPr>
        <p:spPr>
          <a:xfrm xmlns:a="http://schemas.openxmlformats.org/drawingml/2006/main">
            <a:off x="4772025" y="2162175"/>
            <a:ext cx="2647950" cy="15049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8" name="">
            <a:extLst xmlns:a="http://schemas.openxmlformats.org/drawingml/2006/main">
              <a:ext uri="{FF2B5EF4-FFF2-40B4-BE49-F238E27FC236}">
                <a16:creationId xmlns:a16="http://schemas.microsoft.com/office/drawing/2014/main" id="{962DDB9D-55CF-407A-946F-C964BEB8839A}"/>
              </a:ext>
            </a:extLst>
          </p:cNvPr>
          <p:cNvSpPr>
            <a:spLocks xmlns:a="http://schemas.openxmlformats.org/drawingml/2006/main" noGrp="1"/>
          </p:cNvSpPr>
          <p:nvPr/>
        </p:nvSpPr>
        <p:spPr>
          <a:xfrm xmlns:a="http://schemas.openxmlformats.org/drawingml/2006/main">
            <a:off x="4772025" y="2162175"/>
            <a:ext cx="47625" cy="1504950"/>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4D78B25-E8CF-4C30-A325-D365D648C5C6}"/>
              </a:ext>
            </a:extLst>
          </p:cNvPr>
          <p:cNvSpPr>
            <a:spLocks xmlns:a="http://schemas.openxmlformats.org/drawingml/2006/main" noGrp="1"/>
          </p:cNvSpPr>
          <p:nvPr/>
        </p:nvSpPr>
        <p:spPr>
          <a:xfrm xmlns:a="http://schemas.openxmlformats.org/drawingml/2006/main">
            <a:off x="4943475" y="2314575"/>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Room input</a:t>
            </a:r>
          </a:p>
        </p:txBody>
      </p:sp>
      <p:sp>
        <p:nvSpPr>
          <p:cNvPr id="20" name="">
            <a:extLst xmlns:a="http://schemas.openxmlformats.org/drawingml/2006/main">
              <a:ext uri="{FF2B5EF4-FFF2-40B4-BE49-F238E27FC236}">
                <a16:creationId xmlns:a16="http://schemas.microsoft.com/office/drawing/2014/main" id="{6B9EADFC-94B1-41CA-98CC-B322704AEDE6}"/>
              </a:ext>
            </a:extLst>
          </p:cNvPr>
          <p:cNvSpPr>
            <a:spLocks xmlns:a="http://schemas.openxmlformats.org/drawingml/2006/main" noGrp="1"/>
          </p:cNvSpPr>
          <p:nvPr/>
        </p:nvSpPr>
        <p:spPr>
          <a:xfrm xmlns:a="http://schemas.openxmlformats.org/drawingml/2006/main">
            <a:off x="4943475" y="2800350"/>
            <a:ext cx="2305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LiveKit receives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session video</a:t>
            </a:r>
          </a:p>
        </p:txBody>
      </p:sp>
      <p:sp>
        <p:nvSpPr>
          <p:cNvPr id="21" name="">
            <a:extLst xmlns:a="http://schemas.openxmlformats.org/drawingml/2006/main">
              <a:ext uri="{FF2B5EF4-FFF2-40B4-BE49-F238E27FC236}">
                <a16:creationId xmlns:a16="http://schemas.microsoft.com/office/drawing/2014/main" id="{37C89E02-09F2-4059-972C-44F746730EDC}"/>
              </a:ext>
            </a:extLst>
          </p:cNvPr>
          <p:cNvSpPr>
            <a:spLocks xmlns:a="http://schemas.openxmlformats.org/drawingml/2006/main" noGrp="1"/>
          </p:cNvSpPr>
          <p:nvPr/>
        </p:nvSpPr>
        <p:spPr>
          <a:xfrm xmlns:a="http://schemas.openxmlformats.org/drawingml/2006/main">
            <a:off x="8924925" y="2162175"/>
            <a:ext cx="2657475" cy="15049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22" name="">
            <a:extLst xmlns:a="http://schemas.openxmlformats.org/drawingml/2006/main">
              <a:ext uri="{FF2B5EF4-FFF2-40B4-BE49-F238E27FC236}">
                <a16:creationId xmlns:a16="http://schemas.microsoft.com/office/drawing/2014/main" id="{6C25F3DB-DE71-47DE-9565-BC5E45BB17A5}"/>
              </a:ext>
            </a:extLst>
          </p:cNvPr>
          <p:cNvSpPr>
            <a:spLocks xmlns:a="http://schemas.openxmlformats.org/drawingml/2006/main" noGrp="1"/>
          </p:cNvSpPr>
          <p:nvPr/>
        </p:nvSpPr>
        <p:spPr>
          <a:xfrm xmlns:a="http://schemas.openxmlformats.org/drawingml/2006/main">
            <a:off x="8924925" y="2162175"/>
            <a:ext cx="47625" cy="1504950"/>
          </a:xfrm>
          <a:prstGeom xmlns:a="http://schemas.openxmlformats.org/drawingml/2006/main" prst="rect">
            <a:avLst/>
          </a:prstGeom>
          <a:solidFill xmlns:a="http://schemas.openxmlformats.org/drawingml/2006/main">
            <a:srgbClr val="B9AA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585EDD9-AAE8-435D-8D22-438A8643BCFC}"/>
              </a:ext>
            </a:extLst>
          </p:cNvPr>
          <p:cNvSpPr>
            <a:spLocks xmlns:a="http://schemas.openxmlformats.org/drawingml/2006/main" noGrp="1"/>
          </p:cNvSpPr>
          <p:nvPr/>
        </p:nvSpPr>
        <p:spPr>
          <a:xfrm xmlns:a="http://schemas.openxmlformats.org/drawingml/2006/main">
            <a:off x="9096375" y="23145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Gemini vision</a:t>
            </a:r>
          </a:p>
        </p:txBody>
      </p:sp>
      <p:sp>
        <p:nvSpPr>
          <p:cNvPr id="24" name="">
            <a:extLst xmlns:a="http://schemas.openxmlformats.org/drawingml/2006/main">
              <a:ext uri="{FF2B5EF4-FFF2-40B4-BE49-F238E27FC236}">
                <a16:creationId xmlns:a16="http://schemas.microsoft.com/office/drawing/2014/main" id="{0473FBE0-4EDC-442C-83E5-58AD1A57AB7C}"/>
              </a:ext>
            </a:extLst>
          </p:cNvPr>
          <p:cNvSpPr>
            <a:spLocks xmlns:a="http://schemas.openxmlformats.org/drawingml/2006/main" noGrp="1"/>
          </p:cNvSpPr>
          <p:nvPr/>
        </p:nvSpPr>
        <p:spPr>
          <a:xfrm xmlns:a="http://schemas.openxmlformats.org/drawingml/2006/main">
            <a:off x="9096375" y="2800350"/>
            <a:ext cx="23145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The model receives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sampled frames</a:t>
            </a:r>
          </a:p>
        </p:txBody>
      </p:sp>
      <p:sp>
        <p:nvSpPr>
          <p:cNvPr id="27" name="">
            <a:extLst xmlns:a="http://schemas.openxmlformats.org/drawingml/2006/main">
              <a:ext uri="{FF2B5EF4-FFF2-40B4-BE49-F238E27FC236}">
                <a16:creationId xmlns:a16="http://schemas.microsoft.com/office/drawing/2014/main" id="{8C5A5CD9-40E4-488E-B4C3-AA348419B66E}"/>
              </a:ext>
            </a:extLst>
          </p:cNvPr>
          <p:cNvSpPr>
            <a:spLocks xmlns:a="http://schemas.openxmlformats.org/drawingml/2006/main" noGrp="1"/>
          </p:cNvSpPr>
          <p:nvPr/>
        </p:nvSpPr>
        <p:spPr>
          <a:xfrm xmlns:a="http://schemas.openxmlformats.org/drawingml/2006/main">
            <a:off x="609600" y="4248150"/>
            <a:ext cx="5334000" cy="1295400"/>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FA0B6E-A7D7-4159-9141-C77FF7749CEA}"/>
              </a:ext>
            </a:extLst>
          </p:cNvPr>
          <p:cNvSpPr>
            <a:spLocks xmlns:a="http://schemas.openxmlformats.org/drawingml/2006/main" noGrp="1"/>
          </p:cNvSpPr>
          <p:nvPr/>
        </p:nvSpPr>
        <p:spPr>
          <a:xfrm xmlns:a="http://schemas.openxmlformats.org/drawingml/2006/main">
            <a:off x="838200" y="4476750"/>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room_io.RoomOptions(</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video_input=True,</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5033B1E7-3BC4-4E67-86C9-B97DB0C6D272}"/>
              </a:ext>
            </a:extLst>
          </p:cNvPr>
          <p:cNvSpPr>
            <a:spLocks xmlns:a="http://schemas.openxmlformats.org/drawingml/2006/main" noGrp="1"/>
          </p:cNvSpPr>
          <p:nvPr/>
        </p:nvSpPr>
        <p:spPr>
          <a:xfrm xmlns:a="http://schemas.openxmlformats.org/drawingml/2006/main">
            <a:off x="6581775" y="4200525"/>
            <a:ext cx="48291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5F1FA"/>
                </a:solidFill>
                <a:latin typeface="Arial"/>
                <a:ea typeface="Arial"/>
                <a:cs typeface="Arial"/>
              </a:defRPr>
            </a:defPPr>
          </a:lstStyle>
          <a:p xmlns:a="http://schemas.openxmlformats.org/drawingml/2006/main">
            <a:pPr algn="l">
              <a:defRPr sz="2175" b="1">
                <a:solidFill>
                  <a:srgbClr val="F5F1FA"/>
                </a:solidFill>
                <a:latin typeface="Arial"/>
                <a:ea typeface="Arial"/>
                <a:cs typeface="Arial"/>
              </a:defRPr>
            </a:pPr>
            <a:r>
              <a:rPr sz="2175" b="1">
                <a:solidFill>
                  <a:srgbClr val="F5F1FA"/>
                </a:solidFill>
                <a:latin typeface="Arial"/>
                <a:ea typeface="Arial"/>
                <a:cs typeface="Arial"/>
              </a:rPr>
              <a:t>Vision uses the model’s media input. It does not appear in the callable tool list.</a:t>
            </a:r>
          </a:p>
        </p:txBody>
      </p:sp>
      <p:sp>
        <p:nvSpPr>
          <p:cNvPr id="30" name="">
            <a:extLst xmlns:a="http://schemas.openxmlformats.org/drawingml/2006/main">
              <a:ext uri="{FF2B5EF4-FFF2-40B4-BE49-F238E27FC236}">
                <a16:creationId xmlns:a16="http://schemas.microsoft.com/office/drawing/2014/main" id="{9AADA7E8-19F0-41E8-B491-8527CB6A213C}"/>
              </a:ext>
            </a:extLst>
          </p:cNvPr>
          <p:cNvSpPr>
            <a:spLocks xmlns:a="http://schemas.openxmlformats.org/drawingml/2006/main" noGrp="1"/>
          </p:cNvSpPr>
          <p:nvPr/>
        </p:nvSpPr>
        <p:spPr>
          <a:xfrm xmlns:a="http://schemas.openxmlformats.org/drawingml/2006/main">
            <a:off x="6581775" y="5314950"/>
            <a:ext cx="48291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0BECE"/>
                </a:solidFill>
                <a:latin typeface="Arial"/>
                <a:ea typeface="Arial"/>
                <a:cs typeface="Arial"/>
              </a:defRPr>
            </a:defPPr>
          </a:lstStyle>
          <a:p xmlns:a="http://schemas.openxmlformats.org/drawingml/2006/main">
            <a:pPr algn="l">
              <a:defRPr sz="1800" b="0">
                <a:solidFill>
                  <a:srgbClr val="C0BECE"/>
                </a:solidFill>
                <a:latin typeface="Arial"/>
                <a:ea typeface="Arial"/>
                <a:cs typeface="Arial"/>
              </a:defRPr>
            </a:pPr>
            <a:r>
              <a:rPr sz="1800" b="0">
                <a:solidFill>
                  <a:srgbClr val="C0BECE"/>
                </a:solidFill>
                <a:latin typeface="Arial"/>
                <a:ea typeface="Arial"/>
                <a:cs typeface="Arial"/>
              </a:rPr>
              <a:t>The participant chooses what to share. The prompt asks Syrus to stay with visible details.</a:t>
            </a:r>
          </a:p>
        </p:txBody>
      </p:sp>
    </p:spTree>
    <p:extLst>
      <p:ext uri="{BB962C8B-B14F-4D97-AF65-F5344CB8AC3E}">
        <p14:creationId xmlns:p14="http://schemas.microsoft.com/office/powerpoint/2010/main" val="1867684113"/>
      </p:ext>
    </p:extLst>
  </p:cSld>
</p:sld>
</file>

<file path=ppt/slides/slide13.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1352FB5-9FDE-4A96-9679-738E4544C2A3}"/>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DEF42C-F17C-4EFC-BA1A-CDD304B137AB}"/>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CALLABLE TOOLS</a:t>
            </a:r>
          </a:p>
        </p:txBody>
      </p:sp>
      <p:sp>
        <p:nvSpPr>
          <p:cNvPr id="3" name="title">
            <a:extLst xmlns:a="http://schemas.openxmlformats.org/drawingml/2006/main">
              <a:ext uri="{FF2B5EF4-FFF2-40B4-BE49-F238E27FC236}">
                <a16:creationId xmlns:a16="http://schemas.microsoft.com/office/drawing/2014/main" id="{6DCC54EA-FCDC-483E-87FA-DC631CF1311B}"/>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Function calling connects the model to APIs</a:t>
            </a:r>
          </a:p>
        </p:txBody>
      </p:sp>
      <p:sp>
        <p:nvSpPr>
          <p:cNvPr id="4" name="">
            <a:extLst xmlns:a="http://schemas.openxmlformats.org/drawingml/2006/main">
              <a:ext uri="{FF2B5EF4-FFF2-40B4-BE49-F238E27FC236}">
                <a16:creationId xmlns:a16="http://schemas.microsoft.com/office/drawing/2014/main" id="{8D4D9655-5D1E-4EC2-8E67-4FCCD7BDBC42}"/>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43DF54-0F73-430E-913C-D7827B3B9F08}"/>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BE9581B8-6090-41E7-9838-61EB242A8C33}"/>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F1AB7F-DDCC-41C4-8461-BCB4E4F2A055}"/>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6DCB8F-3F5B-4F08-A163-C7A5B4AD724E}"/>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D232F35-1A1C-493B-9C22-56F0414939F7}"/>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EEE704-9F5D-4F54-9986-5D8E6A0800BF}"/>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53E19A-2B17-44EB-88B9-A8E18CFC43A5}"/>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A93947-BB8A-4161-8196-4779081DDD1C}"/>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13</a:t>
            </a:r>
          </a:p>
        </p:txBody>
      </p:sp>
      <p:sp>
        <p:nvSpPr>
          <p:cNvPr id="13" name="">
            <a:extLst xmlns:a="http://schemas.openxmlformats.org/drawingml/2006/main">
              <a:ext uri="{FF2B5EF4-FFF2-40B4-BE49-F238E27FC236}">
                <a16:creationId xmlns:a16="http://schemas.microsoft.com/office/drawing/2014/main" id="{3C68315E-DEE4-489D-95D0-124E8757B0CD}"/>
              </a:ext>
            </a:extLst>
          </p:cNvPr>
          <p:cNvSpPr>
            <a:spLocks xmlns:a="http://schemas.openxmlformats.org/drawingml/2006/main" noGrp="1"/>
          </p:cNvSpPr>
          <p:nvPr/>
        </p:nvSpPr>
        <p:spPr>
          <a:xfrm xmlns:a="http://schemas.openxmlformats.org/drawingml/2006/main">
            <a:off x="609600" y="1933575"/>
            <a:ext cx="66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0BECE"/>
                </a:solidFill>
                <a:latin typeface="Arial"/>
                <a:ea typeface="Arial"/>
                <a:cs typeface="Arial"/>
              </a:defRPr>
            </a:defPPr>
          </a:lstStyle>
          <a:p xmlns:a="http://schemas.openxmlformats.org/drawingml/2006/main">
            <a:pPr algn="l">
              <a:defRPr sz="3225" b="1">
                <a:solidFill>
                  <a:srgbClr val="C0BECE"/>
                </a:solidFill>
                <a:latin typeface="Arial"/>
                <a:ea typeface="Arial"/>
                <a:cs typeface="Arial"/>
              </a:defRPr>
            </a:pPr>
            <a:r>
              <a:rPr sz="3225" b="1">
                <a:solidFill>
                  <a:srgbClr val="C0BECE"/>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10E845F3-618C-4106-9112-3658898F9709}"/>
              </a:ext>
            </a:extLst>
          </p:cNvPr>
          <p:cNvSpPr>
            <a:spLocks xmlns:a="http://schemas.openxmlformats.org/drawingml/2006/main" noGrp="1"/>
          </p:cNvSpPr>
          <p:nvPr/>
        </p:nvSpPr>
        <p:spPr>
          <a:xfrm xmlns:a="http://schemas.openxmlformats.org/drawingml/2006/main">
            <a:off x="1495425" y="1971675"/>
            <a:ext cx="2200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Describe</a:t>
            </a:r>
          </a:p>
        </p:txBody>
      </p:sp>
      <p:sp>
        <p:nvSpPr>
          <p:cNvPr id="15" name="">
            <a:extLst xmlns:a="http://schemas.openxmlformats.org/drawingml/2006/main">
              <a:ext uri="{FF2B5EF4-FFF2-40B4-BE49-F238E27FC236}">
                <a16:creationId xmlns:a16="http://schemas.microsoft.com/office/drawing/2014/main" id="{466535CB-238E-40B1-9E09-B7B1C7B05FE3}"/>
              </a:ext>
            </a:extLst>
          </p:cNvPr>
          <p:cNvSpPr>
            <a:spLocks xmlns:a="http://schemas.openxmlformats.org/drawingml/2006/main" noGrp="1"/>
          </p:cNvSpPr>
          <p:nvPr/>
        </p:nvSpPr>
        <p:spPr>
          <a:xfrm xmlns:a="http://schemas.openxmlformats.org/drawingml/2006/main">
            <a:off x="3952875" y="197167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Python exposes a typed function and its docstring.</a:t>
            </a:r>
          </a:p>
        </p:txBody>
      </p:sp>
      <p:sp>
        <p:nvSpPr>
          <p:cNvPr id="16" name="">
            <a:extLst xmlns:a="http://schemas.openxmlformats.org/drawingml/2006/main">
              <a:ext uri="{FF2B5EF4-FFF2-40B4-BE49-F238E27FC236}">
                <a16:creationId xmlns:a16="http://schemas.microsoft.com/office/drawing/2014/main" id="{38508B3C-AE57-45C2-B265-2BFCAECB6ECD}"/>
              </a:ext>
            </a:extLst>
          </p:cNvPr>
          <p:cNvSpPr>
            <a:spLocks xmlns:a="http://schemas.openxmlformats.org/drawingml/2006/main" noGrp="1"/>
          </p:cNvSpPr>
          <p:nvPr/>
        </p:nvSpPr>
        <p:spPr>
          <a:xfrm xmlns:a="http://schemas.openxmlformats.org/drawingml/2006/main">
            <a:off x="609600" y="2886075"/>
            <a:ext cx="66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0BECE"/>
                </a:solidFill>
                <a:latin typeface="Arial"/>
                <a:ea typeface="Arial"/>
                <a:cs typeface="Arial"/>
              </a:defRPr>
            </a:defPPr>
          </a:lstStyle>
          <a:p xmlns:a="http://schemas.openxmlformats.org/drawingml/2006/main">
            <a:pPr algn="l">
              <a:defRPr sz="3225" b="1">
                <a:solidFill>
                  <a:srgbClr val="C0BECE"/>
                </a:solidFill>
                <a:latin typeface="Arial"/>
                <a:ea typeface="Arial"/>
                <a:cs typeface="Arial"/>
              </a:defRPr>
            </a:pPr>
            <a:r>
              <a:rPr sz="3225" b="1">
                <a:solidFill>
                  <a:srgbClr val="C0BECE"/>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C8A9805D-1D50-4817-84C1-90B371BFA518}"/>
              </a:ext>
            </a:extLst>
          </p:cNvPr>
          <p:cNvSpPr>
            <a:spLocks xmlns:a="http://schemas.openxmlformats.org/drawingml/2006/main" noGrp="1"/>
          </p:cNvSpPr>
          <p:nvPr/>
        </p:nvSpPr>
        <p:spPr>
          <a:xfrm xmlns:a="http://schemas.openxmlformats.org/drawingml/2006/main">
            <a:off x="1495425" y="2924175"/>
            <a:ext cx="2200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Select</a:t>
            </a:r>
          </a:p>
        </p:txBody>
      </p:sp>
      <p:sp>
        <p:nvSpPr>
          <p:cNvPr id="18" name="">
            <a:extLst xmlns:a="http://schemas.openxmlformats.org/drawingml/2006/main">
              <a:ext uri="{FF2B5EF4-FFF2-40B4-BE49-F238E27FC236}">
                <a16:creationId xmlns:a16="http://schemas.microsoft.com/office/drawing/2014/main" id="{B8DD97F3-FB27-454E-9526-34EFB659DBCD}"/>
              </a:ext>
            </a:extLst>
          </p:cNvPr>
          <p:cNvSpPr>
            <a:spLocks xmlns:a="http://schemas.openxmlformats.org/drawingml/2006/main" noGrp="1"/>
          </p:cNvSpPr>
          <p:nvPr/>
        </p:nvSpPr>
        <p:spPr>
          <a:xfrm xmlns:a="http://schemas.openxmlformats.org/drawingml/2006/main">
            <a:off x="3952875" y="292417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The model chooses a function and supplies arguments.</a:t>
            </a:r>
          </a:p>
        </p:txBody>
      </p:sp>
      <p:sp>
        <p:nvSpPr>
          <p:cNvPr id="19" name="">
            <a:extLst xmlns:a="http://schemas.openxmlformats.org/drawingml/2006/main">
              <a:ext uri="{FF2B5EF4-FFF2-40B4-BE49-F238E27FC236}">
                <a16:creationId xmlns:a16="http://schemas.microsoft.com/office/drawing/2014/main" id="{95736B61-0358-45C3-A53B-4F945A8A292E}"/>
              </a:ext>
            </a:extLst>
          </p:cNvPr>
          <p:cNvSpPr>
            <a:spLocks xmlns:a="http://schemas.openxmlformats.org/drawingml/2006/main" noGrp="1"/>
          </p:cNvSpPr>
          <p:nvPr/>
        </p:nvSpPr>
        <p:spPr>
          <a:xfrm xmlns:a="http://schemas.openxmlformats.org/drawingml/2006/main">
            <a:off x="609600" y="3838575"/>
            <a:ext cx="66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0BECE"/>
                </a:solidFill>
                <a:latin typeface="Arial"/>
                <a:ea typeface="Arial"/>
                <a:cs typeface="Arial"/>
              </a:defRPr>
            </a:defPPr>
          </a:lstStyle>
          <a:p xmlns:a="http://schemas.openxmlformats.org/drawingml/2006/main">
            <a:pPr algn="l">
              <a:defRPr sz="3225" b="1">
                <a:solidFill>
                  <a:srgbClr val="C0BECE"/>
                </a:solidFill>
                <a:latin typeface="Arial"/>
                <a:ea typeface="Arial"/>
                <a:cs typeface="Arial"/>
              </a:defRPr>
            </a:pPr>
            <a:r>
              <a:rPr sz="3225" b="1">
                <a:solidFill>
                  <a:srgbClr val="C0BECE"/>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7B4FBDB3-F881-43C6-8043-E0148BB0F34E}"/>
              </a:ext>
            </a:extLst>
          </p:cNvPr>
          <p:cNvSpPr>
            <a:spLocks xmlns:a="http://schemas.openxmlformats.org/drawingml/2006/main" noGrp="1"/>
          </p:cNvSpPr>
          <p:nvPr/>
        </p:nvSpPr>
        <p:spPr>
          <a:xfrm xmlns:a="http://schemas.openxmlformats.org/drawingml/2006/main">
            <a:off x="1495425" y="3876675"/>
            <a:ext cx="2200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Execute</a:t>
            </a:r>
          </a:p>
        </p:txBody>
      </p:sp>
      <p:sp>
        <p:nvSpPr>
          <p:cNvPr id="21" name="">
            <a:extLst xmlns:a="http://schemas.openxmlformats.org/drawingml/2006/main">
              <a:ext uri="{FF2B5EF4-FFF2-40B4-BE49-F238E27FC236}">
                <a16:creationId xmlns:a16="http://schemas.microsoft.com/office/drawing/2014/main" id="{6D3E28F0-A296-4615-BDD0-547C8E8E4F21}"/>
              </a:ext>
            </a:extLst>
          </p:cNvPr>
          <p:cNvSpPr>
            <a:spLocks xmlns:a="http://schemas.openxmlformats.org/drawingml/2006/main" noGrp="1"/>
          </p:cNvSpPr>
          <p:nvPr/>
        </p:nvSpPr>
        <p:spPr>
          <a:xfrm xmlns:a="http://schemas.openxmlformats.org/drawingml/2006/main">
            <a:off x="3952875" y="387667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The worker validates input and calls the external service.</a:t>
            </a:r>
          </a:p>
        </p:txBody>
      </p:sp>
      <p:sp>
        <p:nvSpPr>
          <p:cNvPr id="22" name="">
            <a:extLst xmlns:a="http://schemas.openxmlformats.org/drawingml/2006/main">
              <a:ext uri="{FF2B5EF4-FFF2-40B4-BE49-F238E27FC236}">
                <a16:creationId xmlns:a16="http://schemas.microsoft.com/office/drawing/2014/main" id="{3B4077BD-C182-4F0F-BEDC-26F8622FA271}"/>
              </a:ext>
            </a:extLst>
          </p:cNvPr>
          <p:cNvSpPr>
            <a:spLocks xmlns:a="http://schemas.openxmlformats.org/drawingml/2006/main" noGrp="1"/>
          </p:cNvSpPr>
          <p:nvPr/>
        </p:nvSpPr>
        <p:spPr>
          <a:xfrm xmlns:a="http://schemas.openxmlformats.org/drawingml/2006/main">
            <a:off x="609600" y="4791075"/>
            <a:ext cx="666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0BECE"/>
                </a:solidFill>
                <a:latin typeface="Arial"/>
                <a:ea typeface="Arial"/>
                <a:cs typeface="Arial"/>
              </a:defRPr>
            </a:defPPr>
          </a:lstStyle>
          <a:p xmlns:a="http://schemas.openxmlformats.org/drawingml/2006/main">
            <a:pPr algn="l">
              <a:defRPr sz="3225" b="1">
                <a:solidFill>
                  <a:srgbClr val="C0BECE"/>
                </a:solidFill>
                <a:latin typeface="Arial"/>
                <a:ea typeface="Arial"/>
                <a:cs typeface="Arial"/>
              </a:defRPr>
            </a:pPr>
            <a:r>
              <a:rPr sz="3225" b="1">
                <a:solidFill>
                  <a:srgbClr val="C0BECE"/>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0AEDDEE2-F9C3-43CF-AF0D-BC1807F814A1}"/>
              </a:ext>
            </a:extLst>
          </p:cNvPr>
          <p:cNvSpPr>
            <a:spLocks xmlns:a="http://schemas.openxmlformats.org/drawingml/2006/main" noGrp="1"/>
          </p:cNvSpPr>
          <p:nvPr/>
        </p:nvSpPr>
        <p:spPr>
          <a:xfrm xmlns:a="http://schemas.openxmlformats.org/drawingml/2006/main">
            <a:off x="1495425" y="4829175"/>
            <a:ext cx="2200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Respond</a:t>
            </a:r>
          </a:p>
        </p:txBody>
      </p:sp>
      <p:sp>
        <p:nvSpPr>
          <p:cNvPr id="24" name="">
            <a:extLst xmlns:a="http://schemas.openxmlformats.org/drawingml/2006/main">
              <a:ext uri="{FF2B5EF4-FFF2-40B4-BE49-F238E27FC236}">
                <a16:creationId xmlns:a16="http://schemas.microsoft.com/office/drawing/2014/main" id="{765D31C6-CF04-4A28-A4C8-0708F4580110}"/>
              </a:ext>
            </a:extLst>
          </p:cNvPr>
          <p:cNvSpPr>
            <a:spLocks xmlns:a="http://schemas.openxmlformats.org/drawingml/2006/main" noGrp="1"/>
          </p:cNvSpPr>
          <p:nvPr/>
        </p:nvSpPr>
        <p:spPr>
          <a:xfrm xmlns:a="http://schemas.openxmlformats.org/drawingml/2006/main">
            <a:off x="3952875" y="4829175"/>
            <a:ext cx="7429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The model turns the returned data into a spoken answer.</a:t>
            </a:r>
          </a:p>
        </p:txBody>
      </p:sp>
      <p:sp>
        <p:nvSpPr>
          <p:cNvPr id="25" name="">
            <a:extLst xmlns:a="http://schemas.openxmlformats.org/drawingml/2006/main">
              <a:ext uri="{FF2B5EF4-FFF2-40B4-BE49-F238E27FC236}">
                <a16:creationId xmlns:a16="http://schemas.microsoft.com/office/drawing/2014/main" id="{C9BD1DE9-2236-4BD2-B9D4-C4315C11770F}"/>
              </a:ext>
            </a:extLst>
          </p:cNvPr>
          <p:cNvSpPr>
            <a:spLocks xmlns:a="http://schemas.openxmlformats.org/drawingml/2006/main" noGrp="1"/>
          </p:cNvSpPr>
          <p:nvPr/>
        </p:nvSpPr>
        <p:spPr>
          <a:xfrm xmlns:a="http://schemas.openxmlformats.org/drawingml/2006/main">
            <a:off x="609600" y="59245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Registered functions: search_the_web, get_weather and define_word</a:t>
            </a:r>
          </a:p>
        </p:txBody>
      </p:sp>
    </p:spTree>
    <p:extLst>
      <p:ext uri="{BB962C8B-B14F-4D97-AF65-F5344CB8AC3E}">
        <p14:creationId xmlns:p14="http://schemas.microsoft.com/office/powerpoint/2010/main" val="755821277"/>
      </p:ext>
    </p:extLst>
  </p:cSld>
</p:sld>
</file>

<file path=ppt/slides/slide14.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3A40AD5-F493-4102-8AA9-E42A631E928D}"/>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A18CB0F-8071-41BB-B11A-A6EEFC33D1F3}"/>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SRC/TOOLS.PY</a:t>
            </a:r>
          </a:p>
        </p:txBody>
      </p:sp>
      <p:sp>
        <p:nvSpPr>
          <p:cNvPr id="3" name="title">
            <a:extLst xmlns:a="http://schemas.openxmlformats.org/drawingml/2006/main">
              <a:ext uri="{FF2B5EF4-FFF2-40B4-BE49-F238E27FC236}">
                <a16:creationId xmlns:a16="http://schemas.microsoft.com/office/drawing/2014/main" id="{9733DE4F-8D75-4D7D-8B68-E419B21F6161}"/>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Web-search implementation</a:t>
            </a:r>
          </a:p>
        </p:txBody>
      </p:sp>
      <p:sp>
        <p:nvSpPr>
          <p:cNvPr id="4" name="">
            <a:extLst xmlns:a="http://schemas.openxmlformats.org/drawingml/2006/main">
              <a:ext uri="{FF2B5EF4-FFF2-40B4-BE49-F238E27FC236}">
                <a16:creationId xmlns:a16="http://schemas.microsoft.com/office/drawing/2014/main" id="{A8D5C22D-A891-4190-BD19-54BAB8CA5C57}"/>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E0E4FA-FEC6-4C72-A5D7-3BB6B9A8263C}"/>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EC4661A7-86F6-40AB-9271-661E484DC01D}"/>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1D39FB-A369-417E-98D8-5DC8E1D00693}"/>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D27A0FB-CAFC-430A-B3E0-B7FEB3D2657E}"/>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6EAA917-5C3D-4FD4-87D8-E177C79D3C50}"/>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9F8721-2F5E-4A1A-BB0C-5E4907B9A97F}"/>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969C9C5-A72A-4F6C-9993-8AACE44CD81C}"/>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38401F-2B1E-4276-A88B-188AE8F415FC}"/>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14</a:t>
            </a:r>
          </a:p>
        </p:txBody>
      </p:sp>
      <p:sp>
        <p:nvSpPr>
          <p:cNvPr id="13" name="">
            <a:extLst xmlns:a="http://schemas.openxmlformats.org/drawingml/2006/main">
              <a:ext uri="{FF2B5EF4-FFF2-40B4-BE49-F238E27FC236}">
                <a16:creationId xmlns:a16="http://schemas.microsoft.com/office/drawing/2014/main" id="{1B16B4A0-FCCA-40AD-987A-F9C8F55791D5}"/>
              </a:ext>
            </a:extLst>
          </p:cNvPr>
          <p:cNvSpPr>
            <a:spLocks xmlns:a="http://schemas.openxmlformats.org/drawingml/2006/main" noGrp="1"/>
          </p:cNvSpPr>
          <p:nvPr/>
        </p:nvSpPr>
        <p:spPr>
          <a:xfrm xmlns:a="http://schemas.openxmlformats.org/drawingml/2006/main">
            <a:off x="609600" y="1962150"/>
            <a:ext cx="6772275" cy="2857500"/>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8450CA-E912-4F19-84D0-EFE57296AC38}"/>
              </a:ext>
            </a:extLst>
          </p:cNvPr>
          <p:cNvSpPr>
            <a:spLocks xmlns:a="http://schemas.openxmlformats.org/drawingml/2006/main" noGrp="1"/>
          </p:cNvSpPr>
          <p:nvPr/>
        </p:nvSpPr>
        <p:spPr>
          <a:xfrm xmlns:a="http://schemas.openxmlformats.org/drawingml/2006/main">
            <a:off x="838200" y="2190750"/>
            <a:ext cx="6315075"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@function_tool()</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async def search_the_web(self, context, query):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query = query.strip()</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if not query: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raise ToolError("Please provide a search query.")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return await asyncio.to_thread(</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lambda: DDGS().text(query, max_results=5)</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    )</a:t>
            </a:r>
          </a:p>
        </p:txBody>
      </p:sp>
      <p:sp>
        <p:nvSpPr>
          <p:cNvPr id="15" name="">
            <a:extLst xmlns:a="http://schemas.openxmlformats.org/drawingml/2006/main">
              <a:ext uri="{FF2B5EF4-FFF2-40B4-BE49-F238E27FC236}">
                <a16:creationId xmlns:a16="http://schemas.microsoft.com/office/drawing/2014/main" id="{91CA4717-EE39-4DED-ABE3-204E68126C2E}"/>
              </a:ext>
            </a:extLst>
          </p:cNvPr>
          <p:cNvSpPr>
            <a:spLocks xmlns:a="http://schemas.openxmlformats.org/drawingml/2006/main" noGrp="1"/>
          </p:cNvSpPr>
          <p:nvPr/>
        </p:nvSpPr>
        <p:spPr>
          <a:xfrm xmlns:a="http://schemas.openxmlformats.org/drawingml/2006/main">
            <a:off x="7858125" y="1924050"/>
            <a:ext cx="3552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Small result set</a:t>
            </a:r>
          </a:p>
        </p:txBody>
      </p:sp>
      <p:sp>
        <p:nvSpPr>
          <p:cNvPr id="16" name="">
            <a:extLst xmlns:a="http://schemas.openxmlformats.org/drawingml/2006/main">
              <a:ext uri="{FF2B5EF4-FFF2-40B4-BE49-F238E27FC236}">
                <a16:creationId xmlns:a16="http://schemas.microsoft.com/office/drawing/2014/main" id="{E742F698-E08F-4518-A49C-87E95BB05149}"/>
              </a:ext>
            </a:extLst>
          </p:cNvPr>
          <p:cNvSpPr>
            <a:spLocks xmlns:a="http://schemas.openxmlformats.org/drawingml/2006/main" noGrp="1"/>
          </p:cNvSpPr>
          <p:nvPr/>
        </p:nvSpPr>
        <p:spPr>
          <a:xfrm xmlns:a="http://schemas.openxmlformats.org/drawingml/2006/main">
            <a:off x="7858125" y="2266950"/>
            <a:ext cx="35528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Requests five results to keep context focused.</a:t>
            </a:r>
          </a:p>
        </p:txBody>
      </p:sp>
      <p:sp>
        <p:nvSpPr>
          <p:cNvPr id="17" name="">
            <a:extLst xmlns:a="http://schemas.openxmlformats.org/drawingml/2006/main">
              <a:ext uri="{FF2B5EF4-FFF2-40B4-BE49-F238E27FC236}">
                <a16:creationId xmlns:a16="http://schemas.microsoft.com/office/drawing/2014/main" id="{24A4B311-FB41-4CAB-804B-C8D4DDE5A8D7}"/>
              </a:ext>
            </a:extLst>
          </p:cNvPr>
          <p:cNvSpPr>
            <a:spLocks xmlns:a="http://schemas.openxmlformats.org/drawingml/2006/main" noGrp="1"/>
          </p:cNvSpPr>
          <p:nvPr/>
        </p:nvSpPr>
        <p:spPr>
          <a:xfrm xmlns:a="http://schemas.openxmlformats.org/drawingml/2006/main">
            <a:off x="7858125" y="3095625"/>
            <a:ext cx="3552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Async wrapper</a:t>
            </a:r>
          </a:p>
        </p:txBody>
      </p:sp>
      <p:sp>
        <p:nvSpPr>
          <p:cNvPr id="18" name="">
            <a:extLst xmlns:a="http://schemas.openxmlformats.org/drawingml/2006/main">
              <a:ext uri="{FF2B5EF4-FFF2-40B4-BE49-F238E27FC236}">
                <a16:creationId xmlns:a16="http://schemas.microsoft.com/office/drawing/2014/main" id="{5DB24B66-F965-46D1-8A9F-F8F785D95B66}"/>
              </a:ext>
            </a:extLst>
          </p:cNvPr>
          <p:cNvSpPr>
            <a:spLocks xmlns:a="http://schemas.openxmlformats.org/drawingml/2006/main" noGrp="1"/>
          </p:cNvSpPr>
          <p:nvPr/>
        </p:nvSpPr>
        <p:spPr>
          <a:xfrm xmlns:a="http://schemas.openxmlformats.org/drawingml/2006/main">
            <a:off x="7858125" y="3438525"/>
            <a:ext cx="35528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A thread runs the blocking DDGS call.</a:t>
            </a:r>
          </a:p>
        </p:txBody>
      </p:sp>
      <p:sp>
        <p:nvSpPr>
          <p:cNvPr id="19" name="">
            <a:extLst xmlns:a="http://schemas.openxmlformats.org/drawingml/2006/main">
              <a:ext uri="{FF2B5EF4-FFF2-40B4-BE49-F238E27FC236}">
                <a16:creationId xmlns:a16="http://schemas.microsoft.com/office/drawing/2014/main" id="{5EFA31F6-39C3-4A52-9043-877812954AA6}"/>
              </a:ext>
            </a:extLst>
          </p:cNvPr>
          <p:cNvSpPr>
            <a:spLocks xmlns:a="http://schemas.openxmlformats.org/drawingml/2006/main" noGrp="1"/>
          </p:cNvSpPr>
          <p:nvPr/>
        </p:nvSpPr>
        <p:spPr>
          <a:xfrm xmlns:a="http://schemas.openxmlformats.org/drawingml/2006/main">
            <a:off x="7858125" y="4267200"/>
            <a:ext cx="3552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75CDBB"/>
                </a:solidFill>
                <a:latin typeface="Arial"/>
                <a:ea typeface="Arial"/>
                <a:cs typeface="Arial"/>
              </a:defRPr>
            </a:defPPr>
          </a:lstStyle>
          <a:p xmlns:a="http://schemas.openxmlformats.org/drawingml/2006/main">
            <a:pPr algn="l">
              <a:defRPr sz="1725" b="1">
                <a:solidFill>
                  <a:srgbClr val="75CDBB"/>
                </a:solidFill>
                <a:latin typeface="Arial"/>
                <a:ea typeface="Arial"/>
                <a:cs typeface="Arial"/>
              </a:defRPr>
            </a:pPr>
            <a:r>
              <a:rPr sz="1725" b="1">
                <a:solidFill>
                  <a:srgbClr val="75CDBB"/>
                </a:solidFill>
                <a:latin typeface="Arial"/>
                <a:ea typeface="Arial"/>
                <a:cs typeface="Arial"/>
              </a:rPr>
              <a:t>Result fields</a:t>
            </a:r>
          </a:p>
        </p:txBody>
      </p:sp>
      <p:sp>
        <p:nvSpPr>
          <p:cNvPr id="20" name="">
            <a:extLst xmlns:a="http://schemas.openxmlformats.org/drawingml/2006/main">
              <a:ext uri="{FF2B5EF4-FFF2-40B4-BE49-F238E27FC236}">
                <a16:creationId xmlns:a16="http://schemas.microsoft.com/office/drawing/2014/main" id="{EF88A9AB-A192-4CB6-9F5D-43B51C9E6C93}"/>
              </a:ext>
            </a:extLst>
          </p:cNvPr>
          <p:cNvSpPr>
            <a:spLocks xmlns:a="http://schemas.openxmlformats.org/drawingml/2006/main" noGrp="1"/>
          </p:cNvSpPr>
          <p:nvPr/>
        </p:nvSpPr>
        <p:spPr>
          <a:xfrm xmlns:a="http://schemas.openxmlformats.org/drawingml/2006/main">
            <a:off x="7858125" y="4610100"/>
            <a:ext cx="35528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5C3D1"/>
                </a:solidFill>
                <a:latin typeface="Arial"/>
                <a:ea typeface="Arial"/>
                <a:cs typeface="Arial"/>
              </a:defRPr>
            </a:defPPr>
          </a:lstStyle>
          <a:p xmlns:a="http://schemas.openxmlformats.org/drawingml/2006/main">
            <a:pPr algn="l">
              <a:defRPr sz="1725" b="0">
                <a:solidFill>
                  <a:srgbClr val="C5C3D1"/>
                </a:solidFill>
                <a:latin typeface="Arial"/>
                <a:ea typeface="Arial"/>
                <a:cs typeface="Arial"/>
              </a:defRPr>
            </a:pPr>
            <a:r>
              <a:rPr sz="1725" b="0">
                <a:solidFill>
                  <a:srgbClr val="C5C3D1"/>
                </a:solidFill>
                <a:latin typeface="Arial"/>
                <a:ea typeface="Arial"/>
                <a:cs typeface="Arial"/>
              </a:rPr>
              <a:t>Titles, links and snippets support a short summary.</a:t>
            </a:r>
          </a:p>
        </p:txBody>
      </p:sp>
      <p:sp>
        <p:nvSpPr>
          <p:cNvPr id="21" name="">
            <a:extLst xmlns:a="http://schemas.openxmlformats.org/drawingml/2006/main">
              <a:ext uri="{FF2B5EF4-FFF2-40B4-BE49-F238E27FC236}">
                <a16:creationId xmlns:a16="http://schemas.microsoft.com/office/drawing/2014/main" id="{A7E748FD-1895-412A-8550-1063A00F390C}"/>
              </a:ext>
            </a:extLst>
          </p:cNvPr>
          <p:cNvSpPr>
            <a:spLocks xmlns:a="http://schemas.openxmlformats.org/drawingml/2006/main" noGrp="1"/>
          </p:cNvSpPr>
          <p:nvPr/>
        </p:nvSpPr>
        <p:spPr>
          <a:xfrm xmlns:a="http://schemas.openxmlformats.org/drawingml/2006/main">
            <a:off x="609600" y="53625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5C3D1"/>
                </a:solidFill>
                <a:latin typeface="Arial"/>
                <a:ea typeface="Arial"/>
                <a:cs typeface="Arial"/>
              </a:defRPr>
            </a:defPPr>
          </a:lstStyle>
          <a:p xmlns:a="http://schemas.openxmlformats.org/drawingml/2006/main">
            <a:pPr algn="l">
              <a:defRPr sz="1875" b="0">
                <a:solidFill>
                  <a:srgbClr val="C5C3D1"/>
                </a:solidFill>
                <a:latin typeface="Arial"/>
                <a:ea typeface="Arial"/>
                <a:cs typeface="Arial"/>
              </a:defRPr>
            </a:pPr>
            <a:r>
              <a:rPr sz="1875" b="0">
                <a:solidFill>
                  <a:srgbClr val="C5C3D1"/>
                </a:solidFill>
                <a:latin typeface="Arial"/>
                <a:ea typeface="Arial"/>
                <a:cs typeface="Arial"/>
              </a:rPr>
              <a:t>DDGS chooses its backend automatically. Search results do not include a full webpage-reading step.</a:t>
            </a:r>
          </a:p>
        </p:txBody>
      </p:sp>
    </p:spTree>
    <p:extLst>
      <p:ext uri="{BB962C8B-B14F-4D97-AF65-F5344CB8AC3E}">
        <p14:creationId xmlns:p14="http://schemas.microsoft.com/office/powerpoint/2010/main" val="1497434421"/>
      </p:ext>
    </p:extLst>
  </p:cSld>
</p:sld>
</file>

<file path=ppt/slides/slide15.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BAAD12B4-EB0C-4EE2-AE28-8542DEBFF4C0}"/>
              </a:ext>
            </a:extLst>
          </p:cNvPr>
          <p:cNvCxnSpPr>
            <a:stCxn xmlns:a="http://schemas.openxmlformats.org/drawingml/2006/main" id="17" idx="3"/>
            <a:endCxn xmlns:a="http://schemas.openxmlformats.org/drawingml/2006/main" id="21" idx="1"/>
          </p:cNvCxnSpPr>
          <p:nvPr/>
        </p:nvCxnSpPr>
        <p:spPr>
          <a:xfrm xmlns:a="http://schemas.openxmlformats.org/drawingml/2006/main">
            <a:off x="7505700" y="2838450"/>
            <a:ext cx="1276350"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cxnSp>
        <p:nvCxnSpPr>
          <p:cNvPr id="25" name="">
            <a:extLst xmlns:a="http://schemas.openxmlformats.org/drawingml/2006/main">
              <a:ext uri="{FF2B5EF4-FFF2-40B4-BE49-F238E27FC236}">
                <a16:creationId xmlns:a16="http://schemas.microsoft.com/office/drawing/2014/main" id="{C7868237-6E50-4D64-9B33-42627AFB2D0E}"/>
              </a:ext>
            </a:extLst>
          </p:cNvPr>
          <p:cNvCxnSpPr>
            <a:stCxn xmlns:a="http://schemas.openxmlformats.org/drawingml/2006/main" id="13" idx="3"/>
            <a:endCxn xmlns:a="http://schemas.openxmlformats.org/drawingml/2006/main" id="17" idx="1"/>
          </p:cNvCxnSpPr>
          <p:nvPr/>
        </p:nvCxnSpPr>
        <p:spPr>
          <a:xfrm xmlns:a="http://schemas.openxmlformats.org/drawingml/2006/main">
            <a:off x="3419475" y="2838450"/>
            <a:ext cx="1276350" cy="0"/>
          </a:xfrm>
          <a:prstGeom xmlns:a="http://schemas.openxmlformats.org/drawingml/2006/main" prst="straightConnector1">
            <a:avLst/>
          </a:prstGeom>
          <a:ln xmlns:a="http://schemas.openxmlformats.org/drawingml/2006/main" w="19050">
            <a:solidFill>
              <a:srgbClr val="C0BECE"/>
            </a:solidFill>
            <a:prstDash val="solid"/>
            <a:tailEnd type="arrow" w="med" len="med"/>
          </a:ln>
        </p:spPr>
      </p:cxnSp>
      <p:sp>
        <p:nvSpPr>
          <p:cNvPr id="32" name="">
            <a:extLst xmlns:a="http://schemas.openxmlformats.org/drawingml/2006/main">
              <a:ext uri="{FF2B5EF4-FFF2-40B4-BE49-F238E27FC236}">
                <a16:creationId xmlns:a16="http://schemas.microsoft.com/office/drawing/2014/main" id="{2FDF4C24-6E47-4CFE-8286-FF0D2DB5D868}"/>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E300C6-525F-417B-93A5-759208CDE631}"/>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SRC/TOOLS.PY</a:t>
            </a:r>
          </a:p>
        </p:txBody>
      </p:sp>
      <p:sp>
        <p:nvSpPr>
          <p:cNvPr id="3" name="title">
            <a:extLst xmlns:a="http://schemas.openxmlformats.org/drawingml/2006/main">
              <a:ext uri="{FF2B5EF4-FFF2-40B4-BE49-F238E27FC236}">
                <a16:creationId xmlns:a16="http://schemas.microsoft.com/office/drawing/2014/main" id="{7965313C-F7F2-4652-BAAB-619112947730}"/>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Weather lookup: location first, forecast second</a:t>
            </a:r>
          </a:p>
        </p:txBody>
      </p:sp>
      <p:sp>
        <p:nvSpPr>
          <p:cNvPr id="4" name="">
            <a:extLst xmlns:a="http://schemas.openxmlformats.org/drawingml/2006/main">
              <a:ext uri="{FF2B5EF4-FFF2-40B4-BE49-F238E27FC236}">
                <a16:creationId xmlns:a16="http://schemas.microsoft.com/office/drawing/2014/main" id="{FD622399-ED0B-42A2-BCF0-442A2B26A61C}"/>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A9134D-CFD3-4562-9D51-4D489E46B06F}"/>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6F6978D8-A3EB-4F10-AAB1-BB5793EDFA96}"/>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24D406-6726-4A39-AD1A-686A7A4036AE}"/>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6EC215-609B-4BB2-9CCF-1885093F0E5D}"/>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4865BF-A8CF-4D24-ACB6-BB6184E4BCBE}"/>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3DE4CD-F6B1-4A46-B070-22D248101EF1}"/>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F5C03DB-3A15-460B-9714-B51A348BA686}"/>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F4F706B-08C6-4E54-92C3-651F61DD7B9E}"/>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15</a:t>
            </a:r>
          </a:p>
        </p:txBody>
      </p:sp>
      <p:sp>
        <p:nvSpPr>
          <p:cNvPr id="13" name="">
            <a:extLst xmlns:a="http://schemas.openxmlformats.org/drawingml/2006/main">
              <a:ext uri="{FF2B5EF4-FFF2-40B4-BE49-F238E27FC236}">
                <a16:creationId xmlns:a16="http://schemas.microsoft.com/office/drawing/2014/main" id="{66A63FF7-7A8E-4518-9AB8-4604FC22AA7B}"/>
              </a:ext>
            </a:extLst>
          </p:cNvPr>
          <p:cNvSpPr>
            <a:spLocks xmlns:a="http://schemas.openxmlformats.org/drawingml/2006/main" noGrp="1"/>
          </p:cNvSpPr>
          <p:nvPr/>
        </p:nvSpPr>
        <p:spPr>
          <a:xfrm xmlns:a="http://schemas.openxmlformats.org/drawingml/2006/main">
            <a:off x="609600" y="2124075"/>
            <a:ext cx="2809875" cy="14287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4" name="">
            <a:extLst xmlns:a="http://schemas.openxmlformats.org/drawingml/2006/main">
              <a:ext uri="{FF2B5EF4-FFF2-40B4-BE49-F238E27FC236}">
                <a16:creationId xmlns:a16="http://schemas.microsoft.com/office/drawing/2014/main" id="{52FD5638-B0A0-40A7-B6C0-E1A8EFB17B02}"/>
              </a:ext>
            </a:extLst>
          </p:cNvPr>
          <p:cNvSpPr>
            <a:spLocks xmlns:a="http://schemas.openxmlformats.org/drawingml/2006/main" noGrp="1"/>
          </p:cNvSpPr>
          <p:nvPr/>
        </p:nvSpPr>
        <p:spPr>
          <a:xfrm xmlns:a="http://schemas.openxmlformats.org/drawingml/2006/main">
            <a:off x="609600" y="2124075"/>
            <a:ext cx="47625" cy="1428750"/>
          </a:xfrm>
          <a:prstGeom xmlns:a="http://schemas.openxmlformats.org/drawingml/2006/main" prst="rect">
            <a:avLst/>
          </a:prstGeom>
          <a:solidFill xmlns:a="http://schemas.openxmlformats.org/drawingml/2006/main">
            <a:srgbClr val="E985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4D68B9-0D67-44B2-9E2C-E37F6B8F3EC9}"/>
              </a:ext>
            </a:extLst>
          </p:cNvPr>
          <p:cNvSpPr>
            <a:spLocks xmlns:a="http://schemas.openxmlformats.org/drawingml/2006/main" noGrp="1"/>
          </p:cNvSpPr>
          <p:nvPr/>
        </p:nvSpPr>
        <p:spPr>
          <a:xfrm xmlns:a="http://schemas.openxmlformats.org/drawingml/2006/main">
            <a:off x="781050" y="2276475"/>
            <a:ext cx="2466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Location text</a:t>
            </a:r>
          </a:p>
        </p:txBody>
      </p:sp>
      <p:sp>
        <p:nvSpPr>
          <p:cNvPr id="16" name="">
            <a:extLst xmlns:a="http://schemas.openxmlformats.org/drawingml/2006/main">
              <a:ext uri="{FF2B5EF4-FFF2-40B4-BE49-F238E27FC236}">
                <a16:creationId xmlns:a16="http://schemas.microsoft.com/office/drawing/2014/main" id="{B91DC9DB-366A-4C41-829A-FC2350E85AB6}"/>
              </a:ext>
            </a:extLst>
          </p:cNvPr>
          <p:cNvSpPr>
            <a:spLocks xmlns:a="http://schemas.openxmlformats.org/drawingml/2006/main" noGrp="1"/>
          </p:cNvSpPr>
          <p:nvPr/>
        </p:nvSpPr>
        <p:spPr>
          <a:xfrm xmlns:a="http://schemas.openxmlformats.org/drawingml/2006/main">
            <a:off x="781050" y="2762250"/>
            <a:ext cx="2466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 city, ideally with</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country or region</a:t>
            </a:r>
          </a:p>
        </p:txBody>
      </p:sp>
      <p:sp>
        <p:nvSpPr>
          <p:cNvPr id="17" name="">
            <a:extLst xmlns:a="http://schemas.openxmlformats.org/drawingml/2006/main">
              <a:ext uri="{FF2B5EF4-FFF2-40B4-BE49-F238E27FC236}">
                <a16:creationId xmlns:a16="http://schemas.microsoft.com/office/drawing/2014/main" id="{1C57E974-CFA0-4AA6-996F-2598BEE41EDC}"/>
              </a:ext>
            </a:extLst>
          </p:cNvPr>
          <p:cNvSpPr>
            <a:spLocks xmlns:a="http://schemas.openxmlformats.org/drawingml/2006/main" noGrp="1"/>
          </p:cNvSpPr>
          <p:nvPr/>
        </p:nvSpPr>
        <p:spPr>
          <a:xfrm xmlns:a="http://schemas.openxmlformats.org/drawingml/2006/main">
            <a:off x="4695825" y="2124075"/>
            <a:ext cx="2809875" cy="14287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18" name="">
            <a:extLst xmlns:a="http://schemas.openxmlformats.org/drawingml/2006/main">
              <a:ext uri="{FF2B5EF4-FFF2-40B4-BE49-F238E27FC236}">
                <a16:creationId xmlns:a16="http://schemas.microsoft.com/office/drawing/2014/main" id="{9EF574ED-F875-4460-845A-17215DA96E7B}"/>
              </a:ext>
            </a:extLst>
          </p:cNvPr>
          <p:cNvSpPr>
            <a:spLocks xmlns:a="http://schemas.openxmlformats.org/drawingml/2006/main" noGrp="1"/>
          </p:cNvSpPr>
          <p:nvPr/>
        </p:nvSpPr>
        <p:spPr>
          <a:xfrm xmlns:a="http://schemas.openxmlformats.org/drawingml/2006/main">
            <a:off x="4695825" y="2124075"/>
            <a:ext cx="47625" cy="1428750"/>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6ECC65A-E924-4493-A9D7-6108DAD078B7}"/>
              </a:ext>
            </a:extLst>
          </p:cNvPr>
          <p:cNvSpPr>
            <a:spLocks xmlns:a="http://schemas.openxmlformats.org/drawingml/2006/main" noGrp="1"/>
          </p:cNvSpPr>
          <p:nvPr/>
        </p:nvSpPr>
        <p:spPr>
          <a:xfrm xmlns:a="http://schemas.openxmlformats.org/drawingml/2006/main">
            <a:off x="4867275" y="2276475"/>
            <a:ext cx="2466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Geocoding</a:t>
            </a:r>
          </a:p>
        </p:txBody>
      </p:sp>
      <p:sp>
        <p:nvSpPr>
          <p:cNvPr id="20" name="">
            <a:extLst xmlns:a="http://schemas.openxmlformats.org/drawingml/2006/main">
              <a:ext uri="{FF2B5EF4-FFF2-40B4-BE49-F238E27FC236}">
                <a16:creationId xmlns:a16="http://schemas.microsoft.com/office/drawing/2014/main" id="{4F8FAD3C-A29D-4C1F-B085-96C1DCCD5B05}"/>
              </a:ext>
            </a:extLst>
          </p:cNvPr>
          <p:cNvSpPr>
            <a:spLocks xmlns:a="http://schemas.openxmlformats.org/drawingml/2006/main" noGrp="1"/>
          </p:cNvSpPr>
          <p:nvPr/>
        </p:nvSpPr>
        <p:spPr>
          <a:xfrm xmlns:a="http://schemas.openxmlformats.org/drawingml/2006/main">
            <a:off x="4867275" y="2762250"/>
            <a:ext cx="24669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Resolve coordinates</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and duplicate names</a:t>
            </a:r>
          </a:p>
        </p:txBody>
      </p:sp>
      <p:sp>
        <p:nvSpPr>
          <p:cNvPr id="21" name="">
            <a:extLst xmlns:a="http://schemas.openxmlformats.org/drawingml/2006/main">
              <a:ext uri="{FF2B5EF4-FFF2-40B4-BE49-F238E27FC236}">
                <a16:creationId xmlns:a16="http://schemas.microsoft.com/office/drawing/2014/main" id="{4E1482C7-2823-4D4B-BAA8-F3CBC70B108B}"/>
              </a:ext>
            </a:extLst>
          </p:cNvPr>
          <p:cNvSpPr>
            <a:spLocks xmlns:a="http://schemas.openxmlformats.org/drawingml/2006/main" noGrp="1"/>
          </p:cNvSpPr>
          <p:nvPr/>
        </p:nvSpPr>
        <p:spPr>
          <a:xfrm xmlns:a="http://schemas.openxmlformats.org/drawingml/2006/main">
            <a:off x="8782050" y="2124075"/>
            <a:ext cx="2800350" cy="1428750"/>
          </a:xfrm>
          <a:prstGeom xmlns:a="http://schemas.openxmlformats.org/drawingml/2006/main" prst="rect">
            <a:avLst/>
          </a:prstGeom>
          <a:solidFill xmlns:a="http://schemas.openxmlformats.org/drawingml/2006/main">
            <a:srgbClr val="26253A"/>
          </a:solidFill>
          <a:ln xmlns:a="http://schemas.openxmlformats.org/drawingml/2006/main" w="14288">
            <a:solidFill>
              <a:srgbClr val="4C4A60"/>
            </a:solidFill>
            <a:prstDash val="solid"/>
          </a:ln>
        </p:spPr>
      </p:sp>
      <p:sp>
        <p:nvSpPr>
          <p:cNvPr id="22" name="">
            <a:extLst xmlns:a="http://schemas.openxmlformats.org/drawingml/2006/main">
              <a:ext uri="{FF2B5EF4-FFF2-40B4-BE49-F238E27FC236}">
                <a16:creationId xmlns:a16="http://schemas.microsoft.com/office/drawing/2014/main" id="{6EF0A4C8-EF2F-4BA0-A8F4-1FF2AB3BBD86}"/>
              </a:ext>
            </a:extLst>
          </p:cNvPr>
          <p:cNvSpPr>
            <a:spLocks xmlns:a="http://schemas.openxmlformats.org/drawingml/2006/main" noGrp="1"/>
          </p:cNvSpPr>
          <p:nvPr/>
        </p:nvSpPr>
        <p:spPr>
          <a:xfrm xmlns:a="http://schemas.openxmlformats.org/drawingml/2006/main">
            <a:off x="8782050" y="2124075"/>
            <a:ext cx="47625" cy="1428750"/>
          </a:xfrm>
          <a:prstGeom xmlns:a="http://schemas.openxmlformats.org/drawingml/2006/main" prst="rect">
            <a:avLst/>
          </a:prstGeom>
          <a:solidFill xmlns:a="http://schemas.openxmlformats.org/drawingml/2006/main">
            <a:srgbClr val="B9AA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AF23FEC-2B23-475C-BECE-A9F6FD9A5338}"/>
              </a:ext>
            </a:extLst>
          </p:cNvPr>
          <p:cNvSpPr>
            <a:spLocks xmlns:a="http://schemas.openxmlformats.org/drawingml/2006/main" noGrp="1"/>
          </p:cNvSpPr>
          <p:nvPr/>
        </p:nvSpPr>
        <p:spPr>
          <a:xfrm xmlns:a="http://schemas.openxmlformats.org/drawingml/2006/main">
            <a:off x="8953500" y="2276475"/>
            <a:ext cx="245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Forecast</a:t>
            </a:r>
          </a:p>
        </p:txBody>
      </p:sp>
      <p:sp>
        <p:nvSpPr>
          <p:cNvPr id="24" name="">
            <a:extLst xmlns:a="http://schemas.openxmlformats.org/drawingml/2006/main">
              <a:ext uri="{FF2B5EF4-FFF2-40B4-BE49-F238E27FC236}">
                <a16:creationId xmlns:a16="http://schemas.microsoft.com/office/drawing/2014/main" id="{29C29109-3550-4020-A0E1-47D84BBE9E0D}"/>
              </a:ext>
            </a:extLst>
          </p:cNvPr>
          <p:cNvSpPr>
            <a:spLocks xmlns:a="http://schemas.openxmlformats.org/drawingml/2006/main" noGrp="1"/>
          </p:cNvSpPr>
          <p:nvPr/>
        </p:nvSpPr>
        <p:spPr>
          <a:xfrm xmlns:a="http://schemas.openxmlformats.org/drawingml/2006/main">
            <a:off x="8953500" y="2762250"/>
            <a:ext cx="2457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Request current</a:t>
            </a:r>
          </a:p>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conditions and today</a:t>
            </a:r>
          </a:p>
        </p:txBody>
      </p:sp>
      <p:sp>
        <p:nvSpPr>
          <p:cNvPr id="27" name="">
            <a:extLst xmlns:a="http://schemas.openxmlformats.org/drawingml/2006/main">
              <a:ext uri="{FF2B5EF4-FFF2-40B4-BE49-F238E27FC236}">
                <a16:creationId xmlns:a16="http://schemas.microsoft.com/office/drawing/2014/main" id="{36DF9DCF-94AF-4F15-BEAB-D60B847D6CA9}"/>
              </a:ext>
            </a:extLst>
          </p:cNvPr>
          <p:cNvSpPr>
            <a:spLocks xmlns:a="http://schemas.openxmlformats.org/drawingml/2006/main" noGrp="1"/>
          </p:cNvSpPr>
          <p:nvPr/>
        </p:nvSpPr>
        <p:spPr>
          <a:xfrm xmlns:a="http://schemas.openxmlformats.org/drawingml/2006/main">
            <a:off x="609600" y="412432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Current conditions</a:t>
            </a:r>
          </a:p>
        </p:txBody>
      </p:sp>
      <p:sp>
        <p:nvSpPr>
          <p:cNvPr id="28" name="">
            <a:extLst xmlns:a="http://schemas.openxmlformats.org/drawingml/2006/main">
              <a:ext uri="{FF2B5EF4-FFF2-40B4-BE49-F238E27FC236}">
                <a16:creationId xmlns:a16="http://schemas.microsoft.com/office/drawing/2014/main" id="{32672644-6BAF-4149-AAB0-BE2A4232668C}"/>
              </a:ext>
            </a:extLst>
          </p:cNvPr>
          <p:cNvSpPr>
            <a:spLocks xmlns:a="http://schemas.openxmlformats.org/drawingml/2006/main" noGrp="1"/>
          </p:cNvSpPr>
          <p:nvPr/>
        </p:nvSpPr>
        <p:spPr>
          <a:xfrm xmlns:a="http://schemas.openxmlformats.org/drawingml/2006/main">
            <a:off x="609600" y="4600575"/>
            <a:ext cx="5105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Temperature, feels-like, humidity, precipitation, wind and a readable weather description.</a:t>
            </a:r>
          </a:p>
        </p:txBody>
      </p:sp>
      <p:sp>
        <p:nvSpPr>
          <p:cNvPr id="29" name="">
            <a:extLst xmlns:a="http://schemas.openxmlformats.org/drawingml/2006/main">
              <a:ext uri="{FF2B5EF4-FFF2-40B4-BE49-F238E27FC236}">
                <a16:creationId xmlns:a16="http://schemas.microsoft.com/office/drawing/2014/main" id="{05369664-0F20-4C69-A761-FCF65D73845B}"/>
              </a:ext>
            </a:extLst>
          </p:cNvPr>
          <p:cNvSpPr>
            <a:spLocks xmlns:a="http://schemas.openxmlformats.org/drawingml/2006/main" noGrp="1"/>
          </p:cNvSpPr>
          <p:nvPr/>
        </p:nvSpPr>
        <p:spPr>
          <a:xfrm xmlns:a="http://schemas.openxmlformats.org/drawingml/2006/main">
            <a:off x="6581775" y="4124325"/>
            <a:ext cx="500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Today’s forecast</a:t>
            </a:r>
          </a:p>
        </p:txBody>
      </p:sp>
      <p:sp>
        <p:nvSpPr>
          <p:cNvPr id="30" name="">
            <a:extLst xmlns:a="http://schemas.openxmlformats.org/drawingml/2006/main">
              <a:ext uri="{FF2B5EF4-FFF2-40B4-BE49-F238E27FC236}">
                <a16:creationId xmlns:a16="http://schemas.microsoft.com/office/drawing/2014/main" id="{35E6F427-65E6-42F4-A707-6BA8165F8F64}"/>
              </a:ext>
            </a:extLst>
          </p:cNvPr>
          <p:cNvSpPr>
            <a:spLocks xmlns:a="http://schemas.openxmlformats.org/drawingml/2006/main" noGrp="1"/>
          </p:cNvSpPr>
          <p:nvPr/>
        </p:nvSpPr>
        <p:spPr>
          <a:xfrm xmlns:a="http://schemas.openxmlformats.org/drawingml/2006/main">
            <a:off x="6581775" y="4600575"/>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High and low temperatures, rain probability and conditions. Celsius and km/h.</a:t>
            </a:r>
          </a:p>
        </p:txBody>
      </p:sp>
      <p:sp>
        <p:nvSpPr>
          <p:cNvPr id="31" name="">
            <a:extLst xmlns:a="http://schemas.openxmlformats.org/drawingml/2006/main">
              <a:ext uri="{FF2B5EF4-FFF2-40B4-BE49-F238E27FC236}">
                <a16:creationId xmlns:a16="http://schemas.microsoft.com/office/drawing/2014/main" id="{B98CCEBB-A357-4951-82DB-DF790663B6E7}"/>
              </a:ext>
            </a:extLst>
          </p:cNvPr>
          <p:cNvSpPr>
            <a:spLocks xmlns:a="http://schemas.openxmlformats.org/drawingml/2006/main" noGrp="1"/>
          </p:cNvSpPr>
          <p:nvPr/>
        </p:nvSpPr>
        <p:spPr>
          <a:xfrm xmlns:a="http://schemas.openxmlformats.org/drawingml/2006/main">
            <a:off x="609600" y="58959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Ambiguous city names trigger clarification. HTTP requests use a twelve-second timeout.</a:t>
            </a:r>
          </a:p>
        </p:txBody>
      </p:sp>
    </p:spTree>
    <p:extLst>
      <p:ext uri="{BB962C8B-B14F-4D97-AF65-F5344CB8AC3E}">
        <p14:creationId xmlns:p14="http://schemas.microsoft.com/office/powerpoint/2010/main" val="1865362485"/>
      </p:ext>
    </p:extLst>
  </p:cSld>
</p:sld>
</file>

<file path=ppt/slides/slide16.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E285D54-80B6-4B45-A5A9-FF7D95FB4285}"/>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0A4096-0F69-4643-8083-7284579DF11B}"/>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SRC/TOOLS.PY</a:t>
            </a:r>
          </a:p>
        </p:txBody>
      </p:sp>
      <p:sp>
        <p:nvSpPr>
          <p:cNvPr id="3" name="title">
            <a:extLst xmlns:a="http://schemas.openxmlformats.org/drawingml/2006/main">
              <a:ext uri="{FF2B5EF4-FFF2-40B4-BE49-F238E27FC236}">
                <a16:creationId xmlns:a16="http://schemas.microsoft.com/office/drawing/2014/main" id="{74C8E6EF-AD8F-42AA-BAE2-05F2CB1143F0}"/>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Dictionary lookup and pronunciation text</a:t>
            </a:r>
          </a:p>
        </p:txBody>
      </p:sp>
      <p:sp>
        <p:nvSpPr>
          <p:cNvPr id="4" name="">
            <a:extLst xmlns:a="http://schemas.openxmlformats.org/drawingml/2006/main">
              <a:ext uri="{FF2B5EF4-FFF2-40B4-BE49-F238E27FC236}">
                <a16:creationId xmlns:a16="http://schemas.microsoft.com/office/drawing/2014/main" id="{CB619CF3-E4FB-4C47-86DC-DED0F125C96B}"/>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BF0499-3D67-408A-8AE8-E75321B38299}"/>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92093C62-BC72-4854-AC8C-15A9E27E326B}"/>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4F3A6A-EA80-4E7E-88EF-A3BD49A88097}"/>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798A1D-FDFC-41B2-91C6-22539E3AF310}"/>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B5673BB-6CF0-458B-AF7D-F769BA4D3304}"/>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B94662-DE33-4EBD-A978-76ABD4285CED}"/>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67DA75-4349-409D-8924-818BF709025F}"/>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253417-F454-4A57-8D7D-49BA68C6D2FF}"/>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16</a:t>
            </a:r>
          </a:p>
        </p:txBody>
      </p:sp>
      <p:sp>
        <p:nvSpPr>
          <p:cNvPr id="13" name="">
            <a:extLst xmlns:a="http://schemas.openxmlformats.org/drawingml/2006/main">
              <a:ext uri="{FF2B5EF4-FFF2-40B4-BE49-F238E27FC236}">
                <a16:creationId xmlns:a16="http://schemas.microsoft.com/office/drawing/2014/main" id="{4B8B0B7F-9F8A-4262-86FE-7AAC0B7E3305}"/>
              </a:ext>
            </a:extLst>
          </p:cNvPr>
          <p:cNvSpPr>
            <a:spLocks xmlns:a="http://schemas.openxmlformats.org/drawingml/2006/main" noGrp="1"/>
          </p:cNvSpPr>
          <p:nvPr/>
        </p:nvSpPr>
        <p:spPr>
          <a:xfrm xmlns:a="http://schemas.openxmlformats.org/drawingml/2006/main">
            <a:off x="609600" y="18859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5F1FA"/>
                </a:solidFill>
                <a:latin typeface="Arial"/>
                <a:ea typeface="Arial"/>
                <a:cs typeface="Arial"/>
              </a:defRPr>
            </a:defPPr>
          </a:lstStyle>
          <a:p xmlns:a="http://schemas.openxmlformats.org/drawingml/2006/main">
            <a:pPr algn="l">
              <a:defRPr sz="2325" b="1">
                <a:solidFill>
                  <a:srgbClr val="F5F1FA"/>
                </a:solidFill>
                <a:latin typeface="Arial"/>
                <a:ea typeface="Arial"/>
                <a:cs typeface="Arial"/>
              </a:defRPr>
            </a:pPr>
            <a:r>
              <a:rPr sz="2325" b="1">
                <a:solidFill>
                  <a:srgbClr val="F5F1FA"/>
                </a:solidFill>
                <a:latin typeface="Arial"/>
                <a:ea typeface="Arial"/>
                <a:cs typeface="Arial"/>
              </a:rPr>
              <a:t>A focused English word lookup</a:t>
            </a:r>
          </a:p>
        </p:txBody>
      </p:sp>
      <p:sp>
        <p:nvSpPr>
          <p:cNvPr id="14" name="">
            <a:extLst xmlns:a="http://schemas.openxmlformats.org/drawingml/2006/main">
              <a:ext uri="{FF2B5EF4-FFF2-40B4-BE49-F238E27FC236}">
                <a16:creationId xmlns:a16="http://schemas.microsoft.com/office/drawing/2014/main" id="{D5EAB38B-D693-477D-861B-63B11F750C1A}"/>
              </a:ext>
            </a:extLst>
          </p:cNvPr>
          <p:cNvSpPr>
            <a:spLocks xmlns:a="http://schemas.openxmlformats.org/drawingml/2006/main" noGrp="1"/>
          </p:cNvSpPr>
          <p:nvPr/>
        </p:nvSpPr>
        <p:spPr>
          <a:xfrm xmlns:a="http://schemas.openxmlformats.org/drawingml/2006/main">
            <a:off x="609600" y="2628900"/>
            <a:ext cx="5410200" cy="2409825"/>
          </a:xfrm>
          <a:prstGeom xmlns:a="http://schemas.openxmlformats.org/drawingml/2006/main" prst="rect">
            <a:avLst/>
          </a:prstGeom>
          <a:solidFill xmlns:a="http://schemas.openxmlformats.org/drawingml/2006/main">
            <a:srgbClr val="302E4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4C9BB52-ECE6-4FED-B354-4247531D342E}"/>
              </a:ext>
            </a:extLst>
          </p:cNvPr>
          <p:cNvSpPr>
            <a:spLocks xmlns:a="http://schemas.openxmlformats.org/drawingml/2006/main" noGrp="1"/>
          </p:cNvSpPr>
          <p:nvPr/>
        </p:nvSpPr>
        <p:spPr>
          <a:xfrm xmlns:a="http://schemas.openxmlformats.org/drawingml/2006/main">
            <a:off x="838200" y="2857500"/>
            <a:ext cx="4953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GET /api/v2/entries/en/{word}</a:t>
            </a:r>
          </a:p>
          <a:p xmlns:a="http://schemas.openxmlformats.org/drawingml/2006/main">
            <a: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"word":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"phonetic":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"meanings":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776176C9-E1EF-44A3-9439-A195C7B4D916}"/>
              </a:ext>
            </a:extLst>
          </p:cNvPr>
          <p:cNvSpPr>
            <a:spLocks xmlns:a="http://schemas.openxmlformats.org/drawingml/2006/main" noGrp="1"/>
          </p:cNvSpPr>
          <p:nvPr/>
        </p:nvSpPr>
        <p:spPr>
          <a:xfrm xmlns:a="http://schemas.openxmlformats.org/drawingml/2006/main">
            <a:off x="6629400" y="2581275"/>
            <a:ext cx="4791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Input handling</a:t>
            </a:r>
          </a:p>
        </p:txBody>
      </p:sp>
      <p:sp>
        <p:nvSpPr>
          <p:cNvPr id="17" name="">
            <a:extLst xmlns:a="http://schemas.openxmlformats.org/drawingml/2006/main">
              <a:ext uri="{FF2B5EF4-FFF2-40B4-BE49-F238E27FC236}">
                <a16:creationId xmlns:a16="http://schemas.microsoft.com/office/drawing/2014/main" id="{5C5E9CE4-0BAF-4E60-97F6-B741BD14D022}"/>
              </a:ext>
            </a:extLst>
          </p:cNvPr>
          <p:cNvSpPr>
            <a:spLocks xmlns:a="http://schemas.openxmlformats.org/drawingml/2006/main" noGrp="1"/>
          </p:cNvSpPr>
          <p:nvPr/>
        </p:nvSpPr>
        <p:spPr>
          <a:xfrm xmlns:a="http://schemas.openxmlformats.org/drawingml/2006/main">
            <a:off x="6629400" y="2924175"/>
            <a:ext cx="47910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Trim whitespace and URL-encode the word.</a:t>
            </a:r>
          </a:p>
        </p:txBody>
      </p:sp>
      <p:sp>
        <p:nvSpPr>
          <p:cNvPr id="18" name="">
            <a:extLst xmlns:a="http://schemas.openxmlformats.org/drawingml/2006/main">
              <a:ext uri="{FF2B5EF4-FFF2-40B4-BE49-F238E27FC236}">
                <a16:creationId xmlns:a16="http://schemas.microsoft.com/office/drawing/2014/main" id="{36041ECC-6E1A-4E8C-983F-C46E8F91ED7B}"/>
              </a:ext>
            </a:extLst>
          </p:cNvPr>
          <p:cNvSpPr>
            <a:spLocks xmlns:a="http://schemas.openxmlformats.org/drawingml/2006/main" noGrp="1"/>
          </p:cNvSpPr>
          <p:nvPr/>
        </p:nvSpPr>
        <p:spPr>
          <a:xfrm xmlns:a="http://schemas.openxmlformats.org/drawingml/2006/main">
            <a:off x="6629400" y="3648075"/>
            <a:ext cx="4791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Compact output</a:t>
            </a:r>
          </a:p>
        </p:txBody>
      </p:sp>
      <p:sp>
        <p:nvSpPr>
          <p:cNvPr id="19" name="">
            <a:extLst xmlns:a="http://schemas.openxmlformats.org/drawingml/2006/main">
              <a:ext uri="{FF2B5EF4-FFF2-40B4-BE49-F238E27FC236}">
                <a16:creationId xmlns:a16="http://schemas.microsoft.com/office/drawing/2014/main" id="{F3695776-6226-4D5E-88BE-B8EDBB8C9D15}"/>
              </a:ext>
            </a:extLst>
          </p:cNvPr>
          <p:cNvSpPr>
            <a:spLocks xmlns:a="http://schemas.openxmlformats.org/drawingml/2006/main" noGrp="1"/>
          </p:cNvSpPr>
          <p:nvPr/>
        </p:nvSpPr>
        <p:spPr>
          <a:xfrm xmlns:a="http://schemas.openxmlformats.org/drawingml/2006/main">
            <a:off x="6629400" y="3990975"/>
            <a:ext cx="47910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Keep up to three meanings and two definitions per meaning.</a:t>
            </a:r>
          </a:p>
        </p:txBody>
      </p:sp>
      <p:sp>
        <p:nvSpPr>
          <p:cNvPr id="20" name="">
            <a:extLst xmlns:a="http://schemas.openxmlformats.org/drawingml/2006/main">
              <a:ext uri="{FF2B5EF4-FFF2-40B4-BE49-F238E27FC236}">
                <a16:creationId xmlns:a16="http://schemas.microsoft.com/office/drawing/2014/main" id="{89671A1C-A2FC-41D5-A283-90D7CBBEF314}"/>
              </a:ext>
            </a:extLst>
          </p:cNvPr>
          <p:cNvSpPr>
            <a:spLocks xmlns:a="http://schemas.openxmlformats.org/drawingml/2006/main" noGrp="1"/>
          </p:cNvSpPr>
          <p:nvPr/>
        </p:nvSpPr>
        <p:spPr>
          <a:xfrm xmlns:a="http://schemas.openxmlformats.org/drawingml/2006/main">
            <a:off x="6629400" y="4714875"/>
            <a:ext cx="4791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Clear failure</a:t>
            </a:r>
          </a:p>
        </p:txBody>
      </p:sp>
      <p:sp>
        <p:nvSpPr>
          <p:cNvPr id="21" name="">
            <a:extLst xmlns:a="http://schemas.openxmlformats.org/drawingml/2006/main">
              <a:ext uri="{FF2B5EF4-FFF2-40B4-BE49-F238E27FC236}">
                <a16:creationId xmlns:a16="http://schemas.microsoft.com/office/drawing/2014/main" id="{EA992230-4549-4AF3-86A5-E590DF41D747}"/>
              </a:ext>
            </a:extLst>
          </p:cNvPr>
          <p:cNvSpPr>
            <a:spLocks xmlns:a="http://schemas.openxmlformats.org/drawingml/2006/main" noGrp="1"/>
          </p:cNvSpPr>
          <p:nvPr/>
        </p:nvSpPr>
        <p:spPr>
          <a:xfrm xmlns:a="http://schemas.openxmlformats.org/drawingml/2006/main">
            <a:off x="6629400" y="5057775"/>
            <a:ext cx="47910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A missing entry produces a useful ToolError.</a:t>
            </a:r>
          </a:p>
        </p:txBody>
      </p:sp>
      <p:sp>
        <p:nvSpPr>
          <p:cNvPr id="22" name="">
            <a:extLst xmlns:a="http://schemas.openxmlformats.org/drawingml/2006/main">
              <a:ext uri="{FF2B5EF4-FFF2-40B4-BE49-F238E27FC236}">
                <a16:creationId xmlns:a16="http://schemas.microsoft.com/office/drawing/2014/main" id="{2127C240-53CF-4D7E-8967-4C69C24A833C}"/>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The tool returns phonetic text when available. Gemini generates the spoken explanation.</a:t>
            </a:r>
          </a:p>
        </p:txBody>
      </p:sp>
    </p:spTree>
    <p:extLst>
      <p:ext uri="{BB962C8B-B14F-4D97-AF65-F5344CB8AC3E}">
        <p14:creationId xmlns:p14="http://schemas.microsoft.com/office/powerpoint/2010/main" val="2057396961"/>
      </p:ext>
    </p:extLst>
  </p:cSld>
</p:sld>
</file>

<file path=ppt/slides/slide17.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0159018-54FA-48EF-BC8F-D6D0D1C301C3}"/>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6C7ECC-3D03-4E50-8DEA-90EA954AA6F5}"/>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QUICK DEFINITIONS</a:t>
            </a:r>
          </a:p>
        </p:txBody>
      </p:sp>
      <p:sp>
        <p:nvSpPr>
          <p:cNvPr id="3" name="title">
            <a:extLst xmlns:a="http://schemas.openxmlformats.org/drawingml/2006/main">
              <a:ext uri="{FF2B5EF4-FFF2-40B4-BE49-F238E27FC236}">
                <a16:creationId xmlns:a16="http://schemas.microsoft.com/office/drawing/2014/main" id="{91DC90A1-C75E-424D-AD9A-FBB56E349448}"/>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A few terms to keep handy</a:t>
            </a:r>
          </a:p>
        </p:txBody>
      </p:sp>
      <p:sp>
        <p:nvSpPr>
          <p:cNvPr id="4" name="">
            <a:extLst xmlns:a="http://schemas.openxmlformats.org/drawingml/2006/main">
              <a:ext uri="{FF2B5EF4-FFF2-40B4-BE49-F238E27FC236}">
                <a16:creationId xmlns:a16="http://schemas.microsoft.com/office/drawing/2014/main" id="{624E253F-B4B7-4C0A-9F95-820EE01D3E3F}"/>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8F452E-033D-422F-9C09-27944088207C}"/>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F8386775-31E7-4D66-BA94-7636E19C5FD6}"/>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8B49F0-2307-43ED-A6B2-9481C36DCC43}"/>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8D4ED7-572C-47A0-96E0-BCD6D6EBF5CD}"/>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41758B-71CF-45BF-BE9C-4FEB6EEAA229}"/>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0127EF-3E76-45D2-9EA0-9F31D1B267AD}"/>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D0AF47A-6E93-4F4D-ACD3-9A3723030E06}"/>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7C02C3-711D-4190-B3B1-EC7EA95BFF6D}"/>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17</a:t>
            </a:r>
          </a:p>
        </p:txBody>
      </p:sp>
      <p:sp>
        <p:nvSpPr>
          <p:cNvPr id="13" name="">
            <a:extLst xmlns:a="http://schemas.openxmlformats.org/drawingml/2006/main">
              <a:ext uri="{FF2B5EF4-FFF2-40B4-BE49-F238E27FC236}">
                <a16:creationId xmlns:a16="http://schemas.microsoft.com/office/drawing/2014/main" id="{B23440F8-A9ED-4B1C-B5AF-EC0C49B910F4}"/>
              </a:ext>
            </a:extLst>
          </p:cNvPr>
          <p:cNvSpPr>
            <a:spLocks xmlns:a="http://schemas.openxmlformats.org/drawingml/2006/main" noGrp="1"/>
          </p:cNvSpPr>
          <p:nvPr/>
        </p:nvSpPr>
        <p:spPr>
          <a:xfrm xmlns:a="http://schemas.openxmlformats.org/drawingml/2006/main">
            <a:off x="609600" y="195262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LiveKit</a:t>
            </a:r>
          </a:p>
        </p:txBody>
      </p:sp>
      <p:sp>
        <p:nvSpPr>
          <p:cNvPr id="14" name="">
            <a:extLst xmlns:a="http://schemas.openxmlformats.org/drawingml/2006/main">
              <a:ext uri="{FF2B5EF4-FFF2-40B4-BE49-F238E27FC236}">
                <a16:creationId xmlns:a16="http://schemas.microsoft.com/office/drawing/2014/main" id="{74AC0BD6-3175-4542-8C0C-B508C0C46D6F}"/>
              </a:ext>
            </a:extLst>
          </p:cNvPr>
          <p:cNvSpPr>
            <a:spLocks xmlns:a="http://schemas.openxmlformats.org/drawingml/2006/main" noGrp="1"/>
          </p:cNvSpPr>
          <p:nvPr/>
        </p:nvSpPr>
        <p:spPr>
          <a:xfrm xmlns:a="http://schemas.openxmlformats.org/drawingml/2006/main">
            <a:off x="2895600" y="195262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Realtime rooms and the agent framework.</a:t>
            </a:r>
          </a:p>
        </p:txBody>
      </p:sp>
      <p:sp>
        <p:nvSpPr>
          <p:cNvPr id="15" name="">
            <a:extLst xmlns:a="http://schemas.openxmlformats.org/drawingml/2006/main">
              <a:ext uri="{FF2B5EF4-FFF2-40B4-BE49-F238E27FC236}">
                <a16:creationId xmlns:a16="http://schemas.microsoft.com/office/drawing/2014/main" id="{54D414EB-CB45-4E6A-95FF-1E60F2D380FB}"/>
              </a:ext>
            </a:extLst>
          </p:cNvPr>
          <p:cNvSpPr>
            <a:spLocks xmlns:a="http://schemas.openxmlformats.org/drawingml/2006/main" noGrp="1"/>
          </p:cNvSpPr>
          <p:nvPr/>
        </p:nvSpPr>
        <p:spPr>
          <a:xfrm xmlns:a="http://schemas.openxmlformats.org/drawingml/2006/main">
            <a:off x="609600" y="287655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Gemini Live</a:t>
            </a:r>
          </a:p>
        </p:txBody>
      </p:sp>
      <p:sp>
        <p:nvSpPr>
          <p:cNvPr id="16" name="">
            <a:extLst xmlns:a="http://schemas.openxmlformats.org/drawingml/2006/main">
              <a:ext uri="{FF2B5EF4-FFF2-40B4-BE49-F238E27FC236}">
                <a16:creationId xmlns:a16="http://schemas.microsoft.com/office/drawing/2014/main" id="{2E1426C7-5491-427B-A62A-CC2BDC1D19AB}"/>
              </a:ext>
            </a:extLst>
          </p:cNvPr>
          <p:cNvSpPr>
            <a:spLocks xmlns:a="http://schemas.openxmlformats.org/drawingml/2006/main" noGrp="1"/>
          </p:cNvSpPr>
          <p:nvPr/>
        </p:nvSpPr>
        <p:spPr>
          <a:xfrm xmlns:a="http://schemas.openxmlformats.org/drawingml/2006/main">
            <a:off x="2895600" y="287655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Google’s realtime audio and multimodal model.</a:t>
            </a:r>
          </a:p>
        </p:txBody>
      </p:sp>
      <p:sp>
        <p:nvSpPr>
          <p:cNvPr id="17" name="">
            <a:extLst xmlns:a="http://schemas.openxmlformats.org/drawingml/2006/main">
              <a:ext uri="{FF2B5EF4-FFF2-40B4-BE49-F238E27FC236}">
                <a16:creationId xmlns:a16="http://schemas.microsoft.com/office/drawing/2014/main" id="{314F69D0-9909-4079-9221-21707332C49C}"/>
              </a:ext>
            </a:extLst>
          </p:cNvPr>
          <p:cNvSpPr>
            <a:spLocks xmlns:a="http://schemas.openxmlformats.org/drawingml/2006/main" noGrp="1"/>
          </p:cNvSpPr>
          <p:nvPr/>
        </p:nvSpPr>
        <p:spPr>
          <a:xfrm xmlns:a="http://schemas.openxmlformats.org/drawingml/2006/main">
            <a:off x="60960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API</a:t>
            </a:r>
          </a:p>
        </p:txBody>
      </p:sp>
      <p:sp>
        <p:nvSpPr>
          <p:cNvPr id="18" name="">
            <a:extLst xmlns:a="http://schemas.openxmlformats.org/drawingml/2006/main">
              <a:ext uri="{FF2B5EF4-FFF2-40B4-BE49-F238E27FC236}">
                <a16:creationId xmlns:a16="http://schemas.microsoft.com/office/drawing/2014/main" id="{393D3B2C-14C7-4D43-BC79-7911C17D1373}"/>
              </a:ext>
            </a:extLst>
          </p:cNvPr>
          <p:cNvSpPr>
            <a:spLocks xmlns:a="http://schemas.openxmlformats.org/drawingml/2006/main" noGrp="1"/>
          </p:cNvSpPr>
          <p:nvPr/>
        </p:nvSpPr>
        <p:spPr>
          <a:xfrm xmlns:a="http://schemas.openxmlformats.org/drawingml/2006/main">
            <a:off x="2895600" y="38004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 defined way for one program to request data from another.</a:t>
            </a:r>
          </a:p>
        </p:txBody>
      </p:sp>
      <p:sp>
        <p:nvSpPr>
          <p:cNvPr id="19" name="">
            <a:extLst xmlns:a="http://schemas.openxmlformats.org/drawingml/2006/main">
              <a:ext uri="{FF2B5EF4-FFF2-40B4-BE49-F238E27FC236}">
                <a16:creationId xmlns:a16="http://schemas.microsoft.com/office/drawing/2014/main" id="{02748102-59CA-4C1D-8BD2-D9214342287A}"/>
              </a:ext>
            </a:extLst>
          </p:cNvPr>
          <p:cNvSpPr>
            <a:spLocks xmlns:a="http://schemas.openxmlformats.org/drawingml/2006/main" noGrp="1"/>
          </p:cNvSpPr>
          <p:nvPr/>
        </p:nvSpPr>
        <p:spPr>
          <a:xfrm xmlns:a="http://schemas.openxmlformats.org/drawingml/2006/main">
            <a:off x="609600" y="47244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Function tool</a:t>
            </a:r>
          </a:p>
        </p:txBody>
      </p:sp>
      <p:sp>
        <p:nvSpPr>
          <p:cNvPr id="20" name="">
            <a:extLst xmlns:a="http://schemas.openxmlformats.org/drawingml/2006/main">
              <a:ext uri="{FF2B5EF4-FFF2-40B4-BE49-F238E27FC236}">
                <a16:creationId xmlns:a16="http://schemas.microsoft.com/office/drawing/2014/main" id="{209E1818-FBA4-4BCA-A60E-F497397B621C}"/>
              </a:ext>
            </a:extLst>
          </p:cNvPr>
          <p:cNvSpPr>
            <a:spLocks xmlns:a="http://schemas.openxmlformats.org/drawingml/2006/main" noGrp="1"/>
          </p:cNvSpPr>
          <p:nvPr/>
        </p:nvSpPr>
        <p:spPr>
          <a:xfrm xmlns:a="http://schemas.openxmlformats.org/drawingml/2006/main">
            <a:off x="2895600" y="47244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A Python function the model can ask the agent to run.</a:t>
            </a:r>
          </a:p>
        </p:txBody>
      </p:sp>
      <p:sp>
        <p:nvSpPr>
          <p:cNvPr id="21" name="">
            <a:extLst xmlns:a="http://schemas.openxmlformats.org/drawingml/2006/main">
              <a:ext uri="{FF2B5EF4-FFF2-40B4-BE49-F238E27FC236}">
                <a16:creationId xmlns:a16="http://schemas.microsoft.com/office/drawing/2014/main" id="{D495138A-99C9-495F-A2B7-C1935D798B63}"/>
              </a:ext>
            </a:extLst>
          </p:cNvPr>
          <p:cNvSpPr>
            <a:spLocks xmlns:a="http://schemas.openxmlformats.org/drawingml/2006/main" noGrp="1"/>
          </p:cNvSpPr>
          <p:nvPr/>
        </p:nvSpPr>
        <p:spPr>
          <a:xfrm xmlns:a="http://schemas.openxmlformats.org/drawingml/2006/main">
            <a:off x="609600" y="2686050"/>
            <a:ext cx="46672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861FF6-F7BF-488E-AC5D-BF962B17577C}"/>
              </a:ext>
            </a:extLst>
          </p:cNvPr>
          <p:cNvSpPr>
            <a:spLocks xmlns:a="http://schemas.openxmlformats.org/drawingml/2006/main" noGrp="1"/>
          </p:cNvSpPr>
          <p:nvPr/>
        </p:nvSpPr>
        <p:spPr>
          <a:xfrm xmlns:a="http://schemas.openxmlformats.org/drawingml/2006/main">
            <a:off x="609600" y="3609975"/>
            <a:ext cx="46672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21E30E5-7FB5-4B37-A411-C7F7E5907DCC}"/>
              </a:ext>
            </a:extLst>
          </p:cNvPr>
          <p:cNvSpPr>
            <a:spLocks xmlns:a="http://schemas.openxmlformats.org/drawingml/2006/main" noGrp="1"/>
          </p:cNvSpPr>
          <p:nvPr/>
        </p:nvSpPr>
        <p:spPr>
          <a:xfrm xmlns:a="http://schemas.openxmlformats.org/drawingml/2006/main">
            <a:off x="609600" y="4533900"/>
            <a:ext cx="46672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E137BB6-61A5-42AF-9597-F04B18C9D7A0}"/>
              </a:ext>
            </a:extLst>
          </p:cNvPr>
          <p:cNvSpPr>
            <a:spLocks xmlns:a="http://schemas.openxmlformats.org/drawingml/2006/main" noGrp="1"/>
          </p:cNvSpPr>
          <p:nvPr/>
        </p:nvSpPr>
        <p:spPr>
          <a:xfrm xmlns:a="http://schemas.openxmlformats.org/drawingml/2006/main">
            <a:off x="609600" y="5457825"/>
            <a:ext cx="46672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54AA4A-E006-4F63-98EA-A0BEE8FAD9BC}"/>
              </a:ext>
            </a:extLst>
          </p:cNvPr>
          <p:cNvSpPr>
            <a:spLocks xmlns:a="http://schemas.openxmlformats.org/drawingml/2006/main" noGrp="1"/>
          </p:cNvSpPr>
          <p:nvPr/>
        </p:nvSpPr>
        <p:spPr>
          <a:xfrm xmlns:a="http://schemas.openxmlformats.org/drawingml/2006/main">
            <a:off x="6305550" y="195262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Realtime</a:t>
            </a:r>
          </a:p>
        </p:txBody>
      </p:sp>
      <p:sp>
        <p:nvSpPr>
          <p:cNvPr id="26" name="">
            <a:extLst xmlns:a="http://schemas.openxmlformats.org/drawingml/2006/main">
              <a:ext uri="{FF2B5EF4-FFF2-40B4-BE49-F238E27FC236}">
                <a16:creationId xmlns:a16="http://schemas.microsoft.com/office/drawing/2014/main" id="{B5067CC0-BD0B-43AC-B4D5-A7609D9E45B8}"/>
              </a:ext>
            </a:extLst>
          </p:cNvPr>
          <p:cNvSpPr>
            <a:spLocks xmlns:a="http://schemas.openxmlformats.org/drawingml/2006/main" noGrp="1"/>
          </p:cNvSpPr>
          <p:nvPr/>
        </p:nvSpPr>
        <p:spPr>
          <a:xfrm xmlns:a="http://schemas.openxmlformats.org/drawingml/2006/main">
            <a:off x="8601075" y="1952625"/>
            <a:ext cx="29813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Handles the conversation as it unfolds, with low waiting between turns.</a:t>
            </a:r>
          </a:p>
        </p:txBody>
      </p:sp>
      <p:sp>
        <p:nvSpPr>
          <p:cNvPr id="27" name="">
            <a:extLst xmlns:a="http://schemas.openxmlformats.org/drawingml/2006/main">
              <a:ext uri="{FF2B5EF4-FFF2-40B4-BE49-F238E27FC236}">
                <a16:creationId xmlns:a16="http://schemas.microsoft.com/office/drawing/2014/main" id="{362A168E-156B-4621-AAC1-9F40326E6173}"/>
              </a:ext>
            </a:extLst>
          </p:cNvPr>
          <p:cNvSpPr>
            <a:spLocks xmlns:a="http://schemas.openxmlformats.org/drawingml/2006/main" noGrp="1"/>
          </p:cNvSpPr>
          <p:nvPr/>
        </p:nvSpPr>
        <p:spPr>
          <a:xfrm xmlns:a="http://schemas.openxmlformats.org/drawingml/2006/main">
            <a:off x="6305550" y="287655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Multimodal</a:t>
            </a:r>
          </a:p>
        </p:txBody>
      </p:sp>
      <p:sp>
        <p:nvSpPr>
          <p:cNvPr id="28" name="">
            <a:extLst xmlns:a="http://schemas.openxmlformats.org/drawingml/2006/main">
              <a:ext uri="{FF2B5EF4-FFF2-40B4-BE49-F238E27FC236}">
                <a16:creationId xmlns:a16="http://schemas.microsoft.com/office/drawing/2014/main" id="{92434097-BD65-4EA6-A8C5-F7CF88311AA5}"/>
              </a:ext>
            </a:extLst>
          </p:cNvPr>
          <p:cNvSpPr>
            <a:spLocks xmlns:a="http://schemas.openxmlformats.org/drawingml/2006/main" noGrp="1"/>
          </p:cNvSpPr>
          <p:nvPr/>
        </p:nvSpPr>
        <p:spPr>
          <a:xfrm xmlns:a="http://schemas.openxmlformats.org/drawingml/2006/main">
            <a:off x="8601075" y="2876550"/>
            <a:ext cx="29813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Works with more than one input type, such as audio and video.</a:t>
            </a:r>
          </a:p>
        </p:txBody>
      </p:sp>
      <p:sp>
        <p:nvSpPr>
          <p:cNvPr id="29" name="">
            <a:extLst xmlns:a="http://schemas.openxmlformats.org/drawingml/2006/main">
              <a:ext uri="{FF2B5EF4-FFF2-40B4-BE49-F238E27FC236}">
                <a16:creationId xmlns:a16="http://schemas.microsoft.com/office/drawing/2014/main" id="{D01C3B30-9E98-4114-8424-8F30B1FE91F0}"/>
              </a:ext>
            </a:extLst>
          </p:cNvPr>
          <p:cNvSpPr>
            <a:spLocks xmlns:a="http://schemas.openxmlformats.org/drawingml/2006/main" noGrp="1"/>
          </p:cNvSpPr>
          <p:nvPr/>
        </p:nvSpPr>
        <p:spPr>
          <a:xfrm xmlns:a="http://schemas.openxmlformats.org/drawingml/2006/main">
            <a:off x="6305550" y="38004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Geocoding</a:t>
            </a:r>
          </a:p>
        </p:txBody>
      </p:sp>
      <p:sp>
        <p:nvSpPr>
          <p:cNvPr id="30" name="">
            <a:extLst xmlns:a="http://schemas.openxmlformats.org/drawingml/2006/main">
              <a:ext uri="{FF2B5EF4-FFF2-40B4-BE49-F238E27FC236}">
                <a16:creationId xmlns:a16="http://schemas.microsoft.com/office/drawing/2014/main" id="{3821BD0C-92B0-4CA2-9DF6-78F15D571983}"/>
              </a:ext>
            </a:extLst>
          </p:cNvPr>
          <p:cNvSpPr>
            <a:spLocks xmlns:a="http://schemas.openxmlformats.org/drawingml/2006/main" noGrp="1"/>
          </p:cNvSpPr>
          <p:nvPr/>
        </p:nvSpPr>
        <p:spPr>
          <a:xfrm xmlns:a="http://schemas.openxmlformats.org/drawingml/2006/main">
            <a:off x="8601075" y="3800475"/>
            <a:ext cx="29813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Converts a place name into map coordinates.</a:t>
            </a:r>
          </a:p>
        </p:txBody>
      </p:sp>
      <p:sp>
        <p:nvSpPr>
          <p:cNvPr id="31" name="">
            <a:extLst xmlns:a="http://schemas.openxmlformats.org/drawingml/2006/main">
              <a:ext uri="{FF2B5EF4-FFF2-40B4-BE49-F238E27FC236}">
                <a16:creationId xmlns:a16="http://schemas.microsoft.com/office/drawing/2014/main" id="{5F36DA19-2D47-4B62-B36B-BE985F090E24}"/>
              </a:ext>
            </a:extLst>
          </p:cNvPr>
          <p:cNvSpPr>
            <a:spLocks xmlns:a="http://schemas.openxmlformats.org/drawingml/2006/main" noGrp="1"/>
          </p:cNvSpPr>
          <p:nvPr/>
        </p:nvSpPr>
        <p:spPr>
          <a:xfrm xmlns:a="http://schemas.openxmlformats.org/drawingml/2006/main">
            <a:off x="6305550" y="47244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Fixture</a:t>
            </a:r>
          </a:p>
        </p:txBody>
      </p:sp>
      <p:sp>
        <p:nvSpPr>
          <p:cNvPr id="32" name="">
            <a:extLst xmlns:a="http://schemas.openxmlformats.org/drawingml/2006/main">
              <a:ext uri="{FF2B5EF4-FFF2-40B4-BE49-F238E27FC236}">
                <a16:creationId xmlns:a16="http://schemas.microsoft.com/office/drawing/2014/main" id="{68EAE517-E41D-4BC3-AC0B-4E681A13C7C8}"/>
              </a:ext>
            </a:extLst>
          </p:cNvPr>
          <p:cNvSpPr>
            <a:spLocks xmlns:a="http://schemas.openxmlformats.org/drawingml/2006/main" noGrp="1"/>
          </p:cNvSpPr>
          <p:nvPr/>
        </p:nvSpPr>
        <p:spPr>
          <a:xfrm xmlns:a="http://schemas.openxmlformats.org/drawingml/2006/main">
            <a:off x="8601075" y="4724400"/>
            <a:ext cx="29813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C0BECE"/>
                </a:solidFill>
                <a:latin typeface="Arial"/>
                <a:ea typeface="Arial"/>
                <a:cs typeface="Arial"/>
              </a:defRPr>
            </a:defPPr>
          </a:lstStyle>
          <a:p xmlns:a="http://schemas.openxmlformats.org/drawingml/2006/main">
            <a:pPr algn="l">
              <a:defRPr sz="1575" b="0">
                <a:solidFill>
                  <a:srgbClr val="C0BECE"/>
                </a:solidFill>
                <a:latin typeface="Arial"/>
                <a:ea typeface="Arial"/>
                <a:cs typeface="Arial"/>
              </a:defRPr>
            </a:pPr>
            <a:r>
              <a:rPr sz="1575" b="0">
                <a:solidFill>
                  <a:srgbClr val="C0BECE"/>
                </a:solidFill>
                <a:latin typeface="Arial"/>
                <a:ea typeface="Arial"/>
                <a:cs typeface="Arial"/>
              </a:rPr>
              <a:t>Fixed sample data used to make tests repeatable.</a:t>
            </a:r>
          </a:p>
        </p:txBody>
      </p:sp>
      <p:sp>
        <p:nvSpPr>
          <p:cNvPr id="33" name="">
            <a:extLst xmlns:a="http://schemas.openxmlformats.org/drawingml/2006/main">
              <a:ext uri="{FF2B5EF4-FFF2-40B4-BE49-F238E27FC236}">
                <a16:creationId xmlns:a16="http://schemas.microsoft.com/office/drawing/2014/main" id="{D2EED9B2-DFCB-4CD3-B61C-182515809D20}"/>
              </a:ext>
            </a:extLst>
          </p:cNvPr>
          <p:cNvSpPr>
            <a:spLocks xmlns:a="http://schemas.openxmlformats.org/drawingml/2006/main" noGrp="1"/>
          </p:cNvSpPr>
          <p:nvPr/>
        </p:nvSpPr>
        <p:spPr>
          <a:xfrm xmlns:a="http://schemas.openxmlformats.org/drawingml/2006/main">
            <a:off x="6305550" y="2686050"/>
            <a:ext cx="52768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A3B736C-B681-4D26-8AFF-73E697305469}"/>
              </a:ext>
            </a:extLst>
          </p:cNvPr>
          <p:cNvSpPr>
            <a:spLocks xmlns:a="http://schemas.openxmlformats.org/drawingml/2006/main" noGrp="1"/>
          </p:cNvSpPr>
          <p:nvPr/>
        </p:nvSpPr>
        <p:spPr>
          <a:xfrm xmlns:a="http://schemas.openxmlformats.org/drawingml/2006/main">
            <a:off x="6305550" y="3609975"/>
            <a:ext cx="52768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21861A2-A3F0-417A-97D6-4F3A16ABDC5C}"/>
              </a:ext>
            </a:extLst>
          </p:cNvPr>
          <p:cNvSpPr>
            <a:spLocks xmlns:a="http://schemas.openxmlformats.org/drawingml/2006/main" noGrp="1"/>
          </p:cNvSpPr>
          <p:nvPr/>
        </p:nvSpPr>
        <p:spPr>
          <a:xfrm xmlns:a="http://schemas.openxmlformats.org/drawingml/2006/main">
            <a:off x="6305550" y="4533900"/>
            <a:ext cx="52768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11742A9-8071-4CEE-A63B-5A001C8CE4F1}"/>
              </a:ext>
            </a:extLst>
          </p:cNvPr>
          <p:cNvSpPr>
            <a:spLocks xmlns:a="http://schemas.openxmlformats.org/drawingml/2006/main" noGrp="1"/>
          </p:cNvSpPr>
          <p:nvPr/>
        </p:nvSpPr>
        <p:spPr>
          <a:xfrm xmlns:a="http://schemas.openxmlformats.org/drawingml/2006/main">
            <a:off x="6305550" y="5457825"/>
            <a:ext cx="527685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Tree>
    <p:extLst>
      <p:ext uri="{BB962C8B-B14F-4D97-AF65-F5344CB8AC3E}">
        <p14:creationId xmlns:p14="http://schemas.microsoft.com/office/powerpoint/2010/main" val="1398023564"/>
      </p:ext>
    </p:extLst>
  </p:cSld>
</p:sld>
</file>

<file path=ppt/slides/slide18.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66DBDA9-9818-43CC-BBAD-D731C4235A25}"/>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CCA755-D928-459F-99DF-ABC05D6DCB5E}"/>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RELIABILITY</a:t>
            </a:r>
          </a:p>
        </p:txBody>
      </p:sp>
      <p:sp>
        <p:nvSpPr>
          <p:cNvPr id="3" name="title">
            <a:extLst xmlns:a="http://schemas.openxmlformats.org/drawingml/2006/main">
              <a:ext uri="{FF2B5EF4-FFF2-40B4-BE49-F238E27FC236}">
                <a16:creationId xmlns:a16="http://schemas.microsoft.com/office/drawing/2014/main" id="{F29660D7-F0AE-4612-B1B4-C8C1E521B1A3}"/>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Tests and conversation simulations</a:t>
            </a:r>
          </a:p>
        </p:txBody>
      </p:sp>
      <p:sp>
        <p:nvSpPr>
          <p:cNvPr id="4" name="">
            <a:extLst xmlns:a="http://schemas.openxmlformats.org/drawingml/2006/main">
              <a:ext uri="{FF2B5EF4-FFF2-40B4-BE49-F238E27FC236}">
                <a16:creationId xmlns:a16="http://schemas.microsoft.com/office/drawing/2014/main" id="{814A27CF-5548-4D3B-B3D8-495B857B80D4}"/>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01CD19-3B8A-4021-A137-F45B37E8D471}"/>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169569DB-6C22-4C7C-96A1-41559669AA01}"/>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E06A06-C671-45CF-8EB8-399279D01ACA}"/>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34D7D7-330D-4A6B-BDA0-DD31E1982B08}"/>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BB7D61F-9F9F-4677-93A3-4FF5830A294C}"/>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12E5A9-1095-467F-A5FF-3820165E474A}"/>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1950C7-8387-4B49-83B3-7D866CCB5F01}"/>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26A1D8-BEF1-426E-81AB-158781AB2824}"/>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18</a:t>
            </a:r>
          </a:p>
        </p:txBody>
      </p:sp>
      <p:sp>
        <p:nvSpPr>
          <p:cNvPr id="13" name="">
            <a:extLst xmlns:a="http://schemas.openxmlformats.org/drawingml/2006/main">
              <a:ext uri="{FF2B5EF4-FFF2-40B4-BE49-F238E27FC236}">
                <a16:creationId xmlns:a16="http://schemas.microsoft.com/office/drawing/2014/main" id="{01836AF8-B1D6-4CB8-8706-687193CCB500}"/>
              </a:ext>
            </a:extLst>
          </p:cNvPr>
          <p:cNvSpPr>
            <a:spLocks xmlns:a="http://schemas.openxmlformats.org/drawingml/2006/main" noGrp="1"/>
          </p:cNvSpPr>
          <p:nvPr/>
        </p:nvSpPr>
        <p:spPr>
          <a:xfrm xmlns:a="http://schemas.openxmlformats.org/drawingml/2006/main">
            <a:off x="609600" y="1933575"/>
            <a:ext cx="2428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5F1FA"/>
                </a:solidFill>
                <a:latin typeface="Arial"/>
                <a:ea typeface="Arial"/>
                <a:cs typeface="Arial"/>
              </a:defRPr>
            </a:defPPr>
          </a:lstStyle>
          <a:p xmlns:a="http://schemas.openxmlformats.org/drawingml/2006/main">
            <a:pPr algn="l">
              <a:defRPr sz="6000" b="1">
                <a:solidFill>
                  <a:srgbClr val="F5F1FA"/>
                </a:solidFill>
                <a:latin typeface="Arial"/>
                <a:ea typeface="Arial"/>
                <a:cs typeface="Arial"/>
              </a:defRPr>
            </a:pPr>
            <a:r>
              <a:rPr sz="6000" b="1">
                <a:solidFill>
                  <a:srgbClr val="F5F1FA"/>
                </a:solidFill>
                <a:latin typeface="Arial"/>
                <a:ea typeface="Arial"/>
                <a:cs typeface="Arial"/>
              </a:rPr>
              <a:t>28</a:t>
            </a:r>
          </a:p>
        </p:txBody>
      </p:sp>
      <p:sp>
        <p:nvSpPr>
          <p:cNvPr id="14" name="">
            <a:extLst xmlns:a="http://schemas.openxmlformats.org/drawingml/2006/main">
              <a:ext uri="{FF2B5EF4-FFF2-40B4-BE49-F238E27FC236}">
                <a16:creationId xmlns:a16="http://schemas.microsoft.com/office/drawing/2014/main" id="{846965C8-9BB7-48B5-A394-23B9EA3615CA}"/>
              </a:ext>
            </a:extLst>
          </p:cNvPr>
          <p:cNvSpPr>
            <a:spLocks xmlns:a="http://schemas.openxmlformats.org/drawingml/2006/main" noGrp="1"/>
          </p:cNvSpPr>
          <p:nvPr/>
        </p:nvSpPr>
        <p:spPr>
          <a:xfrm xmlns:a="http://schemas.openxmlformats.org/drawingml/2006/main">
            <a:off x="609600" y="2952750"/>
            <a:ext cx="3962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0BECE"/>
                </a:solidFill>
                <a:latin typeface="Arial"/>
                <a:ea typeface="Arial"/>
                <a:cs typeface="Arial"/>
              </a:defRPr>
            </a:defPPr>
          </a:lstStyle>
          <a:p xmlns:a="http://schemas.openxmlformats.org/drawingml/2006/main">
            <a:pPr algn="l">
              <a:defRPr sz="2025" b="0">
                <a:solidFill>
                  <a:srgbClr val="C0BECE"/>
                </a:solidFill>
                <a:latin typeface="Arial"/>
                <a:ea typeface="Arial"/>
                <a:cs typeface="Arial"/>
              </a:defRPr>
            </a:pPr>
            <a:r>
              <a:rPr sz="2025" b="0">
                <a:solidFill>
                  <a:srgbClr val="C0BECE"/>
                </a:solidFill>
                <a:latin typeface="Arial"/>
                <a:ea typeface="Arial"/>
                <a:cs typeface="Arial"/>
              </a:rPr>
              <a:t>mocked unit tests</a:t>
            </a:r>
          </a:p>
        </p:txBody>
      </p:sp>
      <p:sp>
        <p:nvSpPr>
          <p:cNvPr id="15" name="">
            <a:extLst xmlns:a="http://schemas.openxmlformats.org/drawingml/2006/main">
              <a:ext uri="{FF2B5EF4-FFF2-40B4-BE49-F238E27FC236}">
                <a16:creationId xmlns:a16="http://schemas.microsoft.com/office/drawing/2014/main" id="{C5DB9869-19B4-4FDB-9308-A1BC360E458B}"/>
              </a:ext>
            </a:extLst>
          </p:cNvPr>
          <p:cNvSpPr>
            <a:spLocks xmlns:a="http://schemas.openxmlformats.org/drawingml/2006/main" noGrp="1"/>
          </p:cNvSpPr>
          <p:nvPr/>
        </p:nvSpPr>
        <p:spPr>
          <a:xfrm xmlns:a="http://schemas.openxmlformats.org/drawingml/2006/main">
            <a:off x="6657975" y="1933575"/>
            <a:ext cx="2428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F5F1FA"/>
                </a:solidFill>
                <a:latin typeface="Arial"/>
                <a:ea typeface="Arial"/>
                <a:cs typeface="Arial"/>
              </a:defRPr>
            </a:defPPr>
          </a:lstStyle>
          <a:p xmlns:a="http://schemas.openxmlformats.org/drawingml/2006/main">
            <a:pPr algn="l">
              <a:defRPr sz="6000" b="1">
                <a:solidFill>
                  <a:srgbClr val="F5F1FA"/>
                </a:solidFill>
                <a:latin typeface="Arial"/>
                <a:ea typeface="Arial"/>
                <a:cs typeface="Arial"/>
              </a:defRPr>
            </a:pPr>
            <a:r>
              <a:rPr sz="6000" b="1">
                <a:solidFill>
                  <a:srgbClr val="F5F1FA"/>
                </a:solidFill>
                <a:latin typeface="Arial"/>
                <a:ea typeface="Arial"/>
                <a:cs typeface="Arial"/>
              </a:rPr>
              <a:t>9</a:t>
            </a:r>
          </a:p>
        </p:txBody>
      </p:sp>
      <p:sp>
        <p:nvSpPr>
          <p:cNvPr id="16" name="">
            <a:extLst xmlns:a="http://schemas.openxmlformats.org/drawingml/2006/main">
              <a:ext uri="{FF2B5EF4-FFF2-40B4-BE49-F238E27FC236}">
                <a16:creationId xmlns:a16="http://schemas.microsoft.com/office/drawing/2014/main" id="{BAC197DD-FE8D-4923-8FEB-9BCAFAC1D07C}"/>
              </a:ext>
            </a:extLst>
          </p:cNvPr>
          <p:cNvSpPr>
            <a:spLocks xmlns:a="http://schemas.openxmlformats.org/drawingml/2006/main" noGrp="1"/>
          </p:cNvSpPr>
          <p:nvPr/>
        </p:nvSpPr>
        <p:spPr>
          <a:xfrm xmlns:a="http://schemas.openxmlformats.org/drawingml/2006/main">
            <a:off x="6657975" y="2952750"/>
            <a:ext cx="4591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0BECE"/>
                </a:solidFill>
                <a:latin typeface="Arial"/>
                <a:ea typeface="Arial"/>
                <a:cs typeface="Arial"/>
              </a:defRPr>
            </a:defPPr>
          </a:lstStyle>
          <a:p xmlns:a="http://schemas.openxmlformats.org/drawingml/2006/main">
            <a:pPr algn="l">
              <a:defRPr sz="2025" b="0">
                <a:solidFill>
                  <a:srgbClr val="C0BECE"/>
                </a:solidFill>
                <a:latin typeface="Arial"/>
                <a:ea typeface="Arial"/>
                <a:cs typeface="Arial"/>
              </a:defRPr>
            </a:pPr>
            <a:r>
              <a:rPr sz="2025" b="0">
                <a:solidFill>
                  <a:srgbClr val="C0BECE"/>
                </a:solidFill>
                <a:latin typeface="Arial"/>
                <a:ea typeface="Arial"/>
                <a:cs typeface="Arial"/>
              </a:rPr>
              <a:t>conversation scenarios</a:t>
            </a:r>
          </a:p>
        </p:txBody>
      </p:sp>
      <p:sp>
        <p:nvSpPr>
          <p:cNvPr id="17" name="">
            <a:extLst xmlns:a="http://schemas.openxmlformats.org/drawingml/2006/main">
              <a:ext uri="{FF2B5EF4-FFF2-40B4-BE49-F238E27FC236}">
                <a16:creationId xmlns:a16="http://schemas.microsoft.com/office/drawing/2014/main" id="{23D1F27B-FC9D-4586-B8D7-C7566BFE8281}"/>
              </a:ext>
            </a:extLst>
          </p:cNvPr>
          <p:cNvSpPr>
            <a:spLocks xmlns:a="http://schemas.openxmlformats.org/drawingml/2006/main" noGrp="1"/>
          </p:cNvSpPr>
          <p:nvPr/>
        </p:nvSpPr>
        <p:spPr>
          <a:xfrm xmlns:a="http://schemas.openxmlformats.org/drawingml/2006/main">
            <a:off x="609600" y="3524250"/>
            <a:ext cx="10972800" cy="14288"/>
          </a:xfrm>
          <a:prstGeom xmlns:a="http://schemas.openxmlformats.org/drawingml/2006/main" prst="rect">
            <a:avLst/>
          </a:prstGeom>
          <a:solidFill xmlns:a="http://schemas.openxmlformats.org/drawingml/2006/main">
            <a:srgbClr val="4C4A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3C2F85-AE4B-48D4-AF0C-AD9AB267BA19}"/>
              </a:ext>
            </a:extLst>
          </p:cNvPr>
          <p:cNvSpPr>
            <a:spLocks xmlns:a="http://schemas.openxmlformats.org/drawingml/2006/main" noGrp="1"/>
          </p:cNvSpPr>
          <p:nvPr/>
        </p:nvSpPr>
        <p:spPr>
          <a:xfrm xmlns:a="http://schemas.openxmlformats.org/drawingml/2006/main">
            <a:off x="609600" y="3876675"/>
            <a:ext cx="4876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Function behavior</a:t>
            </a:r>
          </a:p>
        </p:txBody>
      </p:sp>
      <p:sp>
        <p:nvSpPr>
          <p:cNvPr id="19" name="">
            <a:extLst xmlns:a="http://schemas.openxmlformats.org/drawingml/2006/main">
              <a:ext uri="{FF2B5EF4-FFF2-40B4-BE49-F238E27FC236}">
                <a16:creationId xmlns:a16="http://schemas.microsoft.com/office/drawing/2014/main" id="{9A5F17F3-D54E-4FEE-939F-E5E25B0C031B}"/>
              </a:ext>
            </a:extLst>
          </p:cNvPr>
          <p:cNvSpPr>
            <a:spLocks xmlns:a="http://schemas.openxmlformats.org/drawingml/2006/main" noGrp="1"/>
          </p:cNvSpPr>
          <p:nvPr/>
        </p:nvSpPr>
        <p:spPr>
          <a:xfrm xmlns:a="http://schemas.openxmlformats.org/drawingml/2006/main">
            <a:off x="609600" y="437197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Query validation, registered tools, location ambiguity, response parsing and fixture handling.</a:t>
            </a:r>
          </a:p>
        </p:txBody>
      </p:sp>
      <p:sp>
        <p:nvSpPr>
          <p:cNvPr id="20" name="">
            <a:extLst xmlns:a="http://schemas.openxmlformats.org/drawingml/2006/main">
              <a:ext uri="{FF2B5EF4-FFF2-40B4-BE49-F238E27FC236}">
                <a16:creationId xmlns:a16="http://schemas.microsoft.com/office/drawing/2014/main" id="{5A1FDF95-16F3-496D-87E4-86AD3E5BF2C2}"/>
              </a:ext>
            </a:extLst>
          </p:cNvPr>
          <p:cNvSpPr>
            <a:spLocks xmlns:a="http://schemas.openxmlformats.org/drawingml/2006/main" noGrp="1"/>
          </p:cNvSpPr>
          <p:nvPr/>
        </p:nvSpPr>
        <p:spPr>
          <a:xfrm xmlns:a="http://schemas.openxmlformats.org/drawingml/2006/main">
            <a:off x="6657975" y="3876675"/>
            <a:ext cx="4895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5F1FA"/>
                </a:solidFill>
                <a:latin typeface="Arial"/>
                <a:ea typeface="Arial"/>
                <a:cs typeface="Arial"/>
              </a:defRPr>
            </a:defPPr>
          </a:lstStyle>
          <a:p xmlns:a="http://schemas.openxmlformats.org/drawingml/2006/main">
            <a:pPr algn="l">
              <a:defRPr sz="2100" b="1">
                <a:solidFill>
                  <a:srgbClr val="F5F1FA"/>
                </a:solidFill>
                <a:latin typeface="Arial"/>
                <a:ea typeface="Arial"/>
                <a:cs typeface="Arial"/>
              </a:defRPr>
            </a:pPr>
            <a:r>
              <a:rPr sz="2100" b="1">
                <a:solidFill>
                  <a:srgbClr val="F5F1FA"/>
                </a:solidFill>
                <a:latin typeface="Arial"/>
                <a:ea typeface="Arial"/>
                <a:cs typeface="Arial"/>
              </a:rPr>
              <a:t>Conversation behavior</a:t>
            </a:r>
          </a:p>
        </p:txBody>
      </p:sp>
      <p:sp>
        <p:nvSpPr>
          <p:cNvPr id="21" name="">
            <a:extLst xmlns:a="http://schemas.openxmlformats.org/drawingml/2006/main">
              <a:ext uri="{FF2B5EF4-FFF2-40B4-BE49-F238E27FC236}">
                <a16:creationId xmlns:a16="http://schemas.microsoft.com/office/drawing/2014/main" id="{955DE594-8A51-48F4-A79C-70AA41F9BB04}"/>
              </a:ext>
            </a:extLst>
          </p:cNvPr>
          <p:cNvSpPr>
            <a:spLocks xmlns:a="http://schemas.openxmlformats.org/drawingml/2006/main" noGrp="1"/>
          </p:cNvSpPr>
          <p:nvPr/>
        </p:nvSpPr>
        <p:spPr>
          <a:xfrm xmlns:a="http://schemas.openxmlformats.org/drawingml/2006/main">
            <a:off x="6657975" y="4371975"/>
            <a:ext cx="48958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0BECE"/>
                </a:solidFill>
                <a:latin typeface="Arial"/>
                <a:ea typeface="Arial"/>
                <a:cs typeface="Arial"/>
              </a:defRPr>
            </a:defPPr>
          </a:lstStyle>
          <a:p xmlns:a="http://schemas.openxmlformats.org/drawingml/2006/main">
            <a:pPr algn="l">
              <a:defRPr sz="1875" b="0">
                <a:solidFill>
                  <a:srgbClr val="C0BECE"/>
                </a:solidFill>
                <a:latin typeface="Arial"/>
                <a:ea typeface="Arial"/>
                <a:cs typeface="Arial"/>
              </a:defRPr>
            </a:pPr>
            <a:r>
              <a:rPr sz="1875" b="0">
                <a:solidFill>
                  <a:srgbClr val="C0BECE"/>
                </a:solidFill>
                <a:latin typeface="Arial"/>
                <a:ea typeface="Arial"/>
                <a:cs typeface="Arial"/>
              </a:rPr>
              <a:t>Persona, grounding, refusals and correct tool choice. Fixed tool data keeps scenarios repeatable.</a:t>
            </a:r>
          </a:p>
        </p:txBody>
      </p:sp>
      <p:sp>
        <p:nvSpPr>
          <p:cNvPr id="22" name="">
            <a:extLst xmlns:a="http://schemas.openxmlformats.org/drawingml/2006/main">
              <a:ext uri="{FF2B5EF4-FFF2-40B4-BE49-F238E27FC236}">
                <a16:creationId xmlns:a16="http://schemas.microsoft.com/office/drawing/2014/main" id="{DAE1BAFB-7006-43A9-90EC-D27182F4F930}"/>
              </a:ext>
            </a:extLst>
          </p:cNvPr>
          <p:cNvSpPr>
            <a:spLocks xmlns:a="http://schemas.openxmlformats.org/drawingml/2006/main" noGrp="1"/>
          </p:cNvSpPr>
          <p:nvPr/>
        </p:nvSpPr>
        <p:spPr>
          <a:xfrm xmlns:a="http://schemas.openxmlformats.org/drawingml/2006/main">
            <a:off x="609600" y="58007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CI runs Ruff and pytest. Simulations use real model inference with mocked tool responses.</a:t>
            </a:r>
          </a:p>
        </p:txBody>
      </p:sp>
    </p:spTree>
    <p:extLst>
      <p:ext uri="{BB962C8B-B14F-4D97-AF65-F5344CB8AC3E}">
        <p14:creationId xmlns:p14="http://schemas.microsoft.com/office/powerpoint/2010/main" val="1517114598"/>
      </p:ext>
    </p:extLst>
  </p:cSld>
</p:sld>
</file>

<file path=ppt/slides/slide19.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B20F02C-96F6-40B4-8F63-EE58209F68BD}"/>
              </a:ext>
            </a:extLst>
          </p:cNvPr>
          <p:cNvSpPr>
            <a:spLocks xmlns:a="http://schemas.openxmlformats.org/drawingml/2006/main" noGrp="1"/>
          </p:cNvSpPr>
          <p:nvPr/>
        </p:nvSpPr>
        <p:spPr>
          <a:xfrm xmlns:a="http://schemas.openxmlformats.org/drawingml/2006/main">
            <a:off x="609600" y="323850"/>
            <a:ext cx="400050" cy="47625"/>
          </a:xfrm>
          <a:prstGeom xmlns:a="http://schemas.openxmlformats.org/drawingml/2006/main" prst="rect">
            <a:avLst/>
          </a:prstGeom>
          <a:solidFill xmlns:a="http://schemas.openxmlformats.org/drawingml/2006/main">
            <a:srgbClr val="75CDB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1980EC-C7F3-4737-960F-4148DFAE6D7F}"/>
              </a:ext>
            </a:extLst>
          </p:cNvPr>
          <p:cNvSpPr>
            <a:spLocks xmlns:a="http://schemas.openxmlformats.org/drawingml/2006/main" noGrp="1"/>
          </p:cNvSpPr>
          <p:nvPr/>
        </p:nvSpPr>
        <p:spPr>
          <a:xfrm xmlns:a="http://schemas.openxmlformats.org/drawingml/2006/main">
            <a:off x="1143000" y="257175"/>
            <a:ext cx="9620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75CDBB"/>
                </a:solidFill>
                <a:latin typeface="Arial"/>
                <a:ea typeface="Arial"/>
                <a:cs typeface="Arial"/>
              </a:defRPr>
            </a:defPPr>
          </a:lstStyle>
          <a:p xmlns:a="http://schemas.openxmlformats.org/drawingml/2006/main">
            <a:pPr algn="l">
              <a:defRPr sz="1125" b="1">
                <a:solidFill>
                  <a:srgbClr val="75CDBB"/>
                </a:solidFill>
                <a:latin typeface="Arial"/>
                <a:ea typeface="Arial"/>
                <a:cs typeface="Arial"/>
              </a:defRPr>
            </a:pPr>
            <a:r>
              <a:rPr sz="1125" b="1">
                <a:solidFill>
                  <a:srgbClr val="75CDBB"/>
                </a:solidFill>
                <a:latin typeface="Arial"/>
                <a:ea typeface="Arial"/>
                <a:cs typeface="Arial"/>
              </a:rPr>
              <a:t>AFTER THE WORKSHOP</a:t>
            </a:r>
          </a:p>
        </p:txBody>
      </p:sp>
      <p:sp>
        <p:nvSpPr>
          <p:cNvPr id="3" name="title">
            <a:extLst xmlns:a="http://schemas.openxmlformats.org/drawingml/2006/main">
              <a:ext uri="{FF2B5EF4-FFF2-40B4-BE49-F238E27FC236}">
                <a16:creationId xmlns:a16="http://schemas.microsoft.com/office/drawing/2014/main" id="{B3B4DDA5-8D6F-48DC-9991-64A6D2C7A99B}"/>
              </a:ext>
            </a:extLst>
          </p:cNvPr>
          <p:cNvSpPr>
            <a:spLocks xmlns:a="http://schemas.openxmlformats.org/drawingml/2006/main" noGrp="1"/>
          </p:cNvSpPr>
          <p:nvPr/>
        </p:nvSpPr>
        <p:spPr>
          <a:xfrm xmlns:a="http://schemas.openxmlformats.org/drawingml/2006/main">
            <a:off x="609600" y="74295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rial"/>
                <a:ea typeface="Arial"/>
                <a:cs typeface="Arial"/>
              </a:defRPr>
            </a:defPPr>
          </a:lstStyle>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Extension lab: a community resource finder</a:t>
            </a:r>
          </a:p>
        </p:txBody>
      </p:sp>
      <p:sp>
        <p:nvSpPr>
          <p:cNvPr id="4" name="">
            <a:extLst xmlns:a="http://schemas.openxmlformats.org/drawingml/2006/main">
              <a:ext uri="{FF2B5EF4-FFF2-40B4-BE49-F238E27FC236}">
                <a16:creationId xmlns:a16="http://schemas.microsoft.com/office/drawing/2014/main" id="{360B4CCB-FB4F-4AD7-BCE8-046113962F03}"/>
              </a:ext>
            </a:extLst>
          </p:cNvPr>
          <p:cNvSpPr>
            <a:spLocks xmlns:a="http://schemas.openxmlformats.org/drawingml/2006/main" noGrp="1"/>
          </p:cNvSpPr>
          <p:nvPr/>
        </p:nvSpPr>
        <p:spPr>
          <a:xfrm xmlns:a="http://schemas.openxmlformats.org/drawingml/2006/main">
            <a:off x="609600" y="1524000"/>
            <a:ext cx="10972800" cy="14288"/>
          </a:xfrm>
          <a:prstGeom xmlns:a="http://schemas.openxmlformats.org/drawingml/2006/main" prst="rect">
            <a:avLst/>
          </a:prstGeom>
          <a:solidFill xmlns:a="http://schemas.openxmlformats.org/drawingml/2006/main">
            <a:srgbClr val="3D435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5DB31D-CA46-4A8E-9FBF-4C5C78E8DC53}"/>
              </a:ext>
            </a:extLst>
          </p:cNvPr>
          <p:cNvSpPr>
            <a:spLocks xmlns:a="http://schemas.openxmlformats.org/drawingml/2006/main" noGrp="1"/>
          </p:cNvSpPr>
          <p:nvPr/>
        </p:nvSpPr>
        <p:spPr>
          <a:xfrm xmlns:a="http://schemas.openxmlformats.org/drawingml/2006/main">
            <a:off x="609600" y="6410325"/>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C5C3D1"/>
                </a:solidFill>
                <a:latin typeface="Arial"/>
                <a:ea typeface="Arial"/>
                <a:cs typeface="Arial"/>
              </a:defRPr>
            </a:defPPr>
          </a:lstStyle>
          <a:p xmlns:a="http://schemas.openxmlformats.org/drawingml/2006/main">
            <a:pPr algn="l">
              <a:defRPr sz="1050" b="0">
                <a:solidFill>
                  <a:srgbClr val="C5C3D1"/>
                </a:solidFill>
                <a:latin typeface="Arial"/>
                <a:ea typeface="Arial"/>
                <a:cs typeface="Arial"/>
              </a:defRPr>
            </a:pPr>
            <a:r>
              <a:rPr sz="1050" b="0">
                <a:solidFill>
                  <a:srgbClr val="C5C3D1"/>
                </a:solidFill>
                <a:latin typeface="Arial"/>
                <a:ea typeface="Arial"/>
                <a:cs typeface="Arial"/>
              </a:rPr>
              <a:t>Pride Circle Group</a:t>
            </a:r>
          </a:p>
        </p:txBody>
      </p:sp>
      <p:sp>
        <p:nvSpPr>
          <p:cNvPr id="6" name="">
            <a:extLst xmlns:a="http://schemas.openxmlformats.org/drawingml/2006/main">
              <a:ext uri="{FF2B5EF4-FFF2-40B4-BE49-F238E27FC236}">
                <a16:creationId xmlns:a16="http://schemas.microsoft.com/office/drawing/2014/main" id="{86C5DA60-60E9-40B4-8EF0-79956FAEBAE9}"/>
              </a:ext>
            </a:extLst>
          </p:cNvPr>
          <p:cNvSpPr>
            <a:spLocks xmlns:a="http://schemas.openxmlformats.org/drawingml/2006/main" noGrp="1"/>
          </p:cNvSpPr>
          <p:nvPr/>
        </p:nvSpPr>
        <p:spPr>
          <a:xfrm xmlns:a="http://schemas.openxmlformats.org/drawingml/2006/main">
            <a:off x="10267950" y="6467475"/>
            <a:ext cx="9525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A162997-40EC-495C-9E4E-CACEBDAE991D}"/>
              </a:ext>
            </a:extLst>
          </p:cNvPr>
          <p:cNvSpPr>
            <a:spLocks xmlns:a="http://schemas.openxmlformats.org/drawingml/2006/main" noGrp="1"/>
          </p:cNvSpPr>
          <p:nvPr/>
        </p:nvSpPr>
        <p:spPr>
          <a:xfrm xmlns:a="http://schemas.openxmlformats.org/drawingml/2006/main">
            <a:off x="10401300" y="6467475"/>
            <a:ext cx="9525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FC0AA6B-B37A-485B-B9BA-2E861C5C356B}"/>
              </a:ext>
            </a:extLst>
          </p:cNvPr>
          <p:cNvSpPr>
            <a:spLocks xmlns:a="http://schemas.openxmlformats.org/drawingml/2006/main" noGrp="1"/>
          </p:cNvSpPr>
          <p:nvPr/>
        </p:nvSpPr>
        <p:spPr>
          <a:xfrm xmlns:a="http://schemas.openxmlformats.org/drawingml/2006/main">
            <a:off x="10534650" y="6467475"/>
            <a:ext cx="9525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C01712A-765A-4747-ADF4-5190C7F5C4AC}"/>
              </a:ext>
            </a:extLst>
          </p:cNvPr>
          <p:cNvSpPr>
            <a:spLocks xmlns:a="http://schemas.openxmlformats.org/drawingml/2006/main" noGrp="1"/>
          </p:cNvSpPr>
          <p:nvPr/>
        </p:nvSpPr>
        <p:spPr>
          <a:xfrm xmlns:a="http://schemas.openxmlformats.org/drawingml/2006/main">
            <a:off x="10668000" y="6467475"/>
            <a:ext cx="9525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61CB8AB-D9DC-43F1-B67C-F611272533C2}"/>
              </a:ext>
            </a:extLst>
          </p:cNvPr>
          <p:cNvSpPr>
            <a:spLocks xmlns:a="http://schemas.openxmlformats.org/drawingml/2006/main" noGrp="1"/>
          </p:cNvSpPr>
          <p:nvPr/>
        </p:nvSpPr>
        <p:spPr>
          <a:xfrm xmlns:a="http://schemas.openxmlformats.org/drawingml/2006/main">
            <a:off x="10801350" y="6467475"/>
            <a:ext cx="9525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FB698E4-5213-4766-B7DC-5E1028D0EA78}"/>
              </a:ext>
            </a:extLst>
          </p:cNvPr>
          <p:cNvSpPr>
            <a:spLocks xmlns:a="http://schemas.openxmlformats.org/drawingml/2006/main" noGrp="1"/>
          </p:cNvSpPr>
          <p:nvPr/>
        </p:nvSpPr>
        <p:spPr>
          <a:xfrm xmlns:a="http://schemas.openxmlformats.org/drawingml/2006/main">
            <a:off x="10934700" y="6467475"/>
            <a:ext cx="9525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4E0D925-3999-43FF-B26C-D8BF78724C36}"/>
              </a:ext>
            </a:extLst>
          </p:cNvPr>
          <p:cNvSpPr>
            <a:spLocks xmlns:a="http://schemas.openxmlformats.org/drawingml/2006/main" noGrp="1"/>
          </p:cNvSpPr>
          <p:nvPr/>
        </p:nvSpPr>
        <p:spPr>
          <a:xfrm xmlns:a="http://schemas.openxmlformats.org/drawingml/2006/main">
            <a:off x="11239500" y="6391275"/>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5C3D1"/>
                </a:solidFill>
                <a:latin typeface="Arial"/>
                <a:ea typeface="Arial"/>
                <a:cs typeface="Arial"/>
              </a:defRPr>
            </a:defPPr>
          </a:lstStyle>
          <a:p xmlns:a="http://schemas.openxmlformats.org/drawingml/2006/main">
            <a:pPr algn="r">
              <a:defRPr sz="1125" b="0">
                <a:solidFill>
                  <a:srgbClr val="C5C3D1"/>
                </a:solidFill>
                <a:latin typeface="Arial"/>
                <a:ea typeface="Arial"/>
                <a:cs typeface="Arial"/>
              </a:defRPr>
            </a:pPr>
            <a:r>
              <a:rPr sz="1125" b="0">
                <a:solidFill>
                  <a:srgbClr val="C5C3D1"/>
                </a:solidFill>
                <a:latin typeface="Arial"/>
                <a:ea typeface="Arial"/>
                <a:cs typeface="Arial"/>
              </a:rPr>
              <a:t>19</a:t>
            </a:r>
          </a:p>
        </p:txBody>
      </p:sp>
      <p:sp>
        <p:nvSpPr>
          <p:cNvPr id="13" name="">
            <a:extLst xmlns:a="http://schemas.openxmlformats.org/drawingml/2006/main">
              <a:ext uri="{FF2B5EF4-FFF2-40B4-BE49-F238E27FC236}">
                <a16:creationId xmlns:a16="http://schemas.microsoft.com/office/drawing/2014/main" id="{1DDA8133-FAD0-472F-8E62-C0D9654C9A32}"/>
              </a:ext>
            </a:extLst>
          </p:cNvPr>
          <p:cNvSpPr>
            <a:spLocks xmlns:a="http://schemas.openxmlformats.org/drawingml/2006/main" noGrp="1"/>
          </p:cNvSpPr>
          <p:nvPr/>
        </p:nvSpPr>
        <p:spPr>
          <a:xfrm xmlns:a="http://schemas.openxmlformats.org/drawingml/2006/main">
            <a:off x="609600" y="1914525"/>
            <a:ext cx="10858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5F1FA"/>
                </a:solidFill>
                <a:latin typeface="Arial"/>
                <a:ea typeface="Arial"/>
                <a:cs typeface="Arial"/>
              </a:defRPr>
            </a:defPPr>
          </a:lstStyle>
          <a:p xmlns:a="http://schemas.openxmlformats.org/drawingml/2006/main">
            <a:pPr algn="l">
              <a:defRPr sz="2550" b="1">
                <a:solidFill>
                  <a:srgbClr val="F5F1FA"/>
                </a:solidFill>
                <a:latin typeface="Arial"/>
                <a:ea typeface="Arial"/>
                <a:cs typeface="Arial"/>
              </a:defRPr>
            </a:pPr>
            <a:r>
              <a:rPr sz="2550" b="1">
                <a:solidFill>
                  <a:srgbClr val="F5F1FA"/>
                </a:solidFill>
                <a:latin typeface="Arial"/>
                <a:ea typeface="Arial"/>
                <a:cs typeface="Arial"/>
              </a:rPr>
              <a:t>Add a read-only lookup over a curated list of resources.</a:t>
            </a:r>
          </a:p>
        </p:txBody>
      </p:sp>
      <p:sp>
        <p:nvSpPr>
          <p:cNvPr id="14" name="">
            <a:extLst xmlns:a="http://schemas.openxmlformats.org/drawingml/2006/main">
              <a:ext uri="{FF2B5EF4-FFF2-40B4-BE49-F238E27FC236}">
                <a16:creationId xmlns:a16="http://schemas.microsoft.com/office/drawing/2014/main" id="{0BFA24D0-F29C-4A82-8DAB-D409F6F67D62}"/>
              </a:ext>
            </a:extLst>
          </p:cNvPr>
          <p:cNvSpPr>
            <a:spLocks xmlns:a="http://schemas.openxmlformats.org/drawingml/2006/main" noGrp="1"/>
          </p:cNvSpPr>
          <p:nvPr/>
        </p:nvSpPr>
        <p:spPr>
          <a:xfrm xmlns:a="http://schemas.openxmlformats.org/drawingml/2006/main">
            <a:off x="609600" y="300037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Define a narrow contract</a:t>
            </a:r>
          </a:p>
        </p:txBody>
      </p:sp>
      <p:sp>
        <p:nvSpPr>
          <p:cNvPr id="15" name="">
            <a:extLst xmlns:a="http://schemas.openxmlformats.org/drawingml/2006/main">
              <a:ext uri="{FF2B5EF4-FFF2-40B4-BE49-F238E27FC236}">
                <a16:creationId xmlns:a16="http://schemas.microsoft.com/office/drawing/2014/main" id="{038E5D3B-7F88-47EB-891B-912B4BFF9DFD}"/>
              </a:ext>
            </a:extLst>
          </p:cNvPr>
          <p:cNvSpPr>
            <a:spLocks xmlns:a="http://schemas.openxmlformats.org/drawingml/2006/main" noGrp="1"/>
          </p:cNvSpPr>
          <p:nvPr/>
        </p:nvSpPr>
        <p:spPr>
          <a:xfrm xmlns:a="http://schemas.openxmlformats.org/drawingml/2006/main">
            <a:off x="609600" y="33432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lookup_resource(topic) returns a title, description and URL.</a:t>
            </a:r>
          </a:p>
        </p:txBody>
      </p:sp>
      <p:sp>
        <p:nvSpPr>
          <p:cNvPr id="16" name="">
            <a:extLst xmlns:a="http://schemas.openxmlformats.org/drawingml/2006/main">
              <a:ext uri="{FF2B5EF4-FFF2-40B4-BE49-F238E27FC236}">
                <a16:creationId xmlns:a16="http://schemas.microsoft.com/office/drawing/2014/main" id="{BBF5B5A4-1F60-45B8-B13A-BEDE2E8B2752}"/>
              </a:ext>
            </a:extLst>
          </p:cNvPr>
          <p:cNvSpPr>
            <a:spLocks xmlns:a="http://schemas.openxmlformats.org/drawingml/2006/main" noGrp="1"/>
          </p:cNvSpPr>
          <p:nvPr/>
        </p:nvSpPr>
        <p:spPr>
          <a:xfrm xmlns:a="http://schemas.openxmlformats.org/drawingml/2006/main">
            <a:off x="609600" y="394335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Register and validate it</a:t>
            </a:r>
          </a:p>
        </p:txBody>
      </p:sp>
      <p:sp>
        <p:nvSpPr>
          <p:cNvPr id="17" name="">
            <a:extLst xmlns:a="http://schemas.openxmlformats.org/drawingml/2006/main">
              <a:ext uri="{FF2B5EF4-FFF2-40B4-BE49-F238E27FC236}">
                <a16:creationId xmlns:a16="http://schemas.microsoft.com/office/drawing/2014/main" id="{103E507D-4313-4A68-8402-646FA669EEF2}"/>
              </a:ext>
            </a:extLst>
          </p:cNvPr>
          <p:cNvSpPr>
            <a:spLocks xmlns:a="http://schemas.openxmlformats.org/drawingml/2006/main" noGrp="1"/>
          </p:cNvSpPr>
          <p:nvPr/>
        </p:nvSpPr>
        <p:spPr>
          <a:xfrm xmlns:a="http://schemas.openxmlformats.org/drawingml/2006/main">
            <a:off x="609600" y="42862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Add a function_tool, reject empty inputs and return a clear no-match result.</a:t>
            </a:r>
          </a:p>
        </p:txBody>
      </p:sp>
      <p:sp>
        <p:nvSpPr>
          <p:cNvPr id="18" name="">
            <a:extLst xmlns:a="http://schemas.openxmlformats.org/drawingml/2006/main">
              <a:ext uri="{FF2B5EF4-FFF2-40B4-BE49-F238E27FC236}">
                <a16:creationId xmlns:a16="http://schemas.microsoft.com/office/drawing/2014/main" id="{3E0684F1-F2BB-44C3-B82D-9CB75024B4CD}"/>
              </a:ext>
            </a:extLst>
          </p:cNvPr>
          <p:cNvSpPr>
            <a:spLocks xmlns:a="http://schemas.openxmlformats.org/drawingml/2006/main" noGrp="1"/>
          </p:cNvSpPr>
          <p:nvPr/>
        </p:nvSpPr>
        <p:spPr>
          <a:xfrm xmlns:a="http://schemas.openxmlformats.org/drawingml/2006/main">
            <a:off x="609600" y="48863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5F1FA"/>
                </a:solidFill>
                <a:latin typeface="Arial"/>
                <a:ea typeface="Arial"/>
                <a:cs typeface="Arial"/>
              </a:defRPr>
            </a:defPPr>
          </a:lstStyle>
          <a:p xmlns:a="http://schemas.openxmlformats.org/drawingml/2006/main">
            <a:pPr algn="l">
              <a:defRPr sz="1725" b="1">
                <a:solidFill>
                  <a:srgbClr val="F5F1FA"/>
                </a:solidFill>
                <a:latin typeface="Arial"/>
                <a:ea typeface="Arial"/>
                <a:cs typeface="Arial"/>
              </a:defRPr>
            </a:pPr>
            <a:r>
              <a:rPr sz="1725" b="1">
                <a:solidFill>
                  <a:srgbClr val="F5F1FA"/>
                </a:solidFill>
                <a:latin typeface="Arial"/>
                <a:ea typeface="Arial"/>
                <a:cs typeface="Arial"/>
              </a:rPr>
              <a:t>Test success and failure</a:t>
            </a:r>
          </a:p>
        </p:txBody>
      </p:sp>
      <p:sp>
        <p:nvSpPr>
          <p:cNvPr id="19" name="">
            <a:extLst xmlns:a="http://schemas.openxmlformats.org/drawingml/2006/main">
              <a:ext uri="{FF2B5EF4-FFF2-40B4-BE49-F238E27FC236}">
                <a16:creationId xmlns:a16="http://schemas.microsoft.com/office/drawing/2014/main" id="{B0A618C1-24AB-44C0-8788-2501A01F6100}"/>
              </a:ext>
            </a:extLst>
          </p:cNvPr>
          <p:cNvSpPr>
            <a:spLocks xmlns:a="http://schemas.openxmlformats.org/drawingml/2006/main" noGrp="1"/>
          </p:cNvSpPr>
          <p:nvPr/>
        </p:nvSpPr>
        <p:spPr>
          <a:xfrm xmlns:a="http://schemas.openxmlformats.org/drawingml/2006/main">
            <a:off x="609600" y="52292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Add a unit test and a conversation fixture before the live demo.</a:t>
            </a:r>
          </a:p>
        </p:txBody>
      </p:sp>
      <p:sp>
        <p:nvSpPr>
          <p:cNvPr id="20" name="">
            <a:extLst xmlns:a="http://schemas.openxmlformats.org/drawingml/2006/main">
              <a:ext uri="{FF2B5EF4-FFF2-40B4-BE49-F238E27FC236}">
                <a16:creationId xmlns:a16="http://schemas.microsoft.com/office/drawing/2014/main" id="{2A97B5B9-8EBB-40BF-9A70-2C51586691BE}"/>
              </a:ext>
            </a:extLst>
          </p:cNvPr>
          <p:cNvSpPr>
            <a:spLocks xmlns:a="http://schemas.openxmlformats.org/drawingml/2006/main" noGrp="1"/>
          </p:cNvSpPr>
          <p:nvPr/>
        </p:nvSpPr>
        <p:spPr>
          <a:xfrm xmlns:a="http://schemas.openxmlformats.org/drawingml/2006/main">
            <a:off x="609600" y="5924550"/>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5F1FA"/>
                </a:solidFill>
                <a:latin typeface="Arial"/>
                <a:ea typeface="Arial"/>
                <a:cs typeface="Arial"/>
              </a:defRPr>
            </a:defPPr>
          </a:lstStyle>
          <a:p xmlns:a="http://schemas.openxmlformats.org/drawingml/2006/main">
            <a:pPr algn="l">
              <a:defRPr sz="1800" b="1">
                <a:solidFill>
                  <a:srgbClr val="F5F1FA"/>
                </a:solidFill>
                <a:latin typeface="Arial"/>
                <a:ea typeface="Arial"/>
                <a:cs typeface="Arial"/>
              </a:defRPr>
            </a:pPr>
            <a:r>
              <a:rPr sz="1800" b="1">
                <a:solidFill>
                  <a:srgbClr val="F5F1FA"/>
                </a:solidFill>
                <a:latin typeface="Arial"/>
                <a:ea typeface="Arial"/>
                <a:cs typeface="Arial"/>
              </a:rPr>
              <a:t>Optional MCP stretch</a:t>
            </a:r>
          </a:p>
        </p:txBody>
      </p:sp>
      <p:sp>
        <p:nvSpPr>
          <p:cNvPr id="21" name="">
            <a:extLst xmlns:a="http://schemas.openxmlformats.org/drawingml/2006/main">
              <a:ext uri="{FF2B5EF4-FFF2-40B4-BE49-F238E27FC236}">
                <a16:creationId xmlns:a16="http://schemas.microsoft.com/office/drawing/2014/main" id="{30F10A0B-C2F8-4E94-ABFD-9EF793513EE3}"/>
              </a:ext>
            </a:extLst>
          </p:cNvPr>
          <p:cNvSpPr>
            <a:spLocks xmlns:a="http://schemas.openxmlformats.org/drawingml/2006/main" noGrp="1"/>
          </p:cNvSpPr>
          <p:nvPr/>
        </p:nvSpPr>
        <p:spPr>
          <a:xfrm xmlns:a="http://schemas.openxmlformats.org/drawingml/2006/main">
            <a:off x="4086225" y="5924550"/>
            <a:ext cx="742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0BECE"/>
                </a:solidFill>
                <a:latin typeface="Arial"/>
                <a:ea typeface="Arial"/>
                <a:cs typeface="Arial"/>
              </a:defRPr>
            </a:defPPr>
          </a:lstStyle>
          <a:p xmlns:a="http://schemas.openxmlformats.org/drawingml/2006/main">
            <a:pPr algn="l">
              <a:defRPr sz="1725" b="0">
                <a:solidFill>
                  <a:srgbClr val="C0BECE"/>
                </a:solidFill>
                <a:latin typeface="Arial"/>
                <a:ea typeface="Arial"/>
                <a:cs typeface="Arial"/>
              </a:defRPr>
            </a:pPr>
            <a:r>
              <a:rPr sz="1725" b="0">
                <a:solidFill>
                  <a:srgbClr val="C0BECE"/>
                </a:solidFill>
                <a:latin typeface="Arial"/>
                <a:ea typeface="Arial"/>
                <a:cs typeface="Arial"/>
              </a:rPr>
              <a:t>Expose the same lookup through a server and connect an MCP client.</a:t>
            </a:r>
          </a:p>
        </p:txBody>
      </p:sp>
    </p:spTree>
    <p:extLst>
      <p:ext uri="{BB962C8B-B14F-4D97-AF65-F5344CB8AC3E}">
        <p14:creationId xmlns:p14="http://schemas.microsoft.com/office/powerpoint/2010/main" val="1260053891"/>
      </p:ext>
    </p:extLst>
  </p:cSld>
</p:sld>
</file>

<file path=ppt/slides/slide20.xml><?xml version="1.0" encoding="utf-8"?>
<p:sld xmlns:p="http://schemas.openxmlformats.org/presentationml/2006/main">
  <p:cSld>
    <p:bg>
      <p:bgPr>
        <a:solidFill xmlns:a="http://schemas.openxmlformats.org/drawingml/2006/main">
          <a:srgbClr val="1B1A2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2DBDAD-B49F-4B25-9B7D-0E1036F31282}"/>
              </a:ext>
            </a:extLst>
          </p:cNvPr>
          <p:cNvSpPr>
            <a:spLocks xmlns:a="http://schemas.openxmlformats.org/drawingml/2006/main" noGrp="1"/>
          </p:cNvSpPr>
          <p:nvPr/>
        </p:nvSpPr>
        <p:spPr>
          <a:xfrm xmlns:a="http://schemas.openxmlformats.org/drawingml/2006/main">
            <a:off x="723900" y="400050"/>
            <a:ext cx="114300" cy="38100"/>
          </a:xfrm>
          <a:prstGeom xmlns:a="http://schemas.openxmlformats.org/drawingml/2006/main" prst="rect">
            <a:avLst/>
          </a:prstGeom>
          <a:solidFill xmlns:a="http://schemas.openxmlformats.org/drawingml/2006/main">
            <a:srgbClr val="C8748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D50247-E5B7-4F63-A9E3-63115655DC89}"/>
              </a:ext>
            </a:extLst>
          </p:cNvPr>
          <p:cNvSpPr>
            <a:spLocks xmlns:a="http://schemas.openxmlformats.org/drawingml/2006/main" noGrp="1"/>
          </p:cNvSpPr>
          <p:nvPr/>
        </p:nvSpPr>
        <p:spPr>
          <a:xfrm xmlns:a="http://schemas.openxmlformats.org/drawingml/2006/main">
            <a:off x="876300" y="400050"/>
            <a:ext cx="114300" cy="38100"/>
          </a:xfrm>
          <a:prstGeom xmlns:a="http://schemas.openxmlformats.org/drawingml/2006/main" prst="rect">
            <a:avLst/>
          </a:prstGeom>
          <a:solidFill xmlns:a="http://schemas.openxmlformats.org/drawingml/2006/main">
            <a:srgbClr val="D38A6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86CD183-B5B0-45F3-B188-B6C000A3BEAD}"/>
              </a:ext>
            </a:extLst>
          </p:cNvPr>
          <p:cNvSpPr>
            <a:spLocks xmlns:a="http://schemas.openxmlformats.org/drawingml/2006/main" noGrp="1"/>
          </p:cNvSpPr>
          <p:nvPr/>
        </p:nvSpPr>
        <p:spPr>
          <a:xfrm xmlns:a="http://schemas.openxmlformats.org/drawingml/2006/main">
            <a:off x="1028700" y="400050"/>
            <a:ext cx="114300" cy="38100"/>
          </a:xfrm>
          <a:prstGeom xmlns:a="http://schemas.openxmlformats.org/drawingml/2006/main" prst="rect">
            <a:avLst/>
          </a:prstGeom>
          <a:solidFill xmlns:a="http://schemas.openxmlformats.org/drawingml/2006/main">
            <a:srgbClr val="D4B76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50DFA0-F912-4C62-9FFF-36AB6EE3E69F}"/>
              </a:ext>
            </a:extLst>
          </p:cNvPr>
          <p:cNvSpPr>
            <a:spLocks xmlns:a="http://schemas.openxmlformats.org/drawingml/2006/main" noGrp="1"/>
          </p:cNvSpPr>
          <p:nvPr/>
        </p:nvSpPr>
        <p:spPr>
          <a:xfrm xmlns:a="http://schemas.openxmlformats.org/drawingml/2006/main">
            <a:off x="1181100" y="400050"/>
            <a:ext cx="114300" cy="38100"/>
          </a:xfrm>
          <a:prstGeom xmlns:a="http://schemas.openxmlformats.org/drawingml/2006/main" prst="rect">
            <a:avLst/>
          </a:prstGeom>
          <a:solidFill xmlns:a="http://schemas.openxmlformats.org/drawingml/2006/main">
            <a:srgbClr val="73B69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584D79-3B15-4681-A183-1D863956E651}"/>
              </a:ext>
            </a:extLst>
          </p:cNvPr>
          <p:cNvSpPr>
            <a:spLocks xmlns:a="http://schemas.openxmlformats.org/drawingml/2006/main" noGrp="1"/>
          </p:cNvSpPr>
          <p:nvPr/>
        </p:nvSpPr>
        <p:spPr>
          <a:xfrm xmlns:a="http://schemas.openxmlformats.org/drawingml/2006/main">
            <a:off x="1333500" y="400050"/>
            <a:ext cx="114300" cy="38100"/>
          </a:xfrm>
          <a:prstGeom xmlns:a="http://schemas.openxmlformats.org/drawingml/2006/main" prst="rect">
            <a:avLst/>
          </a:prstGeom>
          <a:solidFill xmlns:a="http://schemas.openxmlformats.org/drawingml/2006/main">
            <a:srgbClr val="719CC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3A15B7-5B6F-4C3D-A338-CB9B2CD962A1}"/>
              </a:ext>
            </a:extLst>
          </p:cNvPr>
          <p:cNvSpPr>
            <a:spLocks xmlns:a="http://schemas.openxmlformats.org/drawingml/2006/main" noGrp="1"/>
          </p:cNvSpPr>
          <p:nvPr/>
        </p:nvSpPr>
        <p:spPr>
          <a:xfrm xmlns:a="http://schemas.openxmlformats.org/drawingml/2006/main">
            <a:off x="1485900" y="400050"/>
            <a:ext cx="114300" cy="38100"/>
          </a:xfrm>
          <a:prstGeom xmlns:a="http://schemas.openxmlformats.org/drawingml/2006/main" prst="rect">
            <a:avLst/>
          </a:prstGeom>
          <a:solidFill xmlns:a="http://schemas.openxmlformats.org/drawingml/2006/main">
            <a:srgbClr val="9A85C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6F8616-9AD1-4C56-A8C5-B107B80462FB}"/>
              </a:ext>
            </a:extLst>
          </p:cNvPr>
          <p:cNvSpPr>
            <a:spLocks xmlns:a="http://schemas.openxmlformats.org/drawingml/2006/main" noGrp="1"/>
          </p:cNvSpPr>
          <p:nvPr/>
        </p:nvSpPr>
        <p:spPr>
          <a:xfrm xmlns:a="http://schemas.openxmlformats.org/drawingml/2006/main">
            <a:off x="685800" y="581025"/>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75CDBB"/>
                </a:solidFill>
                <a:latin typeface="Arial"/>
                <a:ea typeface="Arial"/>
                <a:cs typeface="Arial"/>
              </a:defRPr>
            </a:defPPr>
          </a:lstStyle>
          <a:p xmlns:a="http://schemas.openxmlformats.org/drawingml/2006/main">
            <a:pPr algn="l">
              <a:defRPr sz="1350" b="1">
                <a:solidFill>
                  <a:srgbClr val="75CDBB"/>
                </a:solidFill>
                <a:latin typeface="Arial"/>
                <a:ea typeface="Arial"/>
                <a:cs typeface="Arial"/>
              </a:defRPr>
            </a:pPr>
            <a:r>
              <a:rPr sz="1350" b="1">
                <a:solidFill>
                  <a:srgbClr val="75CDBB"/>
                </a:solidFill>
                <a:latin typeface="Arial"/>
                <a:ea typeface="Arial"/>
                <a:cs typeface="Arial"/>
              </a:rPr>
              <a:t>PRIDE CIRCLE GROUP</a:t>
            </a:r>
          </a:p>
        </p:txBody>
      </p:sp>
      <p:sp>
        <p:nvSpPr>
          <p:cNvPr id="8" name="">
            <a:extLst xmlns:a="http://schemas.openxmlformats.org/drawingml/2006/main">
              <a:ext uri="{FF2B5EF4-FFF2-40B4-BE49-F238E27FC236}">
                <a16:creationId xmlns:a16="http://schemas.microsoft.com/office/drawing/2014/main" id="{8624C495-A43E-4765-BADA-4ADA3809145E}"/>
              </a:ext>
            </a:extLst>
          </p:cNvPr>
          <p:cNvSpPr>
            <a:spLocks xmlns:a="http://schemas.openxmlformats.org/drawingml/2006/main" noGrp="1"/>
          </p:cNvSpPr>
          <p:nvPr/>
        </p:nvSpPr>
        <p:spPr>
          <a:xfrm xmlns:a="http://schemas.openxmlformats.org/drawingml/2006/main">
            <a:off x="685800" y="1609725"/>
            <a:ext cx="10477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FFFFFF"/>
                </a:solidFill>
                <a:latin typeface="Arial"/>
                <a:ea typeface="Arial"/>
                <a:cs typeface="Arial"/>
              </a:defRPr>
            </a:defPPr>
          </a:lstStyle>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Discussion</a:t>
            </a:r>
          </a:p>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and next steps</a:t>
            </a:r>
          </a:p>
        </p:txBody>
      </p:sp>
      <p:sp>
        <p:nvSpPr>
          <p:cNvPr id="9" name="">
            <a:extLst xmlns:a="http://schemas.openxmlformats.org/drawingml/2006/main">
              <a:ext uri="{FF2B5EF4-FFF2-40B4-BE49-F238E27FC236}">
                <a16:creationId xmlns:a16="http://schemas.microsoft.com/office/drawing/2014/main" id="{E15A6050-3821-43D1-8A99-6FE0D6C94008}"/>
              </a:ext>
            </a:extLst>
          </p:cNvPr>
          <p:cNvSpPr>
            <a:spLocks xmlns:a="http://schemas.openxmlformats.org/drawingml/2006/main" noGrp="1"/>
          </p:cNvSpPr>
          <p:nvPr/>
        </p:nvSpPr>
        <p:spPr>
          <a:xfrm xmlns:a="http://schemas.openxmlformats.org/drawingml/2006/main">
            <a:off x="723900" y="3895725"/>
            <a:ext cx="10191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C5C3D1"/>
                </a:solidFill>
                <a:latin typeface="Arial"/>
                <a:ea typeface="Arial"/>
                <a:cs typeface="Arial"/>
              </a:defRPr>
            </a:defPPr>
          </a:lstStyle>
          <a:p xmlns:a="http://schemas.openxmlformats.org/drawingml/2006/main">
            <a:pPr algn="l">
              <a:defRPr sz="2550" b="0">
                <a:solidFill>
                  <a:srgbClr val="C5C3D1"/>
                </a:solidFill>
                <a:latin typeface="Arial"/>
                <a:ea typeface="Arial"/>
                <a:cs typeface="Arial"/>
              </a:defRPr>
            </a:pPr>
            <a:r>
              <a:rPr sz="2550" b="0">
                <a:solidFill>
                  <a:srgbClr val="C5C3D1"/>
                </a:solidFill>
                <a:latin typeface="Arial"/>
                <a:ea typeface="Arial"/>
                <a:cs typeface="Arial"/>
              </a:rPr>
              <a:t>A working foundation for your own</a:t>
            </a:r>
          </a:p>
          <a:p xmlns:a="http://schemas.openxmlformats.org/drawingml/2006/main">
            <a:pPr algn="l">
              <a:defRPr sz="2550" b="0">
                <a:solidFill>
                  <a:srgbClr val="C5C3D1"/>
                </a:solidFill>
                <a:latin typeface="Arial"/>
                <a:ea typeface="Arial"/>
                <a:cs typeface="Arial"/>
              </a:defRPr>
            </a:pPr>
            <a:r>
              <a:rPr sz="2550" b="0">
                <a:solidFill>
                  <a:srgbClr val="C5C3D1"/>
                </a:solidFill>
                <a:latin typeface="Arial"/>
                <a:ea typeface="Arial"/>
                <a:cs typeface="Arial"/>
              </a:rPr>
              <a:t>voice, vision and tool integrations</a:t>
            </a:r>
          </a:p>
        </p:txBody>
      </p:sp>
      <p:sp>
        <p:nvSpPr>
          <p:cNvPr id="10" name="">
            <a:extLst xmlns:a="http://schemas.openxmlformats.org/drawingml/2006/main">
              <a:ext uri="{FF2B5EF4-FFF2-40B4-BE49-F238E27FC236}">
                <a16:creationId xmlns:a16="http://schemas.microsoft.com/office/drawing/2014/main" id="{E8E53377-6FE5-4B7B-AC90-86FAF2B5E4FF}"/>
              </a:ext>
            </a:extLst>
          </p:cNvPr>
          <p:cNvSpPr>
            <a:spLocks xmlns:a="http://schemas.openxmlformats.org/drawingml/2006/main" noGrp="1"/>
          </p:cNvSpPr>
          <p:nvPr/>
        </p:nvSpPr>
        <p:spPr>
          <a:xfrm xmlns:a="http://schemas.openxmlformats.org/drawingml/2006/main">
            <a:off x="723900" y="5257800"/>
            <a:ext cx="10668000" cy="14288"/>
          </a:xfrm>
          <a:prstGeom xmlns:a="http://schemas.openxmlformats.org/drawingml/2006/main" prst="rect">
            <a:avLst/>
          </a:prstGeom>
          <a:solidFill xmlns:a="http://schemas.openxmlformats.org/drawingml/2006/main">
            <a:srgbClr val="45495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49C180-0CC4-47DB-B6DE-5C18861C7C4F}"/>
              </a:ext>
            </a:extLst>
          </p:cNvPr>
          <p:cNvSpPr>
            <a:spLocks xmlns:a="http://schemas.openxmlformats.org/drawingml/2006/main" noGrp="1"/>
          </p:cNvSpPr>
          <p:nvPr/>
        </p:nvSpPr>
        <p:spPr>
          <a:xfrm xmlns:a="http://schemas.openxmlformats.org/drawingml/2006/main">
            <a:off x="723900" y="56483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Shaurya Negi</a:t>
            </a:r>
          </a:p>
        </p:txBody>
      </p:sp>
      <p:sp>
        <p:nvSpPr>
          <p:cNvPr id="12" name="">
            <a:extLst xmlns:a="http://schemas.openxmlformats.org/drawingml/2006/main">
              <a:ext uri="{FF2B5EF4-FFF2-40B4-BE49-F238E27FC236}">
                <a16:creationId xmlns:a16="http://schemas.microsoft.com/office/drawing/2014/main" id="{87DD9BD1-63C2-4E84-9E02-301ADF8253F6}"/>
              </a:ext>
            </a:extLst>
          </p:cNvPr>
          <p:cNvSpPr>
            <a:spLocks xmlns:a="http://schemas.openxmlformats.org/drawingml/2006/main" noGrp="1"/>
          </p:cNvSpPr>
          <p:nvPr/>
        </p:nvSpPr>
        <p:spPr>
          <a:xfrm xmlns:a="http://schemas.openxmlformats.org/drawingml/2006/main">
            <a:off x="6534150" y="56483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rial"/>
                <a:ea typeface="Arial"/>
                <a:cs typeface="Arial"/>
              </a:defRPr>
            </a:defPPr>
          </a:lstStyle>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Naghma Firdous</a:t>
            </a:r>
          </a:p>
        </p:txBody>
      </p:sp>
    </p:spTree>
    <p:extLst>
      <p:ext uri="{BB962C8B-B14F-4D97-AF65-F5344CB8AC3E}">
        <p14:creationId xmlns:p14="http://schemas.microsoft.com/office/powerpoint/2010/main" val="1623449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2026-10-10T07:32:31.3070000Z</dcterms:created>
  <dcterms:modified xsi:type="dcterms:W3CDTF">2026-10-10T07:32:31.3070000Z</dcterms:modified>
</coreProperties>
</file>